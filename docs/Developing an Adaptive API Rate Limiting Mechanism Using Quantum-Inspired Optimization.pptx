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embeddedFontLst>
    <p:embeddedFont>
      <p:font typeface="Coda" charset="-122" pitchFamily="34"/>
      <p:regular r:id="rId18"/>
    </p:embeddedFont>
    <p:embeddedFont>
      <p:font typeface="Noto Sans SC" charset="-122" pitchFamily="34"/>
      <p:regular r:id="rId19"/>
    </p:embeddedFont>
    <p:embeddedFont>
      <p:font typeface="Quattrocento Sans" charset="-122" pitchFamily="34"/>
      <p:regular r:id="rId20"/>
    </p:embeddedFont>
    <p:embeddedFont>
      <p:font typeface="Hedvig Letters Sans" charset="-122" pitchFamily="34"/>
      <p:regular r:id="rId21"/>
    </p:embeddedFont>
    <p:embeddedFont>
      <p:font typeface="Mi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fv2mod2rwjnue/cover_quantum_network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11827">
                  <a:alpha val="95000"/>
                </a:srgbClr>
              </a:gs>
              <a:gs pos="50000">
                <a:srgbClr val="111827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183958"/>
            <a:ext cx="2560320" cy="388620"/>
          </a:xfrm>
          <a:custGeom>
            <a:avLst/>
            <a:gdLst/>
            <a:ahLst/>
            <a:cxnLst/>
            <a:rect l="l" t="t" r="r" b="b"/>
            <a:pathLst>
              <a:path w="2560320" h="388620">
                <a:moveTo>
                  <a:pt x="76201" y="0"/>
                </a:moveTo>
                <a:lnTo>
                  <a:pt x="2484119" y="0"/>
                </a:lnTo>
                <a:cubicBezTo>
                  <a:pt x="2526204" y="0"/>
                  <a:pt x="2560320" y="34116"/>
                  <a:pt x="2560320" y="76201"/>
                </a:cubicBezTo>
                <a:lnTo>
                  <a:pt x="2560320" y="312419"/>
                </a:lnTo>
                <a:cubicBezTo>
                  <a:pt x="2560320" y="354504"/>
                  <a:pt x="2526204" y="388620"/>
                  <a:pt x="248411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294448"/>
            <a:ext cx="2327791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38BDF8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RESEARCH PRESENTATION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33588"/>
            <a:ext cx="1171575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Developing an Adaptive API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38BD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Rate Limiting Mechanism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Using Quantum-Inspired Optimization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40531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8BDF8"/>
              </a:gs>
              <a:gs pos="100000">
                <a:srgbClr val="2DD4BF"/>
              </a:gs>
            </a:gsLst>
            <a:lin ang="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384810" y="5551170"/>
            <a:ext cx="5589270" cy="922020"/>
          </a:xfrm>
          <a:custGeom>
            <a:avLst/>
            <a:gdLst/>
            <a:ahLst/>
            <a:cxnLst/>
            <a:rect l="l" t="t" r="r" b="b"/>
            <a:pathLst>
              <a:path w="5589270" h="922020">
                <a:moveTo>
                  <a:pt x="114303" y="0"/>
                </a:moveTo>
                <a:lnTo>
                  <a:pt x="5474967" y="0"/>
                </a:lnTo>
                <a:cubicBezTo>
                  <a:pt x="5538095" y="0"/>
                  <a:pt x="5589270" y="51175"/>
                  <a:pt x="5589270" y="114303"/>
                </a:cubicBezTo>
                <a:lnTo>
                  <a:pt x="5589270" y="807717"/>
                </a:lnTo>
                <a:cubicBezTo>
                  <a:pt x="5589270" y="870845"/>
                  <a:pt x="5538095" y="922020"/>
                  <a:pt x="547496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F2937">
              <a:alpha val="60000"/>
            </a:srgbClr>
          </a:solidFill>
          <a:ln w="10160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9120" y="576453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4845" y="586930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1" name="Text 8"/>
          <p:cNvSpPr/>
          <p:nvPr/>
        </p:nvSpPr>
        <p:spPr>
          <a:xfrm>
            <a:off x="1074420" y="5745480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C. Krishna Koushik &amp; B. Neeraj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4420" y="5974080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Roll No: 24261A05E3, 24261A05E1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4110" y="5551170"/>
            <a:ext cx="5589270" cy="922020"/>
          </a:xfrm>
          <a:custGeom>
            <a:avLst/>
            <a:gdLst/>
            <a:ahLst/>
            <a:cxnLst/>
            <a:rect l="l" t="t" r="r" b="b"/>
            <a:pathLst>
              <a:path w="5589270" h="922020">
                <a:moveTo>
                  <a:pt x="114303" y="0"/>
                </a:moveTo>
                <a:lnTo>
                  <a:pt x="5474967" y="0"/>
                </a:lnTo>
                <a:cubicBezTo>
                  <a:pt x="5538095" y="0"/>
                  <a:pt x="5589270" y="51175"/>
                  <a:pt x="5589270" y="114303"/>
                </a:cubicBezTo>
                <a:lnTo>
                  <a:pt x="5589270" y="807717"/>
                </a:lnTo>
                <a:cubicBezTo>
                  <a:pt x="5589270" y="870845"/>
                  <a:pt x="5538095" y="922020"/>
                  <a:pt x="547496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F2937">
              <a:alpha val="60000"/>
            </a:srgbClr>
          </a:solidFill>
          <a:ln w="10160">
            <a:solidFill>
              <a:srgbClr val="2DD4BF">
                <a:alpha val="2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8420" y="576453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494145" y="586930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16" name="Text 13"/>
          <p:cNvSpPr/>
          <p:nvPr/>
        </p:nvSpPr>
        <p:spPr>
          <a:xfrm>
            <a:off x="6903720" y="5745480"/>
            <a:ext cx="2933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Guide: Ms. Sandhya Rani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903720" y="5974080"/>
            <a:ext cx="2924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Department of Computer Science &amp; Engineering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/>
              </a:gs>
              <a:gs pos="100000">
                <a:srgbClr val="2DD4BF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590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8BDF8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571500"/>
            <a:ext cx="4391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257300"/>
            <a:ext cx="5581650" cy="4610100"/>
          </a:xfrm>
          <a:custGeom>
            <a:avLst/>
            <a:gdLst/>
            <a:ahLst/>
            <a:cxnLst/>
            <a:rect l="l" t="t" r="r" b="b"/>
            <a:pathLst>
              <a:path w="5581650" h="4610100">
                <a:moveTo>
                  <a:pt x="38100" y="0"/>
                </a:moveTo>
                <a:lnTo>
                  <a:pt x="5467366" y="0"/>
                </a:lnTo>
                <a:cubicBezTo>
                  <a:pt x="5530483" y="0"/>
                  <a:pt x="5581650" y="51167"/>
                  <a:pt x="5581650" y="114284"/>
                </a:cubicBezTo>
                <a:lnTo>
                  <a:pt x="5581650" y="4495816"/>
                </a:lnTo>
                <a:cubicBezTo>
                  <a:pt x="5581650" y="4558933"/>
                  <a:pt x="5530483" y="4610100"/>
                  <a:pt x="5467366" y="4610100"/>
                </a:cubicBezTo>
                <a:lnTo>
                  <a:pt x="38100" y="4610100"/>
                </a:lnTo>
                <a:cubicBezTo>
                  <a:pt x="17072" y="4610100"/>
                  <a:pt x="0" y="4593028"/>
                  <a:pt x="0" y="457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257300"/>
            <a:ext cx="38100" cy="4610100"/>
          </a:xfrm>
          <a:custGeom>
            <a:avLst/>
            <a:gdLst/>
            <a:ahLst/>
            <a:cxnLst/>
            <a:rect l="l" t="t" r="r" b="b"/>
            <a:pathLst>
              <a:path w="38100" h="4610100">
                <a:moveTo>
                  <a:pt x="38100" y="0"/>
                </a:moveTo>
                <a:lnTo>
                  <a:pt x="38100" y="0"/>
                </a:lnTo>
                <a:lnTo>
                  <a:pt x="38100" y="4610100"/>
                </a:lnTo>
                <a:lnTo>
                  <a:pt x="38100" y="4610100"/>
                </a:lnTo>
                <a:cubicBezTo>
                  <a:pt x="17072" y="4610100"/>
                  <a:pt x="0" y="4593028"/>
                  <a:pt x="0" y="457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690563" y="152388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933450" y="1485900"/>
            <a:ext cx="4933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BD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Challenges with Modern APIs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7700" y="20191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4856" y="212395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1181100" y="1981081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Sudden Traffic Spikes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1100" y="2285881"/>
            <a:ext cx="4648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Unpredictable surges in API requests overwhelm static rate limiting systems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7700" y="29716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54856" y="307645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4854" y="971"/>
                </a:moveTo>
                <a:cubicBezTo>
                  <a:pt x="83448" y="335"/>
                  <a:pt x="81941" y="0"/>
                  <a:pt x="80367" y="0"/>
                </a:cubicBezTo>
                <a:cubicBezTo>
                  <a:pt x="78793" y="0"/>
                  <a:pt x="77286" y="335"/>
                  <a:pt x="75880" y="971"/>
                </a:cubicBezTo>
                <a:lnTo>
                  <a:pt x="12825" y="27727"/>
                </a:lnTo>
                <a:cubicBezTo>
                  <a:pt x="5458" y="30841"/>
                  <a:pt x="-33" y="38107"/>
                  <a:pt x="0" y="46881"/>
                </a:cubicBezTo>
                <a:cubicBezTo>
                  <a:pt x="167" y="80099"/>
                  <a:pt x="13830" y="140877"/>
                  <a:pt x="71527" y="168503"/>
                </a:cubicBezTo>
                <a:cubicBezTo>
                  <a:pt x="77119" y="171182"/>
                  <a:pt x="83615" y="171182"/>
                  <a:pt x="89208" y="168503"/>
                </a:cubicBezTo>
                <a:cubicBezTo>
                  <a:pt x="146938" y="140877"/>
                  <a:pt x="160600" y="80099"/>
                  <a:pt x="160734" y="46881"/>
                </a:cubicBezTo>
                <a:cubicBezTo>
                  <a:pt x="160768" y="38107"/>
                  <a:pt x="155276" y="30841"/>
                  <a:pt x="147909" y="27727"/>
                </a:cubicBezTo>
                <a:lnTo>
                  <a:pt x="84854" y="971"/>
                </a:lnTo>
                <a:close/>
                <a:moveTo>
                  <a:pt x="80367" y="42863"/>
                </a:moveTo>
                <a:cubicBezTo>
                  <a:pt x="84821" y="42863"/>
                  <a:pt x="88404" y="46446"/>
                  <a:pt x="88404" y="50899"/>
                </a:cubicBezTo>
                <a:cubicBezTo>
                  <a:pt x="88404" y="58568"/>
                  <a:pt x="97680" y="62419"/>
                  <a:pt x="103104" y="56994"/>
                </a:cubicBezTo>
                <a:cubicBezTo>
                  <a:pt x="106252" y="53846"/>
                  <a:pt x="111342" y="53846"/>
                  <a:pt x="114456" y="56994"/>
                </a:cubicBezTo>
                <a:cubicBezTo>
                  <a:pt x="117570" y="60141"/>
                  <a:pt x="117604" y="65231"/>
                  <a:pt x="114456" y="68346"/>
                </a:cubicBezTo>
                <a:cubicBezTo>
                  <a:pt x="109031" y="73770"/>
                  <a:pt x="112882" y="83046"/>
                  <a:pt x="120551" y="83046"/>
                </a:cubicBezTo>
                <a:cubicBezTo>
                  <a:pt x="125004" y="83046"/>
                  <a:pt x="128587" y="86629"/>
                  <a:pt x="128587" y="91083"/>
                </a:cubicBezTo>
                <a:cubicBezTo>
                  <a:pt x="128587" y="95536"/>
                  <a:pt x="125004" y="99120"/>
                  <a:pt x="120551" y="99120"/>
                </a:cubicBezTo>
                <a:cubicBezTo>
                  <a:pt x="112882" y="99120"/>
                  <a:pt x="109031" y="108395"/>
                  <a:pt x="114456" y="113820"/>
                </a:cubicBezTo>
                <a:cubicBezTo>
                  <a:pt x="117604" y="116968"/>
                  <a:pt x="117604" y="122058"/>
                  <a:pt x="114456" y="125172"/>
                </a:cubicBezTo>
                <a:cubicBezTo>
                  <a:pt x="111309" y="128286"/>
                  <a:pt x="106219" y="128320"/>
                  <a:pt x="103104" y="125172"/>
                </a:cubicBezTo>
                <a:cubicBezTo>
                  <a:pt x="97680" y="119747"/>
                  <a:pt x="88404" y="123598"/>
                  <a:pt x="88404" y="131266"/>
                </a:cubicBezTo>
                <a:cubicBezTo>
                  <a:pt x="88404" y="135720"/>
                  <a:pt x="84821" y="139303"/>
                  <a:pt x="80367" y="139303"/>
                </a:cubicBezTo>
                <a:cubicBezTo>
                  <a:pt x="75914" y="139303"/>
                  <a:pt x="72330" y="135720"/>
                  <a:pt x="72330" y="131266"/>
                </a:cubicBezTo>
                <a:cubicBezTo>
                  <a:pt x="72330" y="123598"/>
                  <a:pt x="63055" y="119747"/>
                  <a:pt x="57630" y="125172"/>
                </a:cubicBezTo>
                <a:cubicBezTo>
                  <a:pt x="54482" y="128320"/>
                  <a:pt x="49392" y="128320"/>
                  <a:pt x="46278" y="125172"/>
                </a:cubicBezTo>
                <a:cubicBezTo>
                  <a:pt x="43164" y="122024"/>
                  <a:pt x="43130" y="116934"/>
                  <a:pt x="46278" y="113820"/>
                </a:cubicBezTo>
                <a:cubicBezTo>
                  <a:pt x="51703" y="108395"/>
                  <a:pt x="47852" y="99120"/>
                  <a:pt x="40184" y="99120"/>
                </a:cubicBezTo>
                <a:cubicBezTo>
                  <a:pt x="35730" y="99120"/>
                  <a:pt x="32147" y="95536"/>
                  <a:pt x="32147" y="91083"/>
                </a:cubicBezTo>
                <a:cubicBezTo>
                  <a:pt x="32147" y="86629"/>
                  <a:pt x="35730" y="83046"/>
                  <a:pt x="40184" y="83046"/>
                </a:cubicBezTo>
                <a:cubicBezTo>
                  <a:pt x="47852" y="83046"/>
                  <a:pt x="51703" y="73770"/>
                  <a:pt x="46278" y="68346"/>
                </a:cubicBezTo>
                <a:cubicBezTo>
                  <a:pt x="43130" y="65198"/>
                  <a:pt x="43130" y="60108"/>
                  <a:pt x="46278" y="56994"/>
                </a:cubicBezTo>
                <a:cubicBezTo>
                  <a:pt x="49426" y="53880"/>
                  <a:pt x="54516" y="53846"/>
                  <a:pt x="57630" y="56994"/>
                </a:cubicBezTo>
                <a:cubicBezTo>
                  <a:pt x="63055" y="62419"/>
                  <a:pt x="72330" y="58568"/>
                  <a:pt x="72330" y="50899"/>
                </a:cubicBezTo>
                <a:cubicBezTo>
                  <a:pt x="72330" y="46446"/>
                  <a:pt x="75914" y="42863"/>
                  <a:pt x="80367" y="42863"/>
                </a:cubicBezTo>
                <a:close/>
                <a:moveTo>
                  <a:pt x="69652" y="88404"/>
                </a:moveTo>
                <a:cubicBezTo>
                  <a:pt x="74087" y="88404"/>
                  <a:pt x="77688" y="84803"/>
                  <a:pt x="77688" y="80367"/>
                </a:cubicBezTo>
                <a:cubicBezTo>
                  <a:pt x="77688" y="75932"/>
                  <a:pt x="74087" y="72330"/>
                  <a:pt x="69652" y="72330"/>
                </a:cubicBezTo>
                <a:cubicBezTo>
                  <a:pt x="65216" y="72330"/>
                  <a:pt x="61615" y="75932"/>
                  <a:pt x="61615" y="80367"/>
                </a:cubicBezTo>
                <a:cubicBezTo>
                  <a:pt x="61615" y="84803"/>
                  <a:pt x="65216" y="88404"/>
                  <a:pt x="69652" y="88404"/>
                </a:cubicBezTo>
                <a:close/>
                <a:moveTo>
                  <a:pt x="99120" y="101798"/>
                </a:moveTo>
                <a:cubicBezTo>
                  <a:pt x="99120" y="97363"/>
                  <a:pt x="95518" y="93762"/>
                  <a:pt x="91083" y="93762"/>
                </a:cubicBezTo>
                <a:cubicBezTo>
                  <a:pt x="86647" y="93762"/>
                  <a:pt x="83046" y="97363"/>
                  <a:pt x="83046" y="101798"/>
                </a:cubicBezTo>
                <a:cubicBezTo>
                  <a:pt x="83046" y="106234"/>
                  <a:pt x="86647" y="109835"/>
                  <a:pt x="91083" y="109835"/>
                </a:cubicBezTo>
                <a:cubicBezTo>
                  <a:pt x="95518" y="109835"/>
                  <a:pt x="99120" y="106234"/>
                  <a:pt x="99120" y="101798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2933581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DDoS Attacks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1100" y="3238381"/>
            <a:ext cx="4648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Malicious traffic floods exhaust server resources and degrade service quality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7700" y="39241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33425" y="4028956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28588" y="10716"/>
                </a:moveTo>
                <a:lnTo>
                  <a:pt x="171450" y="10716"/>
                </a:lnTo>
                <a:cubicBezTo>
                  <a:pt x="177377" y="10716"/>
                  <a:pt x="182166" y="15504"/>
                  <a:pt x="182166" y="21431"/>
                </a:cubicBezTo>
                <a:cubicBezTo>
                  <a:pt x="182166" y="27358"/>
                  <a:pt x="177377" y="32147"/>
                  <a:pt x="171450" y="32147"/>
                </a:cubicBezTo>
                <a:lnTo>
                  <a:pt x="133410" y="32147"/>
                </a:lnTo>
                <a:cubicBezTo>
                  <a:pt x="131668" y="40786"/>
                  <a:pt x="125741" y="47919"/>
                  <a:pt x="117872" y="51335"/>
                </a:cubicBezTo>
                <a:lnTo>
                  <a:pt x="117872" y="150019"/>
                </a:lnTo>
                <a:lnTo>
                  <a:pt x="171450" y="150019"/>
                </a:lnTo>
                <a:cubicBezTo>
                  <a:pt x="177377" y="150019"/>
                  <a:pt x="182166" y="154807"/>
                  <a:pt x="182166" y="160734"/>
                </a:cubicBezTo>
                <a:cubicBezTo>
                  <a:pt x="182166" y="166661"/>
                  <a:pt x="177377" y="171450"/>
                  <a:pt x="171450" y="171450"/>
                </a:cubicBezTo>
                <a:lnTo>
                  <a:pt x="42863" y="171450"/>
                </a:lnTo>
                <a:cubicBezTo>
                  <a:pt x="36935" y="171450"/>
                  <a:pt x="32147" y="166661"/>
                  <a:pt x="32147" y="160734"/>
                </a:cubicBezTo>
                <a:cubicBezTo>
                  <a:pt x="32147" y="154807"/>
                  <a:pt x="36935" y="150019"/>
                  <a:pt x="42863" y="150019"/>
                </a:cubicBezTo>
                <a:lnTo>
                  <a:pt x="96441" y="150019"/>
                </a:lnTo>
                <a:lnTo>
                  <a:pt x="96441" y="51335"/>
                </a:lnTo>
                <a:cubicBezTo>
                  <a:pt x="88571" y="47885"/>
                  <a:pt x="82644" y="40753"/>
                  <a:pt x="80903" y="32147"/>
                </a:cubicBezTo>
                <a:lnTo>
                  <a:pt x="42863" y="32147"/>
                </a:lnTo>
                <a:cubicBezTo>
                  <a:pt x="36935" y="32147"/>
                  <a:pt x="32147" y="27358"/>
                  <a:pt x="32147" y="21431"/>
                </a:cubicBezTo>
                <a:cubicBezTo>
                  <a:pt x="32147" y="15504"/>
                  <a:pt x="36935" y="10716"/>
                  <a:pt x="42863" y="10716"/>
                </a:cubicBezTo>
                <a:lnTo>
                  <a:pt x="85725" y="10716"/>
                </a:lnTo>
                <a:cubicBezTo>
                  <a:pt x="90614" y="4219"/>
                  <a:pt x="98383" y="0"/>
                  <a:pt x="107156" y="0"/>
                </a:cubicBezTo>
                <a:cubicBezTo>
                  <a:pt x="115930" y="0"/>
                  <a:pt x="123698" y="4219"/>
                  <a:pt x="128588" y="10716"/>
                </a:cubicBezTo>
                <a:close/>
                <a:moveTo>
                  <a:pt x="147206" y="107156"/>
                </a:moveTo>
                <a:lnTo>
                  <a:pt x="195694" y="107156"/>
                </a:lnTo>
                <a:lnTo>
                  <a:pt x="171450" y="65566"/>
                </a:lnTo>
                <a:lnTo>
                  <a:pt x="147206" y="107156"/>
                </a:lnTo>
                <a:close/>
                <a:moveTo>
                  <a:pt x="171450" y="139303"/>
                </a:moveTo>
                <a:cubicBezTo>
                  <a:pt x="150387" y="139303"/>
                  <a:pt x="132874" y="127918"/>
                  <a:pt x="129257" y="112882"/>
                </a:cubicBezTo>
                <a:cubicBezTo>
                  <a:pt x="128387" y="109199"/>
                  <a:pt x="129592" y="105415"/>
                  <a:pt x="131501" y="102133"/>
                </a:cubicBezTo>
                <a:lnTo>
                  <a:pt x="163380" y="47484"/>
                </a:lnTo>
                <a:cubicBezTo>
                  <a:pt x="165054" y="44604"/>
                  <a:pt x="168135" y="42863"/>
                  <a:pt x="171450" y="42863"/>
                </a:cubicBezTo>
                <a:cubicBezTo>
                  <a:pt x="174765" y="42863"/>
                  <a:pt x="177846" y="44637"/>
                  <a:pt x="179520" y="47484"/>
                </a:cubicBezTo>
                <a:lnTo>
                  <a:pt x="211399" y="102133"/>
                </a:lnTo>
                <a:cubicBezTo>
                  <a:pt x="213308" y="105415"/>
                  <a:pt x="214513" y="109199"/>
                  <a:pt x="213643" y="112882"/>
                </a:cubicBezTo>
                <a:cubicBezTo>
                  <a:pt x="210026" y="127884"/>
                  <a:pt x="192513" y="139303"/>
                  <a:pt x="171450" y="139303"/>
                </a:cubicBezTo>
                <a:close/>
                <a:moveTo>
                  <a:pt x="42461" y="65566"/>
                </a:moveTo>
                <a:lnTo>
                  <a:pt x="18217" y="107156"/>
                </a:lnTo>
                <a:lnTo>
                  <a:pt x="66738" y="107156"/>
                </a:lnTo>
                <a:lnTo>
                  <a:pt x="42461" y="65566"/>
                </a:lnTo>
                <a:close/>
                <a:moveTo>
                  <a:pt x="301" y="112882"/>
                </a:moveTo>
                <a:cubicBezTo>
                  <a:pt x="-569" y="109199"/>
                  <a:pt x="636" y="105415"/>
                  <a:pt x="2545" y="102133"/>
                </a:cubicBezTo>
                <a:lnTo>
                  <a:pt x="34424" y="47484"/>
                </a:lnTo>
                <a:cubicBezTo>
                  <a:pt x="36098" y="44604"/>
                  <a:pt x="39179" y="42863"/>
                  <a:pt x="42494" y="42863"/>
                </a:cubicBezTo>
                <a:cubicBezTo>
                  <a:pt x="45809" y="42863"/>
                  <a:pt x="48890" y="44637"/>
                  <a:pt x="50564" y="47484"/>
                </a:cubicBezTo>
                <a:lnTo>
                  <a:pt x="82443" y="102133"/>
                </a:lnTo>
                <a:cubicBezTo>
                  <a:pt x="84352" y="105415"/>
                  <a:pt x="85558" y="109199"/>
                  <a:pt x="84687" y="112882"/>
                </a:cubicBezTo>
                <a:cubicBezTo>
                  <a:pt x="81070" y="127884"/>
                  <a:pt x="63557" y="139303"/>
                  <a:pt x="42494" y="139303"/>
                </a:cubicBezTo>
                <a:cubicBezTo>
                  <a:pt x="21431" y="139303"/>
                  <a:pt x="3918" y="127918"/>
                  <a:pt x="301" y="112882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1181100" y="3886081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Uneven Load Distribution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1100" y="4190881"/>
            <a:ext cx="4648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allocation remains inefficient without dynamic adaptation mechanisms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7700" y="48766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76288" y="4981456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42863" y="32147"/>
                </a:moveTo>
                <a:lnTo>
                  <a:pt x="42863" y="53578"/>
                </a:lnTo>
                <a:lnTo>
                  <a:pt x="85725" y="53578"/>
                </a:lnTo>
                <a:lnTo>
                  <a:pt x="85725" y="32147"/>
                </a:lnTo>
                <a:cubicBezTo>
                  <a:pt x="85725" y="20326"/>
                  <a:pt x="76114" y="10716"/>
                  <a:pt x="64294" y="10716"/>
                </a:cubicBezTo>
                <a:cubicBezTo>
                  <a:pt x="52473" y="10716"/>
                  <a:pt x="42863" y="20326"/>
                  <a:pt x="42863" y="32147"/>
                </a:cubicBezTo>
                <a:close/>
                <a:moveTo>
                  <a:pt x="21431" y="53578"/>
                </a:moveTo>
                <a:lnTo>
                  <a:pt x="21431" y="32147"/>
                </a:lnTo>
                <a:cubicBezTo>
                  <a:pt x="21431" y="8472"/>
                  <a:pt x="40619" y="-10716"/>
                  <a:pt x="64294" y="-10716"/>
                </a:cubicBezTo>
                <a:cubicBezTo>
                  <a:pt x="87969" y="-10716"/>
                  <a:pt x="107156" y="8472"/>
                  <a:pt x="107156" y="32147"/>
                </a:cubicBezTo>
                <a:lnTo>
                  <a:pt x="107156" y="53578"/>
                </a:lnTo>
                <a:cubicBezTo>
                  <a:pt x="118977" y="53578"/>
                  <a:pt x="128588" y="63189"/>
                  <a:pt x="128588" y="75009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75009"/>
                </a:lnTo>
                <a:cubicBezTo>
                  <a:pt x="0" y="63189"/>
                  <a:pt x="9611" y="53578"/>
                  <a:pt x="21431" y="53578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1181100" y="4838581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Rate Limiting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1100" y="5143381"/>
            <a:ext cx="4648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 limits cannot respond to changing traffic patterns or business needs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4110" y="1261110"/>
            <a:ext cx="5589270" cy="3712845"/>
          </a:xfrm>
          <a:custGeom>
            <a:avLst/>
            <a:gdLst/>
            <a:ahLst/>
            <a:cxnLst/>
            <a:rect l="l" t="t" r="r" b="b"/>
            <a:pathLst>
              <a:path w="5589270" h="3712845">
                <a:moveTo>
                  <a:pt x="114318" y="0"/>
                </a:moveTo>
                <a:lnTo>
                  <a:pt x="5474952" y="0"/>
                </a:lnTo>
                <a:cubicBezTo>
                  <a:pt x="5538088" y="0"/>
                  <a:pt x="5589270" y="51182"/>
                  <a:pt x="5589270" y="114318"/>
                </a:cubicBezTo>
                <a:lnTo>
                  <a:pt x="5589270" y="3598527"/>
                </a:lnTo>
                <a:cubicBezTo>
                  <a:pt x="5589270" y="3661663"/>
                  <a:pt x="5538088" y="3712845"/>
                  <a:pt x="5474952" y="3712845"/>
                </a:cubicBezTo>
                <a:lnTo>
                  <a:pt x="114318" y="3712845"/>
                </a:lnTo>
                <a:cubicBezTo>
                  <a:pt x="51182" y="3712845"/>
                  <a:pt x="0" y="3661663"/>
                  <a:pt x="0" y="3598527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>
                  <a:alpha val="20000"/>
                </a:srgbClr>
              </a:gs>
              <a:gs pos="100000">
                <a:srgbClr val="2DD4BF">
                  <a:alpha val="20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202108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8BDF8">
              <a:alpha val="3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589395" y="2135386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9" name="Text 27"/>
          <p:cNvSpPr/>
          <p:nvPr/>
        </p:nvSpPr>
        <p:spPr>
          <a:xfrm>
            <a:off x="7018020" y="2097286"/>
            <a:ext cx="1285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Issue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46520" y="2630686"/>
            <a:ext cx="5219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methods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(Token Bucket, Fixed Window)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38BDF8"/>
                </a:solidFill>
                <a:highlight>
                  <a:srgbClr val="38BDF8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 to adapt dynamically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real-time traffic conditions.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46520" y="3554611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  <a:lnTo>
                  <a:pt x="51244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8BDF8">
              <a:alpha val="3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3716536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thresholds result in either service degradation during peak loads or resource underutilization during low traffic periods.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4110" y="5208152"/>
            <a:ext cx="5589270" cy="655320"/>
          </a:xfrm>
          <a:custGeom>
            <a:avLst/>
            <a:gdLst/>
            <a:ahLst/>
            <a:cxnLst/>
            <a:rect l="l" t="t" r="r" b="b"/>
            <a:pathLst>
              <a:path w="5589270" h="655320">
                <a:moveTo>
                  <a:pt x="114301" y="0"/>
                </a:moveTo>
                <a:lnTo>
                  <a:pt x="5474969" y="0"/>
                </a:lnTo>
                <a:cubicBezTo>
                  <a:pt x="5538096" y="0"/>
                  <a:pt x="5589270" y="51174"/>
                  <a:pt x="5589270" y="114301"/>
                </a:cubicBezTo>
                <a:lnTo>
                  <a:pt x="5589270" y="541019"/>
                </a:lnTo>
                <a:cubicBezTo>
                  <a:pt x="5589270" y="604146"/>
                  <a:pt x="5538096" y="655320"/>
                  <a:pt x="5474969" y="655320"/>
                </a:cubicBezTo>
                <a:lnTo>
                  <a:pt x="114301" y="655320"/>
                </a:lnTo>
                <a:cubicBezTo>
                  <a:pt x="51174" y="655320"/>
                  <a:pt x="0" y="604146"/>
                  <a:pt x="0" y="5410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DD4BF">
              <a:alpha val="10196"/>
            </a:srgbClr>
          </a:solidFill>
          <a:ln w="1016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36995" y="542151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35" name="Text 33"/>
          <p:cNvSpPr/>
          <p:nvPr/>
        </p:nvSpPr>
        <p:spPr>
          <a:xfrm>
            <a:off x="6808470" y="5402461"/>
            <a:ext cx="3800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We need a smart, self-adjusting solution.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142" y="426813"/>
            <a:ext cx="519598" cy="519598"/>
          </a:xfrm>
          <a:custGeom>
            <a:avLst/>
            <a:gdLst/>
            <a:ahLst/>
            <a:cxnLst/>
            <a:rect l="l" t="t" r="r" b="b"/>
            <a:pathLst>
              <a:path w="519598" h="519598">
                <a:moveTo>
                  <a:pt x="111345" y="0"/>
                </a:moveTo>
                <a:lnTo>
                  <a:pt x="408253" y="0"/>
                </a:lnTo>
                <a:cubicBezTo>
                  <a:pt x="469747" y="0"/>
                  <a:pt x="519598" y="49851"/>
                  <a:pt x="519598" y="111345"/>
                </a:cubicBezTo>
                <a:lnTo>
                  <a:pt x="519598" y="408253"/>
                </a:lnTo>
                <a:cubicBezTo>
                  <a:pt x="519598" y="469747"/>
                  <a:pt x="469747" y="519598"/>
                  <a:pt x="408253" y="519598"/>
                </a:cubicBezTo>
                <a:lnTo>
                  <a:pt x="111345" y="519598"/>
                </a:lnTo>
                <a:cubicBezTo>
                  <a:pt x="49851" y="519598"/>
                  <a:pt x="0" y="469747"/>
                  <a:pt x="0" y="408253"/>
                </a:cubicBezTo>
                <a:lnTo>
                  <a:pt x="0" y="111345"/>
                </a:lnTo>
                <a:cubicBezTo>
                  <a:pt x="0" y="49892"/>
                  <a:pt x="49892" y="0"/>
                  <a:pt x="111345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/>
              </a:gs>
              <a:gs pos="100000">
                <a:srgbClr val="2DD4BF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91763" y="575269"/>
            <a:ext cx="278356" cy="222685"/>
          </a:xfrm>
          <a:custGeom>
            <a:avLst/>
            <a:gdLst/>
            <a:ahLst/>
            <a:cxnLst/>
            <a:rect l="l" t="t" r="r" b="b"/>
            <a:pathLst>
              <a:path w="278356" h="222685">
                <a:moveTo>
                  <a:pt x="180888" y="91553"/>
                </a:moveTo>
                <a:cubicBezTo>
                  <a:pt x="186194" y="90118"/>
                  <a:pt x="191761" y="92640"/>
                  <a:pt x="194153" y="97555"/>
                </a:cubicBezTo>
                <a:lnTo>
                  <a:pt x="202243" y="113909"/>
                </a:lnTo>
                <a:cubicBezTo>
                  <a:pt x="206723" y="114517"/>
                  <a:pt x="211116" y="115735"/>
                  <a:pt x="215248" y="117432"/>
                </a:cubicBezTo>
                <a:lnTo>
                  <a:pt x="230470" y="107298"/>
                </a:lnTo>
                <a:cubicBezTo>
                  <a:pt x="235037" y="104253"/>
                  <a:pt x="241083" y="104862"/>
                  <a:pt x="244953" y="108733"/>
                </a:cubicBezTo>
                <a:lnTo>
                  <a:pt x="253304" y="117084"/>
                </a:lnTo>
                <a:cubicBezTo>
                  <a:pt x="257175" y="120954"/>
                  <a:pt x="257784" y="127043"/>
                  <a:pt x="254739" y="131567"/>
                </a:cubicBezTo>
                <a:lnTo>
                  <a:pt x="244605" y="146746"/>
                </a:lnTo>
                <a:cubicBezTo>
                  <a:pt x="245432" y="148790"/>
                  <a:pt x="246171" y="150921"/>
                  <a:pt x="246780" y="153139"/>
                </a:cubicBezTo>
                <a:cubicBezTo>
                  <a:pt x="247389" y="155358"/>
                  <a:pt x="247780" y="157532"/>
                  <a:pt x="248085" y="159750"/>
                </a:cubicBezTo>
                <a:lnTo>
                  <a:pt x="264482" y="167840"/>
                </a:lnTo>
                <a:cubicBezTo>
                  <a:pt x="269397" y="170276"/>
                  <a:pt x="271919" y="175843"/>
                  <a:pt x="270484" y="181105"/>
                </a:cubicBezTo>
                <a:lnTo>
                  <a:pt x="267439" y="192501"/>
                </a:lnTo>
                <a:cubicBezTo>
                  <a:pt x="266004" y="197763"/>
                  <a:pt x="261089" y="201330"/>
                  <a:pt x="255609" y="200982"/>
                </a:cubicBezTo>
                <a:lnTo>
                  <a:pt x="237342" y="199808"/>
                </a:lnTo>
                <a:cubicBezTo>
                  <a:pt x="234602" y="203330"/>
                  <a:pt x="231427" y="206592"/>
                  <a:pt x="227817" y="209376"/>
                </a:cubicBezTo>
                <a:lnTo>
                  <a:pt x="228991" y="227600"/>
                </a:lnTo>
                <a:cubicBezTo>
                  <a:pt x="229339" y="233080"/>
                  <a:pt x="225773" y="238038"/>
                  <a:pt x="220510" y="239430"/>
                </a:cubicBezTo>
                <a:lnTo>
                  <a:pt x="209115" y="242474"/>
                </a:lnTo>
                <a:cubicBezTo>
                  <a:pt x="203809" y="243910"/>
                  <a:pt x="198285" y="241387"/>
                  <a:pt x="195850" y="236472"/>
                </a:cubicBezTo>
                <a:lnTo>
                  <a:pt x="187760" y="220119"/>
                </a:lnTo>
                <a:cubicBezTo>
                  <a:pt x="183280" y="219510"/>
                  <a:pt x="178887" y="218292"/>
                  <a:pt x="174755" y="216596"/>
                </a:cubicBezTo>
                <a:lnTo>
                  <a:pt x="159533" y="226730"/>
                </a:lnTo>
                <a:cubicBezTo>
                  <a:pt x="154966" y="229774"/>
                  <a:pt x="148921" y="229165"/>
                  <a:pt x="145050" y="225295"/>
                </a:cubicBezTo>
                <a:lnTo>
                  <a:pt x="136699" y="216944"/>
                </a:lnTo>
                <a:cubicBezTo>
                  <a:pt x="132828" y="213073"/>
                  <a:pt x="132219" y="207027"/>
                  <a:pt x="135264" y="202461"/>
                </a:cubicBezTo>
                <a:lnTo>
                  <a:pt x="145398" y="187238"/>
                </a:lnTo>
                <a:cubicBezTo>
                  <a:pt x="144571" y="185194"/>
                  <a:pt x="143832" y="183063"/>
                  <a:pt x="143223" y="180845"/>
                </a:cubicBezTo>
                <a:cubicBezTo>
                  <a:pt x="142614" y="178626"/>
                  <a:pt x="142223" y="176408"/>
                  <a:pt x="141918" y="174234"/>
                </a:cubicBezTo>
                <a:lnTo>
                  <a:pt x="125521" y="166144"/>
                </a:lnTo>
                <a:cubicBezTo>
                  <a:pt x="120607" y="163708"/>
                  <a:pt x="118127" y="158141"/>
                  <a:pt x="119519" y="152878"/>
                </a:cubicBezTo>
                <a:lnTo>
                  <a:pt x="122564" y="141483"/>
                </a:lnTo>
                <a:cubicBezTo>
                  <a:pt x="123999" y="136221"/>
                  <a:pt x="128914" y="132654"/>
                  <a:pt x="134394" y="133002"/>
                </a:cubicBezTo>
                <a:lnTo>
                  <a:pt x="152617" y="134176"/>
                </a:lnTo>
                <a:cubicBezTo>
                  <a:pt x="155358" y="130653"/>
                  <a:pt x="158533" y="127391"/>
                  <a:pt x="162142" y="124608"/>
                </a:cubicBezTo>
                <a:lnTo>
                  <a:pt x="160968" y="106428"/>
                </a:lnTo>
                <a:cubicBezTo>
                  <a:pt x="160620" y="100948"/>
                  <a:pt x="164187" y="95989"/>
                  <a:pt x="169449" y="94598"/>
                </a:cubicBezTo>
                <a:lnTo>
                  <a:pt x="180845" y="91553"/>
                </a:lnTo>
                <a:close/>
                <a:moveTo>
                  <a:pt x="195023" y="147877"/>
                </a:moveTo>
                <a:cubicBezTo>
                  <a:pt x="184461" y="147889"/>
                  <a:pt x="175896" y="156473"/>
                  <a:pt x="175908" y="167035"/>
                </a:cubicBezTo>
                <a:cubicBezTo>
                  <a:pt x="175920" y="177597"/>
                  <a:pt x="184505" y="186163"/>
                  <a:pt x="195067" y="186151"/>
                </a:cubicBezTo>
                <a:cubicBezTo>
                  <a:pt x="205629" y="186139"/>
                  <a:pt x="214194" y="177554"/>
                  <a:pt x="214182" y="166992"/>
                </a:cubicBezTo>
                <a:cubicBezTo>
                  <a:pt x="214170" y="156430"/>
                  <a:pt x="205585" y="147865"/>
                  <a:pt x="195023" y="147877"/>
                </a:cubicBezTo>
                <a:close/>
                <a:moveTo>
                  <a:pt x="97816" y="-19789"/>
                </a:moveTo>
                <a:lnTo>
                  <a:pt x="109211" y="-16745"/>
                </a:lnTo>
                <a:cubicBezTo>
                  <a:pt x="114474" y="-15310"/>
                  <a:pt x="118040" y="-10351"/>
                  <a:pt x="117692" y="-4915"/>
                </a:cubicBezTo>
                <a:lnTo>
                  <a:pt x="116518" y="13265"/>
                </a:lnTo>
                <a:cubicBezTo>
                  <a:pt x="120128" y="16049"/>
                  <a:pt x="123303" y="19267"/>
                  <a:pt x="126043" y="22834"/>
                </a:cubicBezTo>
                <a:lnTo>
                  <a:pt x="144310" y="21660"/>
                </a:lnTo>
                <a:cubicBezTo>
                  <a:pt x="149747" y="21312"/>
                  <a:pt x="154705" y="24878"/>
                  <a:pt x="156140" y="30141"/>
                </a:cubicBezTo>
                <a:lnTo>
                  <a:pt x="159185" y="41536"/>
                </a:lnTo>
                <a:cubicBezTo>
                  <a:pt x="160577" y="46799"/>
                  <a:pt x="158098" y="52366"/>
                  <a:pt x="153183" y="54801"/>
                </a:cubicBezTo>
                <a:lnTo>
                  <a:pt x="136786" y="62891"/>
                </a:lnTo>
                <a:cubicBezTo>
                  <a:pt x="136482" y="65109"/>
                  <a:pt x="136047" y="67327"/>
                  <a:pt x="135481" y="69502"/>
                </a:cubicBezTo>
                <a:cubicBezTo>
                  <a:pt x="134916" y="71677"/>
                  <a:pt x="134133" y="73851"/>
                  <a:pt x="133307" y="75896"/>
                </a:cubicBezTo>
                <a:lnTo>
                  <a:pt x="143440" y="91118"/>
                </a:lnTo>
                <a:cubicBezTo>
                  <a:pt x="146485" y="95685"/>
                  <a:pt x="145876" y="101730"/>
                  <a:pt x="142005" y="105601"/>
                </a:cubicBezTo>
                <a:lnTo>
                  <a:pt x="133654" y="113952"/>
                </a:lnTo>
                <a:cubicBezTo>
                  <a:pt x="129784" y="117823"/>
                  <a:pt x="123738" y="118432"/>
                  <a:pt x="119171" y="115387"/>
                </a:cubicBezTo>
                <a:lnTo>
                  <a:pt x="103949" y="105253"/>
                </a:lnTo>
                <a:cubicBezTo>
                  <a:pt x="99817" y="106950"/>
                  <a:pt x="95424" y="108167"/>
                  <a:pt x="90944" y="108776"/>
                </a:cubicBezTo>
                <a:lnTo>
                  <a:pt x="82854" y="125130"/>
                </a:lnTo>
                <a:cubicBezTo>
                  <a:pt x="80419" y="130045"/>
                  <a:pt x="74852" y="132524"/>
                  <a:pt x="69589" y="131132"/>
                </a:cubicBezTo>
                <a:lnTo>
                  <a:pt x="58194" y="128087"/>
                </a:lnTo>
                <a:cubicBezTo>
                  <a:pt x="52888" y="126652"/>
                  <a:pt x="49365" y="121694"/>
                  <a:pt x="49713" y="116257"/>
                </a:cubicBezTo>
                <a:lnTo>
                  <a:pt x="50887" y="98034"/>
                </a:lnTo>
                <a:cubicBezTo>
                  <a:pt x="47277" y="95250"/>
                  <a:pt x="44102" y="92032"/>
                  <a:pt x="41362" y="88465"/>
                </a:cubicBezTo>
                <a:lnTo>
                  <a:pt x="23095" y="89639"/>
                </a:lnTo>
                <a:cubicBezTo>
                  <a:pt x="17658" y="89987"/>
                  <a:pt x="12700" y="86421"/>
                  <a:pt x="11265" y="81158"/>
                </a:cubicBezTo>
                <a:lnTo>
                  <a:pt x="8220" y="69763"/>
                </a:lnTo>
                <a:cubicBezTo>
                  <a:pt x="6828" y="64500"/>
                  <a:pt x="9308" y="58933"/>
                  <a:pt x="14222" y="56498"/>
                </a:cubicBezTo>
                <a:lnTo>
                  <a:pt x="30619" y="48408"/>
                </a:lnTo>
                <a:cubicBezTo>
                  <a:pt x="30924" y="46190"/>
                  <a:pt x="31359" y="44015"/>
                  <a:pt x="31924" y="41797"/>
                </a:cubicBezTo>
                <a:cubicBezTo>
                  <a:pt x="32533" y="39579"/>
                  <a:pt x="33229" y="37448"/>
                  <a:pt x="34099" y="35403"/>
                </a:cubicBezTo>
                <a:lnTo>
                  <a:pt x="23965" y="20224"/>
                </a:lnTo>
                <a:cubicBezTo>
                  <a:pt x="20920" y="15658"/>
                  <a:pt x="21529" y="9612"/>
                  <a:pt x="25400" y="5741"/>
                </a:cubicBezTo>
                <a:lnTo>
                  <a:pt x="33751" y="-2610"/>
                </a:lnTo>
                <a:cubicBezTo>
                  <a:pt x="37622" y="-6480"/>
                  <a:pt x="43667" y="-7089"/>
                  <a:pt x="48234" y="-4045"/>
                </a:cubicBezTo>
                <a:lnTo>
                  <a:pt x="63457" y="6089"/>
                </a:lnTo>
                <a:cubicBezTo>
                  <a:pt x="67588" y="4393"/>
                  <a:pt x="71981" y="3175"/>
                  <a:pt x="76461" y="2566"/>
                </a:cubicBezTo>
                <a:lnTo>
                  <a:pt x="84551" y="-13787"/>
                </a:lnTo>
                <a:cubicBezTo>
                  <a:pt x="86986" y="-18702"/>
                  <a:pt x="92510" y="-21181"/>
                  <a:pt x="97816" y="-19789"/>
                </a:cubicBezTo>
                <a:close/>
                <a:moveTo>
                  <a:pt x="83681" y="36534"/>
                </a:moveTo>
                <a:cubicBezTo>
                  <a:pt x="73119" y="36534"/>
                  <a:pt x="64544" y="45109"/>
                  <a:pt x="64544" y="55671"/>
                </a:cubicBezTo>
                <a:cubicBezTo>
                  <a:pt x="64544" y="66233"/>
                  <a:pt x="73119" y="74808"/>
                  <a:pt x="83681" y="74808"/>
                </a:cubicBezTo>
                <a:cubicBezTo>
                  <a:pt x="94243" y="74808"/>
                  <a:pt x="102818" y="66233"/>
                  <a:pt x="102818" y="55671"/>
                </a:cubicBezTo>
                <a:cubicBezTo>
                  <a:pt x="102818" y="45109"/>
                  <a:pt x="94243" y="36534"/>
                  <a:pt x="83681" y="36534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1039196" y="371142"/>
            <a:ext cx="7636237" cy="185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3" b="1" spc="51" kern="0" dirty="0">
                <a:solidFill>
                  <a:srgbClr val="38BDF8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Technical Stack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39196" y="556712"/>
            <a:ext cx="7793973" cy="445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07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Software &amp; Hardware Requirements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1142" y="1243324"/>
            <a:ext cx="5613516" cy="5242374"/>
          </a:xfrm>
          <a:custGeom>
            <a:avLst/>
            <a:gdLst/>
            <a:ahLst/>
            <a:cxnLst/>
            <a:rect l="l" t="t" r="r" b="b"/>
            <a:pathLst>
              <a:path w="5613516" h="5242374">
                <a:moveTo>
                  <a:pt x="37114" y="0"/>
                </a:moveTo>
                <a:lnTo>
                  <a:pt x="5576402" y="0"/>
                </a:lnTo>
                <a:cubicBezTo>
                  <a:pt x="5596899" y="0"/>
                  <a:pt x="5613516" y="16617"/>
                  <a:pt x="5613516" y="37114"/>
                </a:cubicBezTo>
                <a:lnTo>
                  <a:pt x="5613516" y="5131026"/>
                </a:lnTo>
                <a:cubicBezTo>
                  <a:pt x="5613516" y="5192522"/>
                  <a:pt x="5563664" y="5242374"/>
                  <a:pt x="5502168" y="5242374"/>
                </a:cubicBezTo>
                <a:lnTo>
                  <a:pt x="111348" y="5242374"/>
                </a:lnTo>
                <a:cubicBezTo>
                  <a:pt x="49852" y="5242374"/>
                  <a:pt x="0" y="5192522"/>
                  <a:pt x="0" y="5131026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7" name="Shape 5"/>
          <p:cNvSpPr/>
          <p:nvPr/>
        </p:nvSpPr>
        <p:spPr>
          <a:xfrm>
            <a:off x="371142" y="1243324"/>
            <a:ext cx="5613516" cy="37114"/>
          </a:xfrm>
          <a:custGeom>
            <a:avLst/>
            <a:gdLst/>
            <a:ahLst/>
            <a:cxnLst/>
            <a:rect l="l" t="t" r="r" b="b"/>
            <a:pathLst>
              <a:path w="5613516" h="37114">
                <a:moveTo>
                  <a:pt x="37114" y="0"/>
                </a:moveTo>
                <a:lnTo>
                  <a:pt x="5576402" y="0"/>
                </a:lnTo>
                <a:cubicBezTo>
                  <a:pt x="5596899" y="0"/>
                  <a:pt x="5613516" y="16617"/>
                  <a:pt x="5613516" y="37114"/>
                </a:cubicBezTo>
                <a:lnTo>
                  <a:pt x="5613516" y="37114"/>
                </a:lnTo>
                <a:lnTo>
                  <a:pt x="0" y="37114"/>
                </a:ln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593826" y="1484566"/>
            <a:ext cx="445370" cy="445370"/>
          </a:xfrm>
          <a:custGeom>
            <a:avLst/>
            <a:gdLst/>
            <a:ahLst/>
            <a:cxnLst/>
            <a:rect l="l" t="t" r="r" b="b"/>
            <a:pathLst>
              <a:path w="445370" h="445370">
                <a:moveTo>
                  <a:pt x="111342" y="0"/>
                </a:moveTo>
                <a:lnTo>
                  <a:pt x="334027" y="0"/>
                </a:lnTo>
                <a:cubicBezTo>
                  <a:pt x="395520" y="0"/>
                  <a:pt x="445370" y="49850"/>
                  <a:pt x="445370" y="111342"/>
                </a:cubicBezTo>
                <a:lnTo>
                  <a:pt x="445370" y="334027"/>
                </a:lnTo>
                <a:cubicBezTo>
                  <a:pt x="445370" y="395520"/>
                  <a:pt x="395520" y="445370"/>
                  <a:pt x="334027" y="445370"/>
                </a:cubicBezTo>
                <a:lnTo>
                  <a:pt x="111342" y="445370"/>
                </a:lnTo>
                <a:cubicBezTo>
                  <a:pt x="49850" y="445370"/>
                  <a:pt x="0" y="395520"/>
                  <a:pt x="0" y="334027"/>
                </a:cubicBezTo>
                <a:lnTo>
                  <a:pt x="0" y="111342"/>
                </a:lnTo>
                <a:cubicBezTo>
                  <a:pt x="0" y="49850"/>
                  <a:pt x="49850" y="0"/>
                  <a:pt x="111342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77333" y="1595909"/>
            <a:ext cx="278356" cy="222685"/>
          </a:xfrm>
          <a:custGeom>
            <a:avLst/>
            <a:gdLst/>
            <a:ahLst/>
            <a:cxnLst/>
            <a:rect l="l" t="t" r="r" b="b"/>
            <a:pathLst>
              <a:path w="278356" h="222685">
                <a:moveTo>
                  <a:pt x="27836" y="41753"/>
                </a:moveTo>
                <a:cubicBezTo>
                  <a:pt x="27836" y="26400"/>
                  <a:pt x="40318" y="13918"/>
                  <a:pt x="55671" y="13918"/>
                </a:cubicBezTo>
                <a:lnTo>
                  <a:pt x="222685" y="13918"/>
                </a:lnTo>
                <a:cubicBezTo>
                  <a:pt x="238038" y="13918"/>
                  <a:pt x="250521" y="26400"/>
                  <a:pt x="250521" y="41753"/>
                </a:cubicBezTo>
                <a:lnTo>
                  <a:pt x="250521" y="146137"/>
                </a:lnTo>
                <a:lnTo>
                  <a:pt x="222685" y="146137"/>
                </a:lnTo>
                <a:lnTo>
                  <a:pt x="222685" y="41753"/>
                </a:lnTo>
                <a:lnTo>
                  <a:pt x="55671" y="41753"/>
                </a:lnTo>
                <a:lnTo>
                  <a:pt x="55671" y="146137"/>
                </a:lnTo>
                <a:lnTo>
                  <a:pt x="27836" y="146137"/>
                </a:lnTo>
                <a:lnTo>
                  <a:pt x="27836" y="41753"/>
                </a:lnTo>
                <a:close/>
                <a:moveTo>
                  <a:pt x="0" y="175364"/>
                </a:moveTo>
                <a:cubicBezTo>
                  <a:pt x="0" y="170754"/>
                  <a:pt x="3740" y="167014"/>
                  <a:pt x="8351" y="167014"/>
                </a:cubicBezTo>
                <a:lnTo>
                  <a:pt x="270005" y="167014"/>
                </a:lnTo>
                <a:cubicBezTo>
                  <a:pt x="274616" y="167014"/>
                  <a:pt x="278356" y="170754"/>
                  <a:pt x="278356" y="175364"/>
                </a:cubicBezTo>
                <a:cubicBezTo>
                  <a:pt x="278356" y="193805"/>
                  <a:pt x="263395" y="208767"/>
                  <a:pt x="244953" y="208767"/>
                </a:cubicBezTo>
                <a:lnTo>
                  <a:pt x="33403" y="208767"/>
                </a:lnTo>
                <a:cubicBezTo>
                  <a:pt x="14962" y="208767"/>
                  <a:pt x="0" y="193805"/>
                  <a:pt x="0" y="175364"/>
                </a:cubicBezTo>
                <a:close/>
                <a:moveTo>
                  <a:pt x="122216" y="90901"/>
                </a:moveTo>
                <a:lnTo>
                  <a:pt x="108733" y="104384"/>
                </a:lnTo>
                <a:lnTo>
                  <a:pt x="122216" y="117866"/>
                </a:lnTo>
                <a:cubicBezTo>
                  <a:pt x="126304" y="121955"/>
                  <a:pt x="126304" y="128566"/>
                  <a:pt x="122216" y="132611"/>
                </a:cubicBezTo>
                <a:cubicBezTo>
                  <a:pt x="118127" y="136655"/>
                  <a:pt x="111516" y="136699"/>
                  <a:pt x="107472" y="132611"/>
                </a:cubicBezTo>
                <a:lnTo>
                  <a:pt x="86595" y="111734"/>
                </a:lnTo>
                <a:cubicBezTo>
                  <a:pt x="82507" y="107646"/>
                  <a:pt x="82507" y="101035"/>
                  <a:pt x="86595" y="96990"/>
                </a:cubicBezTo>
                <a:lnTo>
                  <a:pt x="107472" y="76113"/>
                </a:lnTo>
                <a:cubicBezTo>
                  <a:pt x="111560" y="72025"/>
                  <a:pt x="118171" y="72025"/>
                  <a:pt x="122216" y="76113"/>
                </a:cubicBezTo>
                <a:cubicBezTo>
                  <a:pt x="126261" y="80201"/>
                  <a:pt x="126304" y="86812"/>
                  <a:pt x="122216" y="90857"/>
                </a:cubicBezTo>
                <a:close/>
                <a:moveTo>
                  <a:pt x="170928" y="76113"/>
                </a:moveTo>
                <a:lnTo>
                  <a:pt x="191805" y="96990"/>
                </a:lnTo>
                <a:cubicBezTo>
                  <a:pt x="195893" y="101078"/>
                  <a:pt x="195893" y="107689"/>
                  <a:pt x="191805" y="111734"/>
                </a:cubicBezTo>
                <a:lnTo>
                  <a:pt x="170928" y="132611"/>
                </a:lnTo>
                <a:cubicBezTo>
                  <a:pt x="166840" y="136699"/>
                  <a:pt x="160229" y="136699"/>
                  <a:pt x="156184" y="132611"/>
                </a:cubicBezTo>
                <a:cubicBezTo>
                  <a:pt x="152139" y="128522"/>
                  <a:pt x="152096" y="121911"/>
                  <a:pt x="156184" y="117866"/>
                </a:cubicBezTo>
                <a:lnTo>
                  <a:pt x="169667" y="104384"/>
                </a:lnTo>
                <a:lnTo>
                  <a:pt x="156184" y="90901"/>
                </a:lnTo>
                <a:cubicBezTo>
                  <a:pt x="152096" y="86812"/>
                  <a:pt x="152096" y="80201"/>
                  <a:pt x="156184" y="76157"/>
                </a:cubicBezTo>
                <a:cubicBezTo>
                  <a:pt x="160272" y="72112"/>
                  <a:pt x="166883" y="72068"/>
                  <a:pt x="170928" y="76157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1150539" y="1540237"/>
            <a:ext cx="2134064" cy="334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92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Software Stack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384" y="2152621"/>
            <a:ext cx="5149589" cy="853626"/>
          </a:xfrm>
          <a:custGeom>
            <a:avLst/>
            <a:gdLst/>
            <a:ahLst/>
            <a:cxnLst/>
            <a:rect l="l" t="t" r="r" b="b"/>
            <a:pathLst>
              <a:path w="5149589" h="853626">
                <a:moveTo>
                  <a:pt x="37114" y="0"/>
                </a:moveTo>
                <a:lnTo>
                  <a:pt x="5075358" y="0"/>
                </a:lnTo>
                <a:cubicBezTo>
                  <a:pt x="5116355" y="0"/>
                  <a:pt x="5149589" y="33234"/>
                  <a:pt x="5149589" y="74231"/>
                </a:cubicBezTo>
                <a:lnTo>
                  <a:pt x="5149589" y="779394"/>
                </a:lnTo>
                <a:cubicBezTo>
                  <a:pt x="5149589" y="820391"/>
                  <a:pt x="5116355" y="853626"/>
                  <a:pt x="5075358" y="853626"/>
                </a:cubicBezTo>
                <a:lnTo>
                  <a:pt x="37114" y="853626"/>
                </a:lnTo>
                <a:cubicBezTo>
                  <a:pt x="16617" y="853626"/>
                  <a:pt x="0" y="837009"/>
                  <a:pt x="0" y="816511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384" y="2152621"/>
            <a:ext cx="37114" cy="853626"/>
          </a:xfrm>
          <a:custGeom>
            <a:avLst/>
            <a:gdLst/>
            <a:ahLst/>
            <a:cxnLst/>
            <a:rect l="l" t="t" r="r" b="b"/>
            <a:pathLst>
              <a:path w="37114" h="853626">
                <a:moveTo>
                  <a:pt x="37114" y="0"/>
                </a:moveTo>
                <a:lnTo>
                  <a:pt x="37114" y="0"/>
                </a:lnTo>
                <a:lnTo>
                  <a:pt x="37114" y="853626"/>
                </a:lnTo>
                <a:lnTo>
                  <a:pt x="37114" y="853626"/>
                </a:lnTo>
                <a:cubicBezTo>
                  <a:pt x="16617" y="853626"/>
                  <a:pt x="0" y="837009"/>
                  <a:pt x="0" y="816511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1151" y="2319635"/>
            <a:ext cx="194849" cy="222685"/>
          </a:xfrm>
          <a:custGeom>
            <a:avLst/>
            <a:gdLst/>
            <a:ahLst/>
            <a:cxnLst/>
            <a:rect l="l" t="t" r="r" b="b"/>
            <a:pathLst>
              <a:path w="194849" h="222685">
                <a:moveTo>
                  <a:pt x="191283" y="87204"/>
                </a:moveTo>
                <a:cubicBezTo>
                  <a:pt x="187934" y="73764"/>
                  <a:pt x="181584" y="63630"/>
                  <a:pt x="168058" y="63630"/>
                </a:cubicBezTo>
                <a:lnTo>
                  <a:pt x="150617" y="63630"/>
                </a:lnTo>
                <a:lnTo>
                  <a:pt x="150617" y="84246"/>
                </a:lnTo>
                <a:cubicBezTo>
                  <a:pt x="150617" y="100252"/>
                  <a:pt x="137047" y="113735"/>
                  <a:pt x="121563" y="113735"/>
                </a:cubicBezTo>
                <a:lnTo>
                  <a:pt x="75113" y="113735"/>
                </a:lnTo>
                <a:cubicBezTo>
                  <a:pt x="62413" y="113735"/>
                  <a:pt x="51887" y="124608"/>
                  <a:pt x="51887" y="137351"/>
                </a:cubicBezTo>
                <a:lnTo>
                  <a:pt x="51887" y="181627"/>
                </a:lnTo>
                <a:cubicBezTo>
                  <a:pt x="51887" y="194240"/>
                  <a:pt x="62848" y="201634"/>
                  <a:pt x="75113" y="205244"/>
                </a:cubicBezTo>
                <a:cubicBezTo>
                  <a:pt x="89813" y="209550"/>
                  <a:pt x="103949" y="210333"/>
                  <a:pt x="121563" y="205244"/>
                </a:cubicBezTo>
                <a:cubicBezTo>
                  <a:pt x="133263" y="201852"/>
                  <a:pt x="144789" y="195023"/>
                  <a:pt x="144789" y="181627"/>
                </a:cubicBezTo>
                <a:lnTo>
                  <a:pt x="144789" y="163926"/>
                </a:lnTo>
                <a:lnTo>
                  <a:pt x="98382" y="163926"/>
                </a:lnTo>
                <a:lnTo>
                  <a:pt x="98382" y="158011"/>
                </a:lnTo>
                <a:lnTo>
                  <a:pt x="168058" y="158011"/>
                </a:lnTo>
                <a:cubicBezTo>
                  <a:pt x="181584" y="158011"/>
                  <a:pt x="186586" y="148573"/>
                  <a:pt x="191283" y="134437"/>
                </a:cubicBezTo>
                <a:cubicBezTo>
                  <a:pt x="196154" y="119867"/>
                  <a:pt x="195937" y="105862"/>
                  <a:pt x="191283" y="87204"/>
                </a:cubicBezTo>
                <a:close/>
                <a:moveTo>
                  <a:pt x="124477" y="193414"/>
                </a:moveTo>
                <a:cubicBezTo>
                  <a:pt x="121167" y="193646"/>
                  <a:pt x="118004" y="192012"/>
                  <a:pt x="116278" y="189178"/>
                </a:cubicBezTo>
                <a:cubicBezTo>
                  <a:pt x="114553" y="186343"/>
                  <a:pt x="114553" y="182783"/>
                  <a:pt x="116278" y="179949"/>
                </a:cubicBezTo>
                <a:cubicBezTo>
                  <a:pt x="118004" y="177114"/>
                  <a:pt x="121167" y="175480"/>
                  <a:pt x="124477" y="175712"/>
                </a:cubicBezTo>
                <a:cubicBezTo>
                  <a:pt x="127788" y="175480"/>
                  <a:pt x="130951" y="177114"/>
                  <a:pt x="132676" y="179949"/>
                </a:cubicBezTo>
                <a:cubicBezTo>
                  <a:pt x="134402" y="182783"/>
                  <a:pt x="134402" y="186343"/>
                  <a:pt x="132676" y="189178"/>
                </a:cubicBezTo>
                <a:cubicBezTo>
                  <a:pt x="130951" y="192012"/>
                  <a:pt x="127788" y="193646"/>
                  <a:pt x="124477" y="193414"/>
                </a:cubicBezTo>
                <a:close/>
                <a:moveTo>
                  <a:pt x="72982" y="107907"/>
                </a:moveTo>
                <a:lnTo>
                  <a:pt x="119432" y="107907"/>
                </a:lnTo>
                <a:cubicBezTo>
                  <a:pt x="132350" y="107907"/>
                  <a:pt x="142658" y="97251"/>
                  <a:pt x="142658" y="84290"/>
                </a:cubicBezTo>
                <a:lnTo>
                  <a:pt x="142658" y="39970"/>
                </a:lnTo>
                <a:cubicBezTo>
                  <a:pt x="142658" y="27357"/>
                  <a:pt x="132045" y="17919"/>
                  <a:pt x="119432" y="15788"/>
                </a:cubicBezTo>
                <a:cubicBezTo>
                  <a:pt x="103862" y="13222"/>
                  <a:pt x="86943" y="13352"/>
                  <a:pt x="72982" y="15832"/>
                </a:cubicBezTo>
                <a:cubicBezTo>
                  <a:pt x="53323" y="19311"/>
                  <a:pt x="49756" y="26574"/>
                  <a:pt x="49756" y="40014"/>
                </a:cubicBezTo>
                <a:lnTo>
                  <a:pt x="49756" y="57715"/>
                </a:lnTo>
                <a:lnTo>
                  <a:pt x="96250" y="57715"/>
                </a:lnTo>
                <a:lnTo>
                  <a:pt x="96250" y="63630"/>
                </a:lnTo>
                <a:lnTo>
                  <a:pt x="32315" y="63630"/>
                </a:lnTo>
                <a:cubicBezTo>
                  <a:pt x="18789" y="63630"/>
                  <a:pt x="6959" y="71764"/>
                  <a:pt x="3262" y="87204"/>
                </a:cubicBezTo>
                <a:cubicBezTo>
                  <a:pt x="-1000" y="104905"/>
                  <a:pt x="-1174" y="115953"/>
                  <a:pt x="3262" y="134437"/>
                </a:cubicBezTo>
                <a:cubicBezTo>
                  <a:pt x="6567" y="148181"/>
                  <a:pt x="14440" y="158011"/>
                  <a:pt x="27966" y="158011"/>
                </a:cubicBezTo>
                <a:lnTo>
                  <a:pt x="43928" y="158011"/>
                </a:lnTo>
                <a:lnTo>
                  <a:pt x="43928" y="136786"/>
                </a:lnTo>
                <a:cubicBezTo>
                  <a:pt x="43928" y="121433"/>
                  <a:pt x="57193" y="107907"/>
                  <a:pt x="72982" y="107907"/>
                </a:cubicBezTo>
                <a:close/>
                <a:moveTo>
                  <a:pt x="70111" y="28140"/>
                </a:moveTo>
                <a:cubicBezTo>
                  <a:pt x="75008" y="28140"/>
                  <a:pt x="78984" y="32116"/>
                  <a:pt x="78984" y="37013"/>
                </a:cubicBezTo>
                <a:cubicBezTo>
                  <a:pt x="78984" y="41910"/>
                  <a:pt x="75008" y="45885"/>
                  <a:pt x="70111" y="45885"/>
                </a:cubicBezTo>
                <a:cubicBezTo>
                  <a:pt x="65214" y="45885"/>
                  <a:pt x="61238" y="41910"/>
                  <a:pt x="61238" y="37013"/>
                </a:cubicBezTo>
                <a:cubicBezTo>
                  <a:pt x="61238" y="32116"/>
                  <a:pt x="65214" y="28140"/>
                  <a:pt x="70111" y="2814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1169096" y="2301078"/>
            <a:ext cx="1716530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Framework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08184" y="2301078"/>
            <a:ext cx="501041" cy="259799"/>
          </a:xfrm>
          <a:custGeom>
            <a:avLst/>
            <a:gdLst/>
            <a:ahLst/>
            <a:cxnLst/>
            <a:rect l="l" t="t" r="r" b="b"/>
            <a:pathLst>
              <a:path w="501041" h="259799">
                <a:moveTo>
                  <a:pt x="129900" y="0"/>
                </a:moveTo>
                <a:lnTo>
                  <a:pt x="371142" y="0"/>
                </a:lnTo>
                <a:cubicBezTo>
                  <a:pt x="442835" y="0"/>
                  <a:pt x="501041" y="58206"/>
                  <a:pt x="501041" y="129900"/>
                </a:cubicBezTo>
                <a:lnTo>
                  <a:pt x="501041" y="129900"/>
                </a:lnTo>
                <a:cubicBezTo>
                  <a:pt x="501041" y="201593"/>
                  <a:pt x="442835" y="259799"/>
                  <a:pt x="371142" y="259799"/>
                </a:cubicBezTo>
                <a:lnTo>
                  <a:pt x="129900" y="259799"/>
                </a:lnTo>
                <a:cubicBezTo>
                  <a:pt x="58206" y="259799"/>
                  <a:pt x="0" y="201593"/>
                  <a:pt x="0" y="129900"/>
                </a:cubicBezTo>
                <a:lnTo>
                  <a:pt x="0" y="129900"/>
                </a:lnTo>
                <a:cubicBezTo>
                  <a:pt x="0" y="58206"/>
                  <a:pt x="58206" y="0"/>
                  <a:pt x="1299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108184" y="2301078"/>
            <a:ext cx="565991" cy="259799"/>
          </a:xfrm>
          <a:prstGeom prst="rect">
            <a:avLst/>
          </a:prstGeom>
          <a:noFill/>
          <a:ln/>
        </p:spPr>
        <p:txBody>
          <a:bodyPr wrap="square" lIns="111342" tIns="37114" rIns="111342" bIns="37114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38BDF8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50539" y="2635105"/>
            <a:ext cx="4537205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with Flask/FastAPI for high-performance API handling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384" y="3154703"/>
            <a:ext cx="5149589" cy="853626"/>
          </a:xfrm>
          <a:custGeom>
            <a:avLst/>
            <a:gdLst/>
            <a:ahLst/>
            <a:cxnLst/>
            <a:rect l="l" t="t" r="r" b="b"/>
            <a:pathLst>
              <a:path w="5149589" h="853626">
                <a:moveTo>
                  <a:pt x="37114" y="0"/>
                </a:moveTo>
                <a:lnTo>
                  <a:pt x="5075358" y="0"/>
                </a:lnTo>
                <a:cubicBezTo>
                  <a:pt x="5116355" y="0"/>
                  <a:pt x="5149589" y="33234"/>
                  <a:pt x="5149589" y="74231"/>
                </a:cubicBezTo>
                <a:lnTo>
                  <a:pt x="5149589" y="779394"/>
                </a:lnTo>
                <a:cubicBezTo>
                  <a:pt x="5149589" y="820391"/>
                  <a:pt x="5116355" y="853626"/>
                  <a:pt x="5075358" y="853626"/>
                </a:cubicBezTo>
                <a:lnTo>
                  <a:pt x="37114" y="853626"/>
                </a:lnTo>
                <a:cubicBezTo>
                  <a:pt x="16617" y="853626"/>
                  <a:pt x="0" y="837009"/>
                  <a:pt x="0" y="816511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384" y="3154703"/>
            <a:ext cx="37114" cy="853626"/>
          </a:xfrm>
          <a:custGeom>
            <a:avLst/>
            <a:gdLst/>
            <a:ahLst/>
            <a:cxnLst/>
            <a:rect l="l" t="t" r="r" b="b"/>
            <a:pathLst>
              <a:path w="37114" h="853626">
                <a:moveTo>
                  <a:pt x="37114" y="0"/>
                </a:moveTo>
                <a:lnTo>
                  <a:pt x="37114" y="0"/>
                </a:lnTo>
                <a:lnTo>
                  <a:pt x="37114" y="853626"/>
                </a:lnTo>
                <a:lnTo>
                  <a:pt x="37114" y="853626"/>
                </a:lnTo>
                <a:cubicBezTo>
                  <a:pt x="16617" y="853626"/>
                  <a:pt x="0" y="837009"/>
                  <a:pt x="0" y="816511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20" name="Shape 18"/>
          <p:cNvSpPr/>
          <p:nvPr/>
        </p:nvSpPr>
        <p:spPr>
          <a:xfrm>
            <a:off x="821151" y="3321717"/>
            <a:ext cx="194849" cy="222685"/>
          </a:xfrm>
          <a:custGeom>
            <a:avLst/>
            <a:gdLst/>
            <a:ahLst/>
            <a:cxnLst/>
            <a:rect l="l" t="t" r="r" b="b"/>
            <a:pathLst>
              <a:path w="194849" h="222685">
                <a:moveTo>
                  <a:pt x="194849" y="89509"/>
                </a:moveTo>
                <a:cubicBezTo>
                  <a:pt x="188412" y="93771"/>
                  <a:pt x="181018" y="97207"/>
                  <a:pt x="173320" y="99947"/>
                </a:cubicBezTo>
                <a:cubicBezTo>
                  <a:pt x="152878" y="107254"/>
                  <a:pt x="126043" y="111342"/>
                  <a:pt x="97425" y="111342"/>
                </a:cubicBezTo>
                <a:cubicBezTo>
                  <a:pt x="68806" y="111342"/>
                  <a:pt x="41927" y="107211"/>
                  <a:pt x="21529" y="99947"/>
                </a:cubicBezTo>
                <a:cubicBezTo>
                  <a:pt x="13874" y="97207"/>
                  <a:pt x="6437" y="93771"/>
                  <a:pt x="0" y="89509"/>
                </a:cubicBezTo>
                <a:lnTo>
                  <a:pt x="0" y="125260"/>
                </a:lnTo>
                <a:cubicBezTo>
                  <a:pt x="0" y="144484"/>
                  <a:pt x="43624" y="160055"/>
                  <a:pt x="97425" y="160055"/>
                </a:cubicBezTo>
                <a:cubicBezTo>
                  <a:pt x="151226" y="160055"/>
                  <a:pt x="194849" y="144484"/>
                  <a:pt x="194849" y="125260"/>
                </a:cubicBezTo>
                <a:lnTo>
                  <a:pt x="194849" y="89509"/>
                </a:lnTo>
                <a:close/>
                <a:moveTo>
                  <a:pt x="194849" y="55671"/>
                </a:moveTo>
                <a:lnTo>
                  <a:pt x="194849" y="34795"/>
                </a:lnTo>
                <a:cubicBezTo>
                  <a:pt x="194849" y="15571"/>
                  <a:pt x="151226" y="0"/>
                  <a:pt x="97425" y="0"/>
                </a:cubicBezTo>
                <a:cubicBezTo>
                  <a:pt x="43624" y="0"/>
                  <a:pt x="0" y="15571"/>
                  <a:pt x="0" y="34795"/>
                </a:cubicBezTo>
                <a:lnTo>
                  <a:pt x="0" y="55671"/>
                </a:lnTo>
                <a:cubicBezTo>
                  <a:pt x="0" y="74895"/>
                  <a:pt x="43624" y="90466"/>
                  <a:pt x="97425" y="90466"/>
                </a:cubicBezTo>
                <a:cubicBezTo>
                  <a:pt x="151226" y="90466"/>
                  <a:pt x="194849" y="74895"/>
                  <a:pt x="194849" y="55671"/>
                </a:cubicBezTo>
                <a:close/>
                <a:moveTo>
                  <a:pt x="173320" y="169536"/>
                </a:moveTo>
                <a:cubicBezTo>
                  <a:pt x="152922" y="176800"/>
                  <a:pt x="126087" y="180932"/>
                  <a:pt x="97425" y="180932"/>
                </a:cubicBezTo>
                <a:cubicBezTo>
                  <a:pt x="68763" y="180932"/>
                  <a:pt x="41927" y="176800"/>
                  <a:pt x="21529" y="169536"/>
                </a:cubicBezTo>
                <a:cubicBezTo>
                  <a:pt x="13874" y="166796"/>
                  <a:pt x="6437" y="163360"/>
                  <a:pt x="0" y="159098"/>
                </a:cubicBezTo>
                <a:lnTo>
                  <a:pt x="0" y="187890"/>
                </a:lnTo>
                <a:cubicBezTo>
                  <a:pt x="0" y="207114"/>
                  <a:pt x="43624" y="222685"/>
                  <a:pt x="97425" y="222685"/>
                </a:cubicBezTo>
                <a:cubicBezTo>
                  <a:pt x="151226" y="222685"/>
                  <a:pt x="194849" y="207114"/>
                  <a:pt x="194849" y="187890"/>
                </a:cubicBezTo>
                <a:lnTo>
                  <a:pt x="194849" y="159098"/>
                </a:lnTo>
                <a:cubicBezTo>
                  <a:pt x="188412" y="163360"/>
                  <a:pt x="181018" y="166796"/>
                  <a:pt x="173320" y="169536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21" name="Text 19"/>
          <p:cNvSpPr/>
          <p:nvPr/>
        </p:nvSpPr>
        <p:spPr>
          <a:xfrm>
            <a:off x="1169096" y="3303160"/>
            <a:ext cx="1234046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Caching Layer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14123" y="3303160"/>
            <a:ext cx="593826" cy="259799"/>
          </a:xfrm>
          <a:custGeom>
            <a:avLst/>
            <a:gdLst/>
            <a:ahLst/>
            <a:cxnLst/>
            <a:rect l="l" t="t" r="r" b="b"/>
            <a:pathLst>
              <a:path w="593826" h="259799">
                <a:moveTo>
                  <a:pt x="129900" y="0"/>
                </a:moveTo>
                <a:lnTo>
                  <a:pt x="463927" y="0"/>
                </a:lnTo>
                <a:cubicBezTo>
                  <a:pt x="535668" y="0"/>
                  <a:pt x="593826" y="58158"/>
                  <a:pt x="593826" y="129900"/>
                </a:cubicBezTo>
                <a:lnTo>
                  <a:pt x="593826" y="129900"/>
                </a:lnTo>
                <a:cubicBezTo>
                  <a:pt x="593826" y="201641"/>
                  <a:pt x="535668" y="259799"/>
                  <a:pt x="463927" y="259799"/>
                </a:cubicBezTo>
                <a:lnTo>
                  <a:pt x="129900" y="259799"/>
                </a:lnTo>
                <a:cubicBezTo>
                  <a:pt x="58206" y="259799"/>
                  <a:pt x="0" y="201593"/>
                  <a:pt x="0" y="129900"/>
                </a:cubicBezTo>
                <a:lnTo>
                  <a:pt x="0" y="129900"/>
                </a:lnTo>
                <a:cubicBezTo>
                  <a:pt x="0" y="58206"/>
                  <a:pt x="58206" y="0"/>
                  <a:pt x="12990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14123" y="3303160"/>
            <a:ext cx="658776" cy="259799"/>
          </a:xfrm>
          <a:prstGeom prst="rect">
            <a:avLst/>
          </a:prstGeom>
          <a:noFill/>
          <a:ln/>
        </p:spPr>
        <p:txBody>
          <a:bodyPr wrap="square" lIns="111342" tIns="37114" rIns="111342" bIns="37114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2DD4B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Speed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0539" y="3637187"/>
            <a:ext cx="4537205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 for real-time request tracking and rate limit state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2384" y="4156785"/>
            <a:ext cx="5149589" cy="853626"/>
          </a:xfrm>
          <a:custGeom>
            <a:avLst/>
            <a:gdLst/>
            <a:ahLst/>
            <a:cxnLst/>
            <a:rect l="l" t="t" r="r" b="b"/>
            <a:pathLst>
              <a:path w="5149589" h="853626">
                <a:moveTo>
                  <a:pt x="37114" y="0"/>
                </a:moveTo>
                <a:lnTo>
                  <a:pt x="5075358" y="0"/>
                </a:lnTo>
                <a:cubicBezTo>
                  <a:pt x="5116355" y="0"/>
                  <a:pt x="5149589" y="33234"/>
                  <a:pt x="5149589" y="74231"/>
                </a:cubicBezTo>
                <a:lnTo>
                  <a:pt x="5149589" y="779394"/>
                </a:lnTo>
                <a:cubicBezTo>
                  <a:pt x="5149589" y="820391"/>
                  <a:pt x="5116355" y="853626"/>
                  <a:pt x="5075358" y="853626"/>
                </a:cubicBezTo>
                <a:lnTo>
                  <a:pt x="37114" y="853626"/>
                </a:lnTo>
                <a:cubicBezTo>
                  <a:pt x="16617" y="853626"/>
                  <a:pt x="0" y="837009"/>
                  <a:pt x="0" y="816511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384" y="4156785"/>
            <a:ext cx="37114" cy="853626"/>
          </a:xfrm>
          <a:custGeom>
            <a:avLst/>
            <a:gdLst/>
            <a:ahLst/>
            <a:cxnLst/>
            <a:rect l="l" t="t" r="r" b="b"/>
            <a:pathLst>
              <a:path w="37114" h="853626">
                <a:moveTo>
                  <a:pt x="37114" y="0"/>
                </a:moveTo>
                <a:lnTo>
                  <a:pt x="37114" y="0"/>
                </a:lnTo>
                <a:lnTo>
                  <a:pt x="37114" y="853626"/>
                </a:lnTo>
                <a:lnTo>
                  <a:pt x="37114" y="853626"/>
                </a:lnTo>
                <a:cubicBezTo>
                  <a:pt x="16617" y="853626"/>
                  <a:pt x="0" y="837009"/>
                  <a:pt x="0" y="816511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9397" y="4323799"/>
            <a:ext cx="278356" cy="222685"/>
          </a:xfrm>
          <a:custGeom>
            <a:avLst/>
            <a:gdLst/>
            <a:ahLst/>
            <a:cxnLst/>
            <a:rect l="l" t="t" r="r" b="b"/>
            <a:pathLst>
              <a:path w="278356" h="222685">
                <a:moveTo>
                  <a:pt x="152183" y="102774"/>
                </a:moveTo>
                <a:lnTo>
                  <a:pt x="123434" y="102774"/>
                </a:lnTo>
                <a:lnTo>
                  <a:pt x="123434" y="76939"/>
                </a:lnTo>
                <a:lnTo>
                  <a:pt x="152183" y="76939"/>
                </a:lnTo>
                <a:lnTo>
                  <a:pt x="152183" y="102774"/>
                </a:lnTo>
                <a:close/>
                <a:moveTo>
                  <a:pt x="152183" y="13918"/>
                </a:moveTo>
                <a:lnTo>
                  <a:pt x="123434" y="13918"/>
                </a:lnTo>
                <a:lnTo>
                  <a:pt x="123434" y="40318"/>
                </a:lnTo>
                <a:lnTo>
                  <a:pt x="152183" y="40318"/>
                </a:lnTo>
                <a:lnTo>
                  <a:pt x="152183" y="13918"/>
                </a:lnTo>
                <a:close/>
                <a:moveTo>
                  <a:pt x="186194" y="76896"/>
                </a:moveTo>
                <a:lnTo>
                  <a:pt x="157445" y="76896"/>
                </a:lnTo>
                <a:lnTo>
                  <a:pt x="157445" y="102731"/>
                </a:lnTo>
                <a:lnTo>
                  <a:pt x="186194" y="102731"/>
                </a:lnTo>
                <a:lnTo>
                  <a:pt x="186194" y="76896"/>
                </a:lnTo>
                <a:close/>
                <a:moveTo>
                  <a:pt x="118214" y="45537"/>
                </a:moveTo>
                <a:lnTo>
                  <a:pt x="89465" y="45537"/>
                </a:lnTo>
                <a:lnTo>
                  <a:pt x="89465" y="71677"/>
                </a:lnTo>
                <a:lnTo>
                  <a:pt x="118214" y="71677"/>
                </a:lnTo>
                <a:lnTo>
                  <a:pt x="118214" y="45537"/>
                </a:lnTo>
                <a:close/>
                <a:moveTo>
                  <a:pt x="152183" y="45537"/>
                </a:moveTo>
                <a:lnTo>
                  <a:pt x="123434" y="45537"/>
                </a:lnTo>
                <a:lnTo>
                  <a:pt x="123434" y="71677"/>
                </a:lnTo>
                <a:lnTo>
                  <a:pt x="152183" y="71677"/>
                </a:lnTo>
                <a:lnTo>
                  <a:pt x="152183" y="45537"/>
                </a:lnTo>
                <a:close/>
                <a:moveTo>
                  <a:pt x="272572" y="89030"/>
                </a:moveTo>
                <a:cubicBezTo>
                  <a:pt x="266309" y="84812"/>
                  <a:pt x="251869" y="83289"/>
                  <a:pt x="240778" y="85377"/>
                </a:cubicBezTo>
                <a:cubicBezTo>
                  <a:pt x="239343" y="74939"/>
                  <a:pt x="233515" y="65849"/>
                  <a:pt x="222902" y="57672"/>
                </a:cubicBezTo>
                <a:lnTo>
                  <a:pt x="216813" y="53627"/>
                </a:lnTo>
                <a:lnTo>
                  <a:pt x="212768" y="59716"/>
                </a:lnTo>
                <a:cubicBezTo>
                  <a:pt x="204766" y="71807"/>
                  <a:pt x="202591" y="91727"/>
                  <a:pt x="211159" y="104862"/>
                </a:cubicBezTo>
                <a:cubicBezTo>
                  <a:pt x="207375" y="106906"/>
                  <a:pt x="199938" y="109690"/>
                  <a:pt x="190109" y="109516"/>
                </a:cubicBezTo>
                <a:lnTo>
                  <a:pt x="1044" y="109516"/>
                </a:lnTo>
                <a:cubicBezTo>
                  <a:pt x="-2740" y="131610"/>
                  <a:pt x="3566" y="160316"/>
                  <a:pt x="20181" y="180018"/>
                </a:cubicBezTo>
                <a:cubicBezTo>
                  <a:pt x="36317" y="199112"/>
                  <a:pt x="60499" y="208811"/>
                  <a:pt x="92118" y="208811"/>
                </a:cubicBezTo>
                <a:cubicBezTo>
                  <a:pt x="160577" y="208811"/>
                  <a:pt x="211246" y="177278"/>
                  <a:pt x="234950" y="119998"/>
                </a:cubicBezTo>
                <a:cubicBezTo>
                  <a:pt x="244258" y="120172"/>
                  <a:pt x="264351" y="120041"/>
                  <a:pt x="274659" y="100339"/>
                </a:cubicBezTo>
                <a:cubicBezTo>
                  <a:pt x="275312" y="99251"/>
                  <a:pt x="277530" y="94598"/>
                  <a:pt x="278356" y="92901"/>
                </a:cubicBezTo>
                <a:lnTo>
                  <a:pt x="272572" y="89030"/>
                </a:lnTo>
                <a:close/>
                <a:moveTo>
                  <a:pt x="50278" y="76896"/>
                </a:moveTo>
                <a:lnTo>
                  <a:pt x="21573" y="76896"/>
                </a:lnTo>
                <a:lnTo>
                  <a:pt x="21573" y="102731"/>
                </a:lnTo>
                <a:lnTo>
                  <a:pt x="50322" y="102731"/>
                </a:lnTo>
                <a:lnTo>
                  <a:pt x="50322" y="76896"/>
                </a:lnTo>
                <a:lnTo>
                  <a:pt x="50278" y="76896"/>
                </a:lnTo>
                <a:close/>
                <a:moveTo>
                  <a:pt x="84246" y="76896"/>
                </a:moveTo>
                <a:lnTo>
                  <a:pt x="55497" y="76896"/>
                </a:lnTo>
                <a:lnTo>
                  <a:pt x="55497" y="102731"/>
                </a:lnTo>
                <a:lnTo>
                  <a:pt x="84246" y="102731"/>
                </a:lnTo>
                <a:lnTo>
                  <a:pt x="84246" y="76896"/>
                </a:lnTo>
                <a:close/>
                <a:moveTo>
                  <a:pt x="118214" y="76896"/>
                </a:moveTo>
                <a:lnTo>
                  <a:pt x="89465" y="76896"/>
                </a:lnTo>
                <a:lnTo>
                  <a:pt x="89465" y="102731"/>
                </a:lnTo>
                <a:lnTo>
                  <a:pt x="118214" y="102731"/>
                </a:lnTo>
                <a:lnTo>
                  <a:pt x="118214" y="76896"/>
                </a:lnTo>
                <a:close/>
                <a:moveTo>
                  <a:pt x="84246" y="45537"/>
                </a:moveTo>
                <a:lnTo>
                  <a:pt x="55497" y="45537"/>
                </a:lnTo>
                <a:lnTo>
                  <a:pt x="55497" y="71677"/>
                </a:lnTo>
                <a:lnTo>
                  <a:pt x="84246" y="71677"/>
                </a:lnTo>
                <a:lnTo>
                  <a:pt x="84246" y="45537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8" name="Text 26"/>
          <p:cNvSpPr/>
          <p:nvPr/>
        </p:nvSpPr>
        <p:spPr>
          <a:xfrm>
            <a:off x="1169096" y="4305242"/>
            <a:ext cx="1391781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Containerization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85359" y="4305242"/>
            <a:ext cx="630941" cy="259799"/>
          </a:xfrm>
          <a:custGeom>
            <a:avLst/>
            <a:gdLst/>
            <a:ahLst/>
            <a:cxnLst/>
            <a:rect l="l" t="t" r="r" b="b"/>
            <a:pathLst>
              <a:path w="630941" h="259799">
                <a:moveTo>
                  <a:pt x="129900" y="0"/>
                </a:moveTo>
                <a:lnTo>
                  <a:pt x="501041" y="0"/>
                </a:lnTo>
                <a:cubicBezTo>
                  <a:pt x="572783" y="0"/>
                  <a:pt x="630941" y="58158"/>
                  <a:pt x="630941" y="129900"/>
                </a:cubicBezTo>
                <a:lnTo>
                  <a:pt x="630941" y="129900"/>
                </a:lnTo>
                <a:cubicBezTo>
                  <a:pt x="630941" y="201641"/>
                  <a:pt x="572783" y="259799"/>
                  <a:pt x="501041" y="259799"/>
                </a:cubicBezTo>
                <a:lnTo>
                  <a:pt x="129900" y="259799"/>
                </a:lnTo>
                <a:cubicBezTo>
                  <a:pt x="58206" y="259799"/>
                  <a:pt x="0" y="201593"/>
                  <a:pt x="0" y="129900"/>
                </a:cubicBezTo>
                <a:lnTo>
                  <a:pt x="0" y="129900"/>
                </a:lnTo>
                <a:cubicBezTo>
                  <a:pt x="0" y="58206"/>
                  <a:pt x="58206" y="0"/>
                  <a:pt x="1299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985359" y="4305242"/>
            <a:ext cx="695890" cy="259799"/>
          </a:xfrm>
          <a:prstGeom prst="rect">
            <a:avLst/>
          </a:prstGeom>
          <a:noFill/>
          <a:ln/>
        </p:spPr>
        <p:txBody>
          <a:bodyPr wrap="square" lIns="111342" tIns="37114" rIns="111342" bIns="37114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38BDF8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Deploy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50539" y="4639269"/>
            <a:ext cx="4537205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for consistent deployment and scaling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2384" y="5158868"/>
            <a:ext cx="5149589" cy="853626"/>
          </a:xfrm>
          <a:custGeom>
            <a:avLst/>
            <a:gdLst/>
            <a:ahLst/>
            <a:cxnLst/>
            <a:rect l="l" t="t" r="r" b="b"/>
            <a:pathLst>
              <a:path w="5149589" h="853626">
                <a:moveTo>
                  <a:pt x="37114" y="0"/>
                </a:moveTo>
                <a:lnTo>
                  <a:pt x="5075358" y="0"/>
                </a:lnTo>
                <a:cubicBezTo>
                  <a:pt x="5116355" y="0"/>
                  <a:pt x="5149589" y="33234"/>
                  <a:pt x="5149589" y="74231"/>
                </a:cubicBezTo>
                <a:lnTo>
                  <a:pt x="5149589" y="779394"/>
                </a:lnTo>
                <a:cubicBezTo>
                  <a:pt x="5149589" y="820391"/>
                  <a:pt x="5116355" y="853626"/>
                  <a:pt x="5075358" y="853626"/>
                </a:cubicBezTo>
                <a:lnTo>
                  <a:pt x="37114" y="853626"/>
                </a:lnTo>
                <a:cubicBezTo>
                  <a:pt x="16617" y="853626"/>
                  <a:pt x="0" y="837009"/>
                  <a:pt x="0" y="816511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33" name="Shape 31"/>
          <p:cNvSpPr/>
          <p:nvPr/>
        </p:nvSpPr>
        <p:spPr>
          <a:xfrm>
            <a:off x="612384" y="5158868"/>
            <a:ext cx="37114" cy="853626"/>
          </a:xfrm>
          <a:custGeom>
            <a:avLst/>
            <a:gdLst/>
            <a:ahLst/>
            <a:cxnLst/>
            <a:rect l="l" t="t" r="r" b="b"/>
            <a:pathLst>
              <a:path w="37114" h="853626">
                <a:moveTo>
                  <a:pt x="37114" y="0"/>
                </a:moveTo>
                <a:lnTo>
                  <a:pt x="37114" y="0"/>
                </a:lnTo>
                <a:lnTo>
                  <a:pt x="37114" y="853626"/>
                </a:lnTo>
                <a:lnTo>
                  <a:pt x="37114" y="853626"/>
                </a:lnTo>
                <a:cubicBezTo>
                  <a:pt x="16617" y="853626"/>
                  <a:pt x="0" y="837009"/>
                  <a:pt x="0" y="816511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34" name="Shape 32"/>
          <p:cNvSpPr/>
          <p:nvPr/>
        </p:nvSpPr>
        <p:spPr>
          <a:xfrm>
            <a:off x="807233" y="5325881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149008" y="4088"/>
                </a:moveTo>
                <a:cubicBezTo>
                  <a:pt x="143571" y="-1348"/>
                  <a:pt x="134742" y="-1348"/>
                  <a:pt x="129305" y="4088"/>
                </a:cubicBezTo>
                <a:cubicBezTo>
                  <a:pt x="123868" y="9525"/>
                  <a:pt x="123868" y="18354"/>
                  <a:pt x="129305" y="23791"/>
                </a:cubicBezTo>
                <a:lnTo>
                  <a:pt x="133393" y="27836"/>
                </a:lnTo>
                <a:lnTo>
                  <a:pt x="12222" y="149008"/>
                </a:lnTo>
                <a:cubicBezTo>
                  <a:pt x="4393" y="156836"/>
                  <a:pt x="0" y="167449"/>
                  <a:pt x="0" y="178539"/>
                </a:cubicBezTo>
                <a:lnTo>
                  <a:pt x="0" y="180932"/>
                </a:lnTo>
                <a:cubicBezTo>
                  <a:pt x="0" y="203983"/>
                  <a:pt x="18702" y="222685"/>
                  <a:pt x="41753" y="222685"/>
                </a:cubicBezTo>
                <a:lnTo>
                  <a:pt x="44146" y="222685"/>
                </a:lnTo>
                <a:cubicBezTo>
                  <a:pt x="55236" y="222685"/>
                  <a:pt x="65849" y="218292"/>
                  <a:pt x="73677" y="210463"/>
                </a:cubicBezTo>
                <a:lnTo>
                  <a:pt x="194849" y="89291"/>
                </a:lnTo>
                <a:lnTo>
                  <a:pt x="198938" y="93380"/>
                </a:lnTo>
                <a:cubicBezTo>
                  <a:pt x="204374" y="98816"/>
                  <a:pt x="213203" y="98816"/>
                  <a:pt x="218640" y="93380"/>
                </a:cubicBezTo>
                <a:cubicBezTo>
                  <a:pt x="224077" y="87943"/>
                  <a:pt x="224077" y="79114"/>
                  <a:pt x="218640" y="73677"/>
                </a:cubicBezTo>
                <a:lnTo>
                  <a:pt x="149051" y="4088"/>
                </a:lnTo>
                <a:close/>
                <a:moveTo>
                  <a:pt x="89291" y="111342"/>
                </a:moveTo>
                <a:lnTo>
                  <a:pt x="153096" y="47538"/>
                </a:lnTo>
                <a:lnTo>
                  <a:pt x="175147" y="69589"/>
                </a:lnTo>
                <a:lnTo>
                  <a:pt x="133393" y="111342"/>
                </a:lnTo>
                <a:lnTo>
                  <a:pt x="89248" y="111342"/>
                </a:ln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35" name="Text 33"/>
          <p:cNvSpPr/>
          <p:nvPr/>
        </p:nvSpPr>
        <p:spPr>
          <a:xfrm>
            <a:off x="1169096" y="5307324"/>
            <a:ext cx="1131982" cy="259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5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 &amp; Viz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72113" y="5307324"/>
            <a:ext cx="538155" cy="259799"/>
          </a:xfrm>
          <a:custGeom>
            <a:avLst/>
            <a:gdLst/>
            <a:ahLst/>
            <a:cxnLst/>
            <a:rect l="l" t="t" r="r" b="b"/>
            <a:pathLst>
              <a:path w="538155" h="259799">
                <a:moveTo>
                  <a:pt x="129900" y="0"/>
                </a:moveTo>
                <a:lnTo>
                  <a:pt x="408256" y="0"/>
                </a:lnTo>
                <a:cubicBezTo>
                  <a:pt x="479997" y="0"/>
                  <a:pt x="538155" y="58158"/>
                  <a:pt x="538155" y="129900"/>
                </a:cubicBezTo>
                <a:lnTo>
                  <a:pt x="538155" y="129900"/>
                </a:lnTo>
                <a:cubicBezTo>
                  <a:pt x="538155" y="201641"/>
                  <a:pt x="479997" y="259799"/>
                  <a:pt x="408256" y="259799"/>
                </a:cubicBezTo>
                <a:lnTo>
                  <a:pt x="129900" y="259799"/>
                </a:lnTo>
                <a:cubicBezTo>
                  <a:pt x="58206" y="259799"/>
                  <a:pt x="0" y="201593"/>
                  <a:pt x="0" y="129900"/>
                </a:cubicBezTo>
                <a:lnTo>
                  <a:pt x="0" y="129900"/>
                </a:lnTo>
                <a:cubicBezTo>
                  <a:pt x="0" y="58206"/>
                  <a:pt x="58206" y="0"/>
                  <a:pt x="12990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072113" y="5307324"/>
            <a:ext cx="603105" cy="259799"/>
          </a:xfrm>
          <a:prstGeom prst="rect">
            <a:avLst/>
          </a:prstGeom>
          <a:noFill/>
          <a:ln/>
        </p:spPr>
        <p:txBody>
          <a:bodyPr wrap="square" lIns="111342" tIns="37114" rIns="111342" bIns="37114" rtlCol="0" anchor="ctr"/>
          <a:lstStyle/>
          <a:p>
            <a:pPr>
              <a:lnSpc>
                <a:spcPct val="120000"/>
              </a:lnSpc>
            </a:pPr>
            <a:r>
              <a:rPr lang="en-US" sz="1023" dirty="0">
                <a:solidFill>
                  <a:srgbClr val="2DD4B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Tools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50539" y="5641352"/>
            <a:ext cx="4537205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Postman for API testing, Matplotlib for data visualization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06299" y="1243324"/>
            <a:ext cx="5613516" cy="5242374"/>
          </a:xfrm>
          <a:custGeom>
            <a:avLst/>
            <a:gdLst/>
            <a:ahLst/>
            <a:cxnLst/>
            <a:rect l="l" t="t" r="r" b="b"/>
            <a:pathLst>
              <a:path w="5613516" h="5242374">
                <a:moveTo>
                  <a:pt x="37114" y="0"/>
                </a:moveTo>
                <a:lnTo>
                  <a:pt x="5576402" y="0"/>
                </a:lnTo>
                <a:cubicBezTo>
                  <a:pt x="5596899" y="0"/>
                  <a:pt x="5613516" y="16617"/>
                  <a:pt x="5613516" y="37114"/>
                </a:cubicBezTo>
                <a:lnTo>
                  <a:pt x="5613516" y="5131026"/>
                </a:lnTo>
                <a:cubicBezTo>
                  <a:pt x="5613516" y="5192522"/>
                  <a:pt x="5563664" y="5242374"/>
                  <a:pt x="5502168" y="5242374"/>
                </a:cubicBezTo>
                <a:lnTo>
                  <a:pt x="111348" y="5242374"/>
                </a:lnTo>
                <a:cubicBezTo>
                  <a:pt x="49852" y="5242374"/>
                  <a:pt x="0" y="5192522"/>
                  <a:pt x="0" y="5131026"/>
                </a:cubicBez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0" name="Shape 38"/>
          <p:cNvSpPr/>
          <p:nvPr/>
        </p:nvSpPr>
        <p:spPr>
          <a:xfrm>
            <a:off x="6206299" y="1243324"/>
            <a:ext cx="5613516" cy="37114"/>
          </a:xfrm>
          <a:custGeom>
            <a:avLst/>
            <a:gdLst/>
            <a:ahLst/>
            <a:cxnLst/>
            <a:rect l="l" t="t" r="r" b="b"/>
            <a:pathLst>
              <a:path w="5613516" h="37114">
                <a:moveTo>
                  <a:pt x="37114" y="0"/>
                </a:moveTo>
                <a:lnTo>
                  <a:pt x="5576402" y="0"/>
                </a:lnTo>
                <a:cubicBezTo>
                  <a:pt x="5596899" y="0"/>
                  <a:pt x="5613516" y="16617"/>
                  <a:pt x="5613516" y="37114"/>
                </a:cubicBezTo>
                <a:lnTo>
                  <a:pt x="5613516" y="37114"/>
                </a:lnTo>
                <a:lnTo>
                  <a:pt x="0" y="37114"/>
                </a:lnTo>
                <a:lnTo>
                  <a:pt x="0" y="37114"/>
                </a:lnTo>
                <a:cubicBezTo>
                  <a:pt x="0" y="16630"/>
                  <a:pt x="16630" y="0"/>
                  <a:pt x="37114" y="0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41" name="Shape 39"/>
          <p:cNvSpPr/>
          <p:nvPr/>
        </p:nvSpPr>
        <p:spPr>
          <a:xfrm>
            <a:off x="6428984" y="1484566"/>
            <a:ext cx="445370" cy="445370"/>
          </a:xfrm>
          <a:custGeom>
            <a:avLst/>
            <a:gdLst/>
            <a:ahLst/>
            <a:cxnLst/>
            <a:rect l="l" t="t" r="r" b="b"/>
            <a:pathLst>
              <a:path w="445370" h="445370">
                <a:moveTo>
                  <a:pt x="111342" y="0"/>
                </a:moveTo>
                <a:lnTo>
                  <a:pt x="334027" y="0"/>
                </a:lnTo>
                <a:cubicBezTo>
                  <a:pt x="395520" y="0"/>
                  <a:pt x="445370" y="49850"/>
                  <a:pt x="445370" y="111342"/>
                </a:cubicBezTo>
                <a:lnTo>
                  <a:pt x="445370" y="334027"/>
                </a:lnTo>
                <a:cubicBezTo>
                  <a:pt x="445370" y="395520"/>
                  <a:pt x="395520" y="445370"/>
                  <a:pt x="334027" y="445370"/>
                </a:cubicBezTo>
                <a:lnTo>
                  <a:pt x="111342" y="445370"/>
                </a:lnTo>
                <a:cubicBezTo>
                  <a:pt x="49850" y="445370"/>
                  <a:pt x="0" y="395520"/>
                  <a:pt x="0" y="334027"/>
                </a:cubicBezTo>
                <a:lnTo>
                  <a:pt x="0" y="111342"/>
                </a:lnTo>
                <a:cubicBezTo>
                  <a:pt x="0" y="49850"/>
                  <a:pt x="49850" y="0"/>
                  <a:pt x="111342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540326" y="1595909"/>
            <a:ext cx="222685" cy="222685"/>
          </a:xfrm>
          <a:custGeom>
            <a:avLst/>
            <a:gdLst/>
            <a:ahLst/>
            <a:cxnLst/>
            <a:rect l="l" t="t" r="r" b="b"/>
            <a:pathLst>
              <a:path w="222685" h="222685">
                <a:moveTo>
                  <a:pt x="76548" y="10438"/>
                </a:moveTo>
                <a:cubicBezTo>
                  <a:pt x="76548" y="4654"/>
                  <a:pt x="71894" y="0"/>
                  <a:pt x="66110" y="0"/>
                </a:cubicBezTo>
                <a:cubicBezTo>
                  <a:pt x="60325" y="0"/>
                  <a:pt x="55671" y="4654"/>
                  <a:pt x="55671" y="10438"/>
                </a:cubicBezTo>
                <a:lnTo>
                  <a:pt x="55671" y="27836"/>
                </a:lnTo>
                <a:cubicBezTo>
                  <a:pt x="40318" y="27836"/>
                  <a:pt x="27836" y="40318"/>
                  <a:pt x="27836" y="55671"/>
                </a:cubicBezTo>
                <a:lnTo>
                  <a:pt x="10438" y="55671"/>
                </a:lnTo>
                <a:cubicBezTo>
                  <a:pt x="4654" y="55671"/>
                  <a:pt x="0" y="60325"/>
                  <a:pt x="0" y="66110"/>
                </a:cubicBezTo>
                <a:cubicBezTo>
                  <a:pt x="0" y="71894"/>
                  <a:pt x="4654" y="76548"/>
                  <a:pt x="10438" y="76548"/>
                </a:cubicBezTo>
                <a:lnTo>
                  <a:pt x="27836" y="76548"/>
                </a:lnTo>
                <a:lnTo>
                  <a:pt x="27836" y="100904"/>
                </a:lnTo>
                <a:lnTo>
                  <a:pt x="10438" y="100904"/>
                </a:lnTo>
                <a:cubicBezTo>
                  <a:pt x="4654" y="100904"/>
                  <a:pt x="0" y="105558"/>
                  <a:pt x="0" y="111342"/>
                </a:cubicBezTo>
                <a:cubicBezTo>
                  <a:pt x="0" y="117127"/>
                  <a:pt x="4654" y="121781"/>
                  <a:pt x="10438" y="121781"/>
                </a:cubicBezTo>
                <a:lnTo>
                  <a:pt x="27836" y="121781"/>
                </a:lnTo>
                <a:lnTo>
                  <a:pt x="27836" y="146137"/>
                </a:lnTo>
                <a:lnTo>
                  <a:pt x="10438" y="146137"/>
                </a:lnTo>
                <a:cubicBezTo>
                  <a:pt x="4654" y="146137"/>
                  <a:pt x="0" y="150791"/>
                  <a:pt x="0" y="156575"/>
                </a:cubicBezTo>
                <a:cubicBezTo>
                  <a:pt x="0" y="162360"/>
                  <a:pt x="4654" y="167014"/>
                  <a:pt x="10438" y="167014"/>
                </a:cubicBezTo>
                <a:lnTo>
                  <a:pt x="27836" y="167014"/>
                </a:lnTo>
                <a:cubicBezTo>
                  <a:pt x="27836" y="182367"/>
                  <a:pt x="40318" y="194849"/>
                  <a:pt x="55671" y="194849"/>
                </a:cubicBezTo>
                <a:lnTo>
                  <a:pt x="55671" y="212247"/>
                </a:lnTo>
                <a:cubicBezTo>
                  <a:pt x="55671" y="218031"/>
                  <a:pt x="60325" y="222685"/>
                  <a:pt x="66110" y="222685"/>
                </a:cubicBezTo>
                <a:cubicBezTo>
                  <a:pt x="71894" y="222685"/>
                  <a:pt x="76548" y="218031"/>
                  <a:pt x="76548" y="212247"/>
                </a:cubicBezTo>
                <a:lnTo>
                  <a:pt x="76548" y="194849"/>
                </a:lnTo>
                <a:lnTo>
                  <a:pt x="100904" y="194849"/>
                </a:lnTo>
                <a:lnTo>
                  <a:pt x="100904" y="212247"/>
                </a:lnTo>
                <a:cubicBezTo>
                  <a:pt x="100904" y="218031"/>
                  <a:pt x="105558" y="222685"/>
                  <a:pt x="111342" y="222685"/>
                </a:cubicBezTo>
                <a:cubicBezTo>
                  <a:pt x="117127" y="222685"/>
                  <a:pt x="121781" y="218031"/>
                  <a:pt x="121781" y="212247"/>
                </a:cubicBezTo>
                <a:lnTo>
                  <a:pt x="121781" y="194849"/>
                </a:lnTo>
                <a:lnTo>
                  <a:pt x="146137" y="194849"/>
                </a:lnTo>
                <a:lnTo>
                  <a:pt x="146137" y="212247"/>
                </a:lnTo>
                <a:cubicBezTo>
                  <a:pt x="146137" y="218031"/>
                  <a:pt x="150791" y="222685"/>
                  <a:pt x="156575" y="222685"/>
                </a:cubicBezTo>
                <a:cubicBezTo>
                  <a:pt x="162360" y="222685"/>
                  <a:pt x="167014" y="218031"/>
                  <a:pt x="167014" y="212247"/>
                </a:cubicBezTo>
                <a:lnTo>
                  <a:pt x="167014" y="194849"/>
                </a:lnTo>
                <a:cubicBezTo>
                  <a:pt x="182367" y="194849"/>
                  <a:pt x="194849" y="182367"/>
                  <a:pt x="194849" y="167014"/>
                </a:cubicBezTo>
                <a:lnTo>
                  <a:pt x="212247" y="167014"/>
                </a:lnTo>
                <a:cubicBezTo>
                  <a:pt x="218031" y="167014"/>
                  <a:pt x="222685" y="162360"/>
                  <a:pt x="222685" y="156575"/>
                </a:cubicBezTo>
                <a:cubicBezTo>
                  <a:pt x="222685" y="150791"/>
                  <a:pt x="218031" y="146137"/>
                  <a:pt x="212247" y="146137"/>
                </a:cubicBezTo>
                <a:lnTo>
                  <a:pt x="194849" y="146137"/>
                </a:lnTo>
                <a:lnTo>
                  <a:pt x="194849" y="121781"/>
                </a:lnTo>
                <a:lnTo>
                  <a:pt x="212247" y="121781"/>
                </a:lnTo>
                <a:cubicBezTo>
                  <a:pt x="218031" y="121781"/>
                  <a:pt x="222685" y="117127"/>
                  <a:pt x="222685" y="111342"/>
                </a:cubicBezTo>
                <a:cubicBezTo>
                  <a:pt x="222685" y="105558"/>
                  <a:pt x="218031" y="100904"/>
                  <a:pt x="212247" y="100904"/>
                </a:cubicBezTo>
                <a:lnTo>
                  <a:pt x="194849" y="100904"/>
                </a:lnTo>
                <a:lnTo>
                  <a:pt x="194849" y="76548"/>
                </a:lnTo>
                <a:lnTo>
                  <a:pt x="212247" y="76548"/>
                </a:lnTo>
                <a:cubicBezTo>
                  <a:pt x="218031" y="76548"/>
                  <a:pt x="222685" y="71894"/>
                  <a:pt x="222685" y="66110"/>
                </a:cubicBezTo>
                <a:cubicBezTo>
                  <a:pt x="222685" y="60325"/>
                  <a:pt x="218031" y="55671"/>
                  <a:pt x="212247" y="55671"/>
                </a:cubicBezTo>
                <a:lnTo>
                  <a:pt x="194849" y="55671"/>
                </a:lnTo>
                <a:cubicBezTo>
                  <a:pt x="194849" y="40318"/>
                  <a:pt x="182367" y="27836"/>
                  <a:pt x="167014" y="27836"/>
                </a:cubicBezTo>
                <a:lnTo>
                  <a:pt x="167014" y="10438"/>
                </a:lnTo>
                <a:cubicBezTo>
                  <a:pt x="167014" y="4654"/>
                  <a:pt x="162360" y="0"/>
                  <a:pt x="156575" y="0"/>
                </a:cubicBezTo>
                <a:cubicBezTo>
                  <a:pt x="150791" y="0"/>
                  <a:pt x="146137" y="4654"/>
                  <a:pt x="146137" y="10438"/>
                </a:cubicBezTo>
                <a:lnTo>
                  <a:pt x="146137" y="27836"/>
                </a:lnTo>
                <a:lnTo>
                  <a:pt x="121781" y="27836"/>
                </a:lnTo>
                <a:lnTo>
                  <a:pt x="121781" y="10438"/>
                </a:lnTo>
                <a:cubicBezTo>
                  <a:pt x="121781" y="4654"/>
                  <a:pt x="117127" y="0"/>
                  <a:pt x="111342" y="0"/>
                </a:cubicBezTo>
                <a:cubicBezTo>
                  <a:pt x="105558" y="0"/>
                  <a:pt x="100904" y="4654"/>
                  <a:pt x="100904" y="10438"/>
                </a:cubicBezTo>
                <a:lnTo>
                  <a:pt x="100904" y="27836"/>
                </a:lnTo>
                <a:lnTo>
                  <a:pt x="76548" y="27836"/>
                </a:lnTo>
                <a:lnTo>
                  <a:pt x="76548" y="10438"/>
                </a:lnTo>
                <a:close/>
                <a:moveTo>
                  <a:pt x="69589" y="55671"/>
                </a:moveTo>
                <a:lnTo>
                  <a:pt x="153096" y="55671"/>
                </a:lnTo>
                <a:cubicBezTo>
                  <a:pt x="160794" y="55671"/>
                  <a:pt x="167014" y="61891"/>
                  <a:pt x="167014" y="69589"/>
                </a:cubicBezTo>
                <a:lnTo>
                  <a:pt x="167014" y="153096"/>
                </a:lnTo>
                <a:cubicBezTo>
                  <a:pt x="167014" y="160794"/>
                  <a:pt x="160794" y="167014"/>
                  <a:pt x="153096" y="167014"/>
                </a:cubicBezTo>
                <a:lnTo>
                  <a:pt x="69589" y="167014"/>
                </a:lnTo>
                <a:cubicBezTo>
                  <a:pt x="61891" y="167014"/>
                  <a:pt x="55671" y="160794"/>
                  <a:pt x="55671" y="153096"/>
                </a:cubicBezTo>
                <a:lnTo>
                  <a:pt x="55671" y="69589"/>
                </a:lnTo>
                <a:cubicBezTo>
                  <a:pt x="55671" y="61891"/>
                  <a:pt x="61891" y="55671"/>
                  <a:pt x="69589" y="55671"/>
                </a:cubicBezTo>
                <a:close/>
                <a:moveTo>
                  <a:pt x="76548" y="76548"/>
                </a:moveTo>
                <a:lnTo>
                  <a:pt x="76548" y="146137"/>
                </a:lnTo>
                <a:lnTo>
                  <a:pt x="146137" y="146137"/>
                </a:lnTo>
                <a:lnTo>
                  <a:pt x="146137" y="76548"/>
                </a:lnTo>
                <a:lnTo>
                  <a:pt x="76548" y="76548"/>
                </a:ln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43" name="Text 41"/>
          <p:cNvSpPr/>
          <p:nvPr/>
        </p:nvSpPr>
        <p:spPr>
          <a:xfrm>
            <a:off x="6985696" y="1540237"/>
            <a:ext cx="2301078" cy="334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92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Hardware Specs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32695" y="2156332"/>
            <a:ext cx="5157012" cy="1491989"/>
          </a:xfrm>
          <a:custGeom>
            <a:avLst/>
            <a:gdLst/>
            <a:ahLst/>
            <a:cxnLst/>
            <a:rect l="l" t="t" r="r" b="b"/>
            <a:pathLst>
              <a:path w="5157012" h="1491989">
                <a:moveTo>
                  <a:pt x="111347" y="0"/>
                </a:moveTo>
                <a:lnTo>
                  <a:pt x="5045665" y="0"/>
                </a:lnTo>
                <a:cubicBezTo>
                  <a:pt x="5107160" y="0"/>
                  <a:pt x="5157012" y="49852"/>
                  <a:pt x="5157012" y="111347"/>
                </a:cubicBezTo>
                <a:lnTo>
                  <a:pt x="5157012" y="1380642"/>
                </a:lnTo>
                <a:cubicBezTo>
                  <a:pt x="5157012" y="1442137"/>
                  <a:pt x="5107160" y="1491989"/>
                  <a:pt x="5045665" y="1491989"/>
                </a:cubicBezTo>
                <a:lnTo>
                  <a:pt x="111347" y="1491989"/>
                </a:lnTo>
                <a:cubicBezTo>
                  <a:pt x="49852" y="1491989"/>
                  <a:pt x="0" y="1442137"/>
                  <a:pt x="0" y="1380642"/>
                </a:cubicBezTo>
                <a:lnTo>
                  <a:pt x="0" y="111347"/>
                </a:lnTo>
                <a:cubicBezTo>
                  <a:pt x="0" y="49852"/>
                  <a:pt x="49852" y="0"/>
                  <a:pt x="111347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>
                  <a:alpha val="10000"/>
                </a:srgbClr>
              </a:gs>
              <a:gs pos="100000">
                <a:srgbClr val="2DD4BF">
                  <a:alpha val="10000"/>
                </a:srgbClr>
              </a:gs>
            </a:gsLst>
            <a:lin ang="2700000" scaled="1"/>
          </a:gra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21977" y="2345615"/>
            <a:ext cx="519598" cy="519598"/>
          </a:xfrm>
          <a:custGeom>
            <a:avLst/>
            <a:gdLst/>
            <a:ahLst/>
            <a:cxnLst/>
            <a:rect l="l" t="t" r="r" b="b"/>
            <a:pathLst>
              <a:path w="519598" h="519598">
                <a:moveTo>
                  <a:pt x="111345" y="0"/>
                </a:moveTo>
                <a:lnTo>
                  <a:pt x="408253" y="0"/>
                </a:lnTo>
                <a:cubicBezTo>
                  <a:pt x="469747" y="0"/>
                  <a:pt x="519598" y="49851"/>
                  <a:pt x="519598" y="111345"/>
                </a:cubicBezTo>
                <a:lnTo>
                  <a:pt x="519598" y="408253"/>
                </a:lnTo>
                <a:cubicBezTo>
                  <a:pt x="519598" y="469747"/>
                  <a:pt x="469747" y="519598"/>
                  <a:pt x="408253" y="519598"/>
                </a:cubicBezTo>
                <a:lnTo>
                  <a:pt x="111345" y="519598"/>
                </a:lnTo>
                <a:cubicBezTo>
                  <a:pt x="49851" y="519598"/>
                  <a:pt x="0" y="469747"/>
                  <a:pt x="0" y="408253"/>
                </a:cubicBezTo>
                <a:lnTo>
                  <a:pt x="0" y="111345"/>
                </a:lnTo>
                <a:cubicBezTo>
                  <a:pt x="0" y="49892"/>
                  <a:pt x="49892" y="0"/>
                  <a:pt x="111345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744918" y="2466236"/>
            <a:ext cx="278356" cy="278356"/>
          </a:xfrm>
          <a:custGeom>
            <a:avLst/>
            <a:gdLst/>
            <a:ahLst/>
            <a:cxnLst/>
            <a:rect l="l" t="t" r="r" b="b"/>
            <a:pathLst>
              <a:path w="278356" h="278356">
                <a:moveTo>
                  <a:pt x="34795" y="34795"/>
                </a:moveTo>
                <a:cubicBezTo>
                  <a:pt x="15603" y="34795"/>
                  <a:pt x="0" y="50398"/>
                  <a:pt x="0" y="69589"/>
                </a:cubicBezTo>
                <a:lnTo>
                  <a:pt x="0" y="73612"/>
                </a:lnTo>
                <a:cubicBezTo>
                  <a:pt x="0" y="77309"/>
                  <a:pt x="2392" y="80462"/>
                  <a:pt x="5491" y="82474"/>
                </a:cubicBezTo>
                <a:cubicBezTo>
                  <a:pt x="12667" y="87149"/>
                  <a:pt x="17397" y="95196"/>
                  <a:pt x="17397" y="104384"/>
                </a:cubicBezTo>
                <a:cubicBezTo>
                  <a:pt x="17397" y="113571"/>
                  <a:pt x="12667" y="121618"/>
                  <a:pt x="5491" y="126293"/>
                </a:cubicBezTo>
                <a:cubicBezTo>
                  <a:pt x="2392" y="128305"/>
                  <a:pt x="0" y="131458"/>
                  <a:pt x="0" y="135155"/>
                </a:cubicBezTo>
                <a:lnTo>
                  <a:pt x="0" y="165274"/>
                </a:lnTo>
                <a:lnTo>
                  <a:pt x="278356" y="165274"/>
                </a:lnTo>
                <a:lnTo>
                  <a:pt x="278356" y="135155"/>
                </a:lnTo>
                <a:cubicBezTo>
                  <a:pt x="278356" y="131458"/>
                  <a:pt x="275964" y="128305"/>
                  <a:pt x="272865" y="126293"/>
                </a:cubicBezTo>
                <a:cubicBezTo>
                  <a:pt x="265689" y="121618"/>
                  <a:pt x="260959" y="113571"/>
                  <a:pt x="260959" y="104384"/>
                </a:cubicBezTo>
                <a:cubicBezTo>
                  <a:pt x="260959" y="95196"/>
                  <a:pt x="265689" y="87149"/>
                  <a:pt x="272865" y="82474"/>
                </a:cubicBezTo>
                <a:cubicBezTo>
                  <a:pt x="275964" y="80462"/>
                  <a:pt x="278356" y="77309"/>
                  <a:pt x="278356" y="73612"/>
                </a:cubicBezTo>
                <a:lnTo>
                  <a:pt x="278356" y="69589"/>
                </a:lnTo>
                <a:cubicBezTo>
                  <a:pt x="278356" y="50398"/>
                  <a:pt x="262753" y="34795"/>
                  <a:pt x="243562" y="34795"/>
                </a:cubicBezTo>
                <a:lnTo>
                  <a:pt x="34795" y="34795"/>
                </a:lnTo>
                <a:close/>
                <a:moveTo>
                  <a:pt x="278356" y="226164"/>
                </a:moveTo>
                <a:lnTo>
                  <a:pt x="278356" y="191370"/>
                </a:lnTo>
                <a:lnTo>
                  <a:pt x="0" y="191370"/>
                </a:lnTo>
                <a:lnTo>
                  <a:pt x="0" y="226164"/>
                </a:lnTo>
                <a:cubicBezTo>
                  <a:pt x="0" y="235787"/>
                  <a:pt x="7774" y="243562"/>
                  <a:pt x="17397" y="243562"/>
                </a:cubicBezTo>
                <a:lnTo>
                  <a:pt x="52192" y="243562"/>
                </a:lnTo>
                <a:lnTo>
                  <a:pt x="52192" y="230514"/>
                </a:lnTo>
                <a:cubicBezTo>
                  <a:pt x="52192" y="223283"/>
                  <a:pt x="58009" y="217466"/>
                  <a:pt x="65240" y="217466"/>
                </a:cubicBezTo>
                <a:cubicBezTo>
                  <a:pt x="72470" y="217466"/>
                  <a:pt x="78288" y="223283"/>
                  <a:pt x="78288" y="230514"/>
                </a:cubicBezTo>
                <a:lnTo>
                  <a:pt x="78288" y="243562"/>
                </a:lnTo>
                <a:lnTo>
                  <a:pt x="126130" y="243562"/>
                </a:lnTo>
                <a:lnTo>
                  <a:pt x="126130" y="230514"/>
                </a:lnTo>
                <a:cubicBezTo>
                  <a:pt x="126130" y="223283"/>
                  <a:pt x="131947" y="217466"/>
                  <a:pt x="139178" y="217466"/>
                </a:cubicBezTo>
                <a:cubicBezTo>
                  <a:pt x="146409" y="217466"/>
                  <a:pt x="152226" y="223283"/>
                  <a:pt x="152226" y="230514"/>
                </a:cubicBezTo>
                <a:lnTo>
                  <a:pt x="152226" y="243562"/>
                </a:lnTo>
                <a:lnTo>
                  <a:pt x="200068" y="243562"/>
                </a:lnTo>
                <a:lnTo>
                  <a:pt x="200068" y="230514"/>
                </a:lnTo>
                <a:cubicBezTo>
                  <a:pt x="200068" y="223283"/>
                  <a:pt x="205886" y="217466"/>
                  <a:pt x="213116" y="217466"/>
                </a:cubicBezTo>
                <a:cubicBezTo>
                  <a:pt x="220347" y="217466"/>
                  <a:pt x="226164" y="223283"/>
                  <a:pt x="226164" y="230514"/>
                </a:cubicBezTo>
                <a:lnTo>
                  <a:pt x="226164" y="243562"/>
                </a:lnTo>
                <a:lnTo>
                  <a:pt x="260959" y="243562"/>
                </a:lnTo>
                <a:cubicBezTo>
                  <a:pt x="270582" y="243562"/>
                  <a:pt x="278356" y="235787"/>
                  <a:pt x="278356" y="226164"/>
                </a:cubicBezTo>
                <a:close/>
                <a:moveTo>
                  <a:pt x="86986" y="86986"/>
                </a:moveTo>
                <a:lnTo>
                  <a:pt x="86986" y="121781"/>
                </a:lnTo>
                <a:cubicBezTo>
                  <a:pt x="86986" y="131404"/>
                  <a:pt x="79212" y="139178"/>
                  <a:pt x="69589" y="139178"/>
                </a:cubicBezTo>
                <a:cubicBezTo>
                  <a:pt x="59966" y="139178"/>
                  <a:pt x="52192" y="131404"/>
                  <a:pt x="52192" y="121781"/>
                </a:cubicBezTo>
                <a:lnTo>
                  <a:pt x="52192" y="86986"/>
                </a:lnTo>
                <a:cubicBezTo>
                  <a:pt x="52192" y="77363"/>
                  <a:pt x="59966" y="69589"/>
                  <a:pt x="69589" y="69589"/>
                </a:cubicBezTo>
                <a:cubicBezTo>
                  <a:pt x="79212" y="69589"/>
                  <a:pt x="86986" y="77363"/>
                  <a:pt x="86986" y="86986"/>
                </a:cubicBezTo>
                <a:close/>
                <a:moveTo>
                  <a:pt x="156575" y="86986"/>
                </a:moveTo>
                <a:lnTo>
                  <a:pt x="156575" y="121781"/>
                </a:lnTo>
                <a:cubicBezTo>
                  <a:pt x="156575" y="131404"/>
                  <a:pt x="148801" y="139178"/>
                  <a:pt x="139178" y="139178"/>
                </a:cubicBezTo>
                <a:cubicBezTo>
                  <a:pt x="129555" y="139178"/>
                  <a:pt x="121781" y="131404"/>
                  <a:pt x="121781" y="121781"/>
                </a:cubicBezTo>
                <a:lnTo>
                  <a:pt x="121781" y="86986"/>
                </a:lnTo>
                <a:cubicBezTo>
                  <a:pt x="121781" y="77363"/>
                  <a:pt x="129555" y="69589"/>
                  <a:pt x="139178" y="69589"/>
                </a:cubicBezTo>
                <a:cubicBezTo>
                  <a:pt x="148801" y="69589"/>
                  <a:pt x="156575" y="77363"/>
                  <a:pt x="156575" y="86986"/>
                </a:cubicBezTo>
                <a:close/>
                <a:moveTo>
                  <a:pt x="226164" y="86986"/>
                </a:moveTo>
                <a:lnTo>
                  <a:pt x="226164" y="121781"/>
                </a:lnTo>
                <a:cubicBezTo>
                  <a:pt x="226164" y="131404"/>
                  <a:pt x="218390" y="139178"/>
                  <a:pt x="208767" y="139178"/>
                </a:cubicBezTo>
                <a:cubicBezTo>
                  <a:pt x="199144" y="139178"/>
                  <a:pt x="191370" y="131404"/>
                  <a:pt x="191370" y="121781"/>
                </a:cubicBezTo>
                <a:lnTo>
                  <a:pt x="191370" y="86986"/>
                </a:lnTo>
                <a:cubicBezTo>
                  <a:pt x="191370" y="77363"/>
                  <a:pt x="199144" y="69589"/>
                  <a:pt x="208767" y="69589"/>
                </a:cubicBezTo>
                <a:cubicBezTo>
                  <a:pt x="218390" y="69589"/>
                  <a:pt x="226164" y="77363"/>
                  <a:pt x="226164" y="86986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7" name="Text 45"/>
          <p:cNvSpPr/>
          <p:nvPr/>
        </p:nvSpPr>
        <p:spPr>
          <a:xfrm>
            <a:off x="7290032" y="2345615"/>
            <a:ext cx="1289717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3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8GB RAM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290032" y="2642412"/>
            <a:ext cx="1252603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Minimum Memory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621977" y="2976556"/>
            <a:ext cx="4852676" cy="482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9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Sufficient for handling concurrent API requests, Redis caching operations, and running the QIO optimization engine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32695" y="3804201"/>
            <a:ext cx="5157012" cy="1491989"/>
          </a:xfrm>
          <a:custGeom>
            <a:avLst/>
            <a:gdLst/>
            <a:ahLst/>
            <a:cxnLst/>
            <a:rect l="l" t="t" r="r" b="b"/>
            <a:pathLst>
              <a:path w="5157012" h="1491989">
                <a:moveTo>
                  <a:pt x="111347" y="0"/>
                </a:moveTo>
                <a:lnTo>
                  <a:pt x="5045665" y="0"/>
                </a:lnTo>
                <a:cubicBezTo>
                  <a:pt x="5107160" y="0"/>
                  <a:pt x="5157012" y="49852"/>
                  <a:pt x="5157012" y="111347"/>
                </a:cubicBezTo>
                <a:lnTo>
                  <a:pt x="5157012" y="1380642"/>
                </a:lnTo>
                <a:cubicBezTo>
                  <a:pt x="5157012" y="1442137"/>
                  <a:pt x="5107160" y="1491989"/>
                  <a:pt x="5045665" y="1491989"/>
                </a:cubicBezTo>
                <a:lnTo>
                  <a:pt x="111347" y="1491989"/>
                </a:lnTo>
                <a:cubicBezTo>
                  <a:pt x="49852" y="1491989"/>
                  <a:pt x="0" y="1442137"/>
                  <a:pt x="0" y="1380642"/>
                </a:cubicBezTo>
                <a:lnTo>
                  <a:pt x="0" y="111347"/>
                </a:lnTo>
                <a:cubicBezTo>
                  <a:pt x="0" y="49852"/>
                  <a:pt x="49852" y="0"/>
                  <a:pt x="111347" y="0"/>
                </a:cubicBezTo>
                <a:close/>
              </a:path>
            </a:pathLst>
          </a:custGeom>
          <a:gradFill rotWithShape="1" flip="none">
            <a:gsLst>
              <a:gs pos="0">
                <a:srgbClr val="2DD4BF">
                  <a:alpha val="10000"/>
                </a:srgbClr>
              </a:gs>
              <a:gs pos="100000">
                <a:srgbClr val="38BDF8">
                  <a:alpha val="10000"/>
                </a:srgbClr>
              </a:gs>
            </a:gsLst>
            <a:lin ang="2700000" scaled="1"/>
          </a:gradFill>
          <a:ln w="10160">
            <a:solidFill>
              <a:srgbClr val="2DD4BF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21977" y="3993483"/>
            <a:ext cx="519598" cy="519598"/>
          </a:xfrm>
          <a:custGeom>
            <a:avLst/>
            <a:gdLst/>
            <a:ahLst/>
            <a:cxnLst/>
            <a:rect l="l" t="t" r="r" b="b"/>
            <a:pathLst>
              <a:path w="519598" h="519598">
                <a:moveTo>
                  <a:pt x="111345" y="0"/>
                </a:moveTo>
                <a:lnTo>
                  <a:pt x="408253" y="0"/>
                </a:lnTo>
                <a:cubicBezTo>
                  <a:pt x="469747" y="0"/>
                  <a:pt x="519598" y="49851"/>
                  <a:pt x="519598" y="111345"/>
                </a:cubicBezTo>
                <a:lnTo>
                  <a:pt x="519598" y="408253"/>
                </a:lnTo>
                <a:cubicBezTo>
                  <a:pt x="519598" y="469747"/>
                  <a:pt x="469747" y="519598"/>
                  <a:pt x="408253" y="519598"/>
                </a:cubicBezTo>
                <a:lnTo>
                  <a:pt x="111345" y="519598"/>
                </a:lnTo>
                <a:cubicBezTo>
                  <a:pt x="49851" y="519598"/>
                  <a:pt x="0" y="469747"/>
                  <a:pt x="0" y="408253"/>
                </a:cubicBezTo>
                <a:lnTo>
                  <a:pt x="0" y="111345"/>
                </a:lnTo>
                <a:cubicBezTo>
                  <a:pt x="0" y="49892"/>
                  <a:pt x="49892" y="0"/>
                  <a:pt x="111345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744918" y="4114104"/>
            <a:ext cx="278356" cy="278356"/>
          </a:xfrm>
          <a:custGeom>
            <a:avLst/>
            <a:gdLst/>
            <a:ahLst/>
            <a:cxnLst/>
            <a:rect l="l" t="t" r="r" b="b"/>
            <a:pathLst>
              <a:path w="278356" h="278356">
                <a:moveTo>
                  <a:pt x="35827" y="124227"/>
                </a:moveTo>
                <a:cubicBezTo>
                  <a:pt x="43058" y="73667"/>
                  <a:pt x="86606" y="34795"/>
                  <a:pt x="139178" y="34795"/>
                </a:cubicBezTo>
                <a:cubicBezTo>
                  <a:pt x="167992" y="34795"/>
                  <a:pt x="194088" y="46483"/>
                  <a:pt x="213008" y="65348"/>
                </a:cubicBezTo>
                <a:cubicBezTo>
                  <a:pt x="213116" y="65457"/>
                  <a:pt x="213225" y="65566"/>
                  <a:pt x="213334" y="65675"/>
                </a:cubicBezTo>
                <a:lnTo>
                  <a:pt x="217466" y="69589"/>
                </a:lnTo>
                <a:lnTo>
                  <a:pt x="191424" y="69589"/>
                </a:lnTo>
                <a:cubicBezTo>
                  <a:pt x="181801" y="69589"/>
                  <a:pt x="174027" y="77363"/>
                  <a:pt x="174027" y="86986"/>
                </a:cubicBezTo>
                <a:cubicBezTo>
                  <a:pt x="174027" y="96609"/>
                  <a:pt x="181801" y="104384"/>
                  <a:pt x="191424" y="104384"/>
                </a:cubicBezTo>
                <a:lnTo>
                  <a:pt x="261013" y="104384"/>
                </a:lnTo>
                <a:cubicBezTo>
                  <a:pt x="270636" y="104384"/>
                  <a:pt x="278411" y="96609"/>
                  <a:pt x="278411" y="86986"/>
                </a:cubicBezTo>
                <a:lnTo>
                  <a:pt x="278411" y="17397"/>
                </a:lnTo>
                <a:cubicBezTo>
                  <a:pt x="278411" y="7774"/>
                  <a:pt x="270636" y="0"/>
                  <a:pt x="261013" y="0"/>
                </a:cubicBezTo>
                <a:cubicBezTo>
                  <a:pt x="251390" y="0"/>
                  <a:pt x="243616" y="7774"/>
                  <a:pt x="243616" y="17397"/>
                </a:cubicBezTo>
                <a:lnTo>
                  <a:pt x="243616" y="46429"/>
                </a:lnTo>
                <a:lnTo>
                  <a:pt x="237473" y="40612"/>
                </a:lnTo>
                <a:cubicBezTo>
                  <a:pt x="212301" y="15549"/>
                  <a:pt x="177506" y="0"/>
                  <a:pt x="139178" y="0"/>
                </a:cubicBezTo>
                <a:cubicBezTo>
                  <a:pt x="69045" y="0"/>
                  <a:pt x="11036" y="51866"/>
                  <a:pt x="1414" y="119334"/>
                </a:cubicBezTo>
                <a:cubicBezTo>
                  <a:pt x="54" y="128848"/>
                  <a:pt x="6633" y="137656"/>
                  <a:pt x="16147" y="139015"/>
                </a:cubicBezTo>
                <a:cubicBezTo>
                  <a:pt x="25661" y="140374"/>
                  <a:pt x="34468" y="133741"/>
                  <a:pt x="35827" y="124282"/>
                </a:cubicBezTo>
                <a:close/>
                <a:moveTo>
                  <a:pt x="276943" y="159022"/>
                </a:moveTo>
                <a:cubicBezTo>
                  <a:pt x="278302" y="149508"/>
                  <a:pt x="271669" y="140700"/>
                  <a:pt x="262209" y="139341"/>
                </a:cubicBezTo>
                <a:cubicBezTo>
                  <a:pt x="252750" y="137982"/>
                  <a:pt x="243888" y="144615"/>
                  <a:pt x="242529" y="154074"/>
                </a:cubicBezTo>
                <a:cubicBezTo>
                  <a:pt x="235298" y="204635"/>
                  <a:pt x="191750" y="243507"/>
                  <a:pt x="139178" y="243507"/>
                </a:cubicBezTo>
                <a:cubicBezTo>
                  <a:pt x="110364" y="243507"/>
                  <a:pt x="84268" y="231818"/>
                  <a:pt x="65348" y="212953"/>
                </a:cubicBezTo>
                <a:cubicBezTo>
                  <a:pt x="65240" y="212845"/>
                  <a:pt x="65131" y="212736"/>
                  <a:pt x="65022" y="212627"/>
                </a:cubicBezTo>
                <a:lnTo>
                  <a:pt x="60890" y="208713"/>
                </a:lnTo>
                <a:lnTo>
                  <a:pt x="86932" y="208713"/>
                </a:lnTo>
                <a:cubicBezTo>
                  <a:pt x="96555" y="208713"/>
                  <a:pt x="104329" y="200938"/>
                  <a:pt x="104329" y="191315"/>
                </a:cubicBezTo>
                <a:cubicBezTo>
                  <a:pt x="104329" y="181693"/>
                  <a:pt x="96555" y="173918"/>
                  <a:pt x="86932" y="173918"/>
                </a:cubicBezTo>
                <a:lnTo>
                  <a:pt x="17397" y="173973"/>
                </a:lnTo>
                <a:cubicBezTo>
                  <a:pt x="12776" y="173973"/>
                  <a:pt x="8318" y="175821"/>
                  <a:pt x="5056" y="179137"/>
                </a:cubicBezTo>
                <a:cubicBezTo>
                  <a:pt x="1794" y="182454"/>
                  <a:pt x="-54" y="186857"/>
                  <a:pt x="0" y="191533"/>
                </a:cubicBezTo>
                <a:lnTo>
                  <a:pt x="544" y="260578"/>
                </a:lnTo>
                <a:cubicBezTo>
                  <a:pt x="598" y="270201"/>
                  <a:pt x="8481" y="277921"/>
                  <a:pt x="18104" y="277813"/>
                </a:cubicBezTo>
                <a:cubicBezTo>
                  <a:pt x="27727" y="277704"/>
                  <a:pt x="35447" y="269875"/>
                  <a:pt x="35338" y="260252"/>
                </a:cubicBezTo>
                <a:lnTo>
                  <a:pt x="35121" y="232253"/>
                </a:lnTo>
                <a:lnTo>
                  <a:pt x="40938" y="237744"/>
                </a:lnTo>
                <a:cubicBezTo>
                  <a:pt x="66110" y="262807"/>
                  <a:pt x="100850" y="278356"/>
                  <a:pt x="139178" y="278356"/>
                </a:cubicBezTo>
                <a:cubicBezTo>
                  <a:pt x="209311" y="278356"/>
                  <a:pt x="267320" y="226491"/>
                  <a:pt x="276943" y="159022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53" name="Text 51"/>
          <p:cNvSpPr/>
          <p:nvPr/>
        </p:nvSpPr>
        <p:spPr>
          <a:xfrm>
            <a:off x="7290032" y="3993483"/>
            <a:ext cx="1475288" cy="296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3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Modern CPU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290032" y="4290281"/>
            <a:ext cx="1438174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Multi-core Processor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621977" y="4624425"/>
            <a:ext cx="4852676" cy="482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9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 for real-time quantum-inspired optimization calculations and traffic pattern analysis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28984" y="5448358"/>
            <a:ext cx="5168146" cy="816511"/>
          </a:xfrm>
          <a:custGeom>
            <a:avLst/>
            <a:gdLst/>
            <a:ahLst/>
            <a:cxnLst/>
            <a:rect l="l" t="t" r="r" b="b"/>
            <a:pathLst>
              <a:path w="5168146" h="816511">
                <a:moveTo>
                  <a:pt x="74229" y="0"/>
                </a:moveTo>
                <a:lnTo>
                  <a:pt x="5093917" y="0"/>
                </a:lnTo>
                <a:cubicBezTo>
                  <a:pt x="5134913" y="0"/>
                  <a:pt x="5168146" y="33233"/>
                  <a:pt x="5168146" y="74229"/>
                </a:cubicBezTo>
                <a:lnTo>
                  <a:pt x="5168146" y="742282"/>
                </a:lnTo>
                <a:cubicBezTo>
                  <a:pt x="5168146" y="783278"/>
                  <a:pt x="5134913" y="816511"/>
                  <a:pt x="5093917" y="816511"/>
                </a:cubicBezTo>
                <a:lnTo>
                  <a:pt x="74229" y="816511"/>
                </a:lnTo>
                <a:cubicBezTo>
                  <a:pt x="33261" y="816511"/>
                  <a:pt x="0" y="783250"/>
                  <a:pt x="0" y="742282"/>
                </a:cubicBezTo>
                <a:lnTo>
                  <a:pt x="0" y="74229"/>
                </a:lnTo>
                <a:cubicBezTo>
                  <a:pt x="0" y="33261"/>
                  <a:pt x="33261" y="0"/>
                  <a:pt x="74229" y="0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57" name="Shape 55"/>
          <p:cNvSpPr/>
          <p:nvPr/>
        </p:nvSpPr>
        <p:spPr>
          <a:xfrm>
            <a:off x="6600637" y="5615371"/>
            <a:ext cx="185571" cy="185571"/>
          </a:xfrm>
          <a:custGeom>
            <a:avLst/>
            <a:gdLst/>
            <a:ahLst/>
            <a:cxnLst/>
            <a:rect l="l" t="t" r="r" b="b"/>
            <a:pathLst>
              <a:path w="185571" h="185571">
                <a:moveTo>
                  <a:pt x="92785" y="185571"/>
                </a:moveTo>
                <a:cubicBezTo>
                  <a:pt x="143995" y="185571"/>
                  <a:pt x="185571" y="143995"/>
                  <a:pt x="185571" y="92785"/>
                </a:cubicBezTo>
                <a:cubicBezTo>
                  <a:pt x="185571" y="41576"/>
                  <a:pt x="143995" y="0"/>
                  <a:pt x="92785" y="0"/>
                </a:cubicBezTo>
                <a:cubicBezTo>
                  <a:pt x="41576" y="0"/>
                  <a:pt x="0" y="41576"/>
                  <a:pt x="0" y="92785"/>
                </a:cubicBezTo>
                <a:cubicBezTo>
                  <a:pt x="0" y="143995"/>
                  <a:pt x="41576" y="185571"/>
                  <a:pt x="92785" y="185571"/>
                </a:cubicBezTo>
                <a:close/>
                <a:moveTo>
                  <a:pt x="123376" y="77092"/>
                </a:moveTo>
                <a:lnTo>
                  <a:pt x="94380" y="123484"/>
                </a:lnTo>
                <a:cubicBezTo>
                  <a:pt x="92858" y="125913"/>
                  <a:pt x="90248" y="127435"/>
                  <a:pt x="87385" y="127580"/>
                </a:cubicBezTo>
                <a:cubicBezTo>
                  <a:pt x="84522" y="127725"/>
                  <a:pt x="81767" y="126420"/>
                  <a:pt x="80064" y="124100"/>
                </a:cubicBezTo>
                <a:lnTo>
                  <a:pt x="62666" y="100904"/>
                </a:lnTo>
                <a:cubicBezTo>
                  <a:pt x="59767" y="97062"/>
                  <a:pt x="60564" y="91626"/>
                  <a:pt x="64406" y="88726"/>
                </a:cubicBezTo>
                <a:cubicBezTo>
                  <a:pt x="68248" y="85826"/>
                  <a:pt x="73685" y="86624"/>
                  <a:pt x="76584" y="90466"/>
                </a:cubicBezTo>
                <a:lnTo>
                  <a:pt x="86370" y="103514"/>
                </a:lnTo>
                <a:lnTo>
                  <a:pt x="108624" y="67886"/>
                </a:lnTo>
                <a:cubicBezTo>
                  <a:pt x="111161" y="63826"/>
                  <a:pt x="116525" y="62558"/>
                  <a:pt x="120621" y="65131"/>
                </a:cubicBezTo>
                <a:cubicBezTo>
                  <a:pt x="124717" y="67704"/>
                  <a:pt x="125949" y="73032"/>
                  <a:pt x="123376" y="77128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58" name="Text 56"/>
          <p:cNvSpPr/>
          <p:nvPr/>
        </p:nvSpPr>
        <p:spPr>
          <a:xfrm>
            <a:off x="6920746" y="5596814"/>
            <a:ext cx="1957772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Environment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74354" y="5893727"/>
            <a:ext cx="4648548" cy="222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9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Linux/Windows/macOS with Python 3.8+ support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3437" y="394952"/>
            <a:ext cx="480811" cy="480811"/>
          </a:xfrm>
          <a:custGeom>
            <a:avLst/>
            <a:gdLst/>
            <a:ahLst/>
            <a:cxnLst/>
            <a:rect l="l" t="t" r="r" b="b"/>
            <a:pathLst>
              <a:path w="480811" h="480811">
                <a:moveTo>
                  <a:pt x="103033" y="0"/>
                </a:moveTo>
                <a:lnTo>
                  <a:pt x="377778" y="0"/>
                </a:lnTo>
                <a:cubicBezTo>
                  <a:pt x="434682" y="0"/>
                  <a:pt x="480811" y="46129"/>
                  <a:pt x="480811" y="103033"/>
                </a:cubicBezTo>
                <a:lnTo>
                  <a:pt x="480811" y="377778"/>
                </a:lnTo>
                <a:cubicBezTo>
                  <a:pt x="480811" y="434682"/>
                  <a:pt x="434682" y="480811"/>
                  <a:pt x="377778" y="480811"/>
                </a:cubicBezTo>
                <a:lnTo>
                  <a:pt x="103033" y="480811"/>
                </a:lnTo>
                <a:cubicBezTo>
                  <a:pt x="46129" y="480811"/>
                  <a:pt x="0" y="434682"/>
                  <a:pt x="0" y="377778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/>
              </a:gs>
              <a:gs pos="100000">
                <a:srgbClr val="2DD4BF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67932" y="532327"/>
            <a:ext cx="231820" cy="206062"/>
          </a:xfrm>
          <a:custGeom>
            <a:avLst/>
            <a:gdLst/>
            <a:ahLst/>
            <a:cxnLst/>
            <a:rect l="l" t="t" r="r" b="b"/>
            <a:pathLst>
              <a:path w="231820" h="206062">
                <a:moveTo>
                  <a:pt x="115910" y="25758"/>
                </a:moveTo>
                <a:cubicBezTo>
                  <a:pt x="158571" y="25758"/>
                  <a:pt x="193183" y="60370"/>
                  <a:pt x="193183" y="103031"/>
                </a:cubicBezTo>
                <a:cubicBezTo>
                  <a:pt x="193183" y="145692"/>
                  <a:pt x="158571" y="180304"/>
                  <a:pt x="115910" y="180304"/>
                </a:cubicBezTo>
                <a:cubicBezTo>
                  <a:pt x="89669" y="180304"/>
                  <a:pt x="66447" y="167224"/>
                  <a:pt x="52481" y="147181"/>
                </a:cubicBezTo>
                <a:cubicBezTo>
                  <a:pt x="48417" y="141346"/>
                  <a:pt x="40367" y="139937"/>
                  <a:pt x="34531" y="144002"/>
                </a:cubicBezTo>
                <a:cubicBezTo>
                  <a:pt x="28696" y="148067"/>
                  <a:pt x="27287" y="156116"/>
                  <a:pt x="31352" y="161952"/>
                </a:cubicBezTo>
                <a:cubicBezTo>
                  <a:pt x="49946" y="188595"/>
                  <a:pt x="80895" y="206062"/>
                  <a:pt x="115910" y="206062"/>
                </a:cubicBezTo>
                <a:cubicBezTo>
                  <a:pt x="172818" y="206062"/>
                  <a:pt x="218941" y="159940"/>
                  <a:pt x="218941" y="103031"/>
                </a:cubicBezTo>
                <a:cubicBezTo>
                  <a:pt x="218941" y="46122"/>
                  <a:pt x="172818" y="0"/>
                  <a:pt x="115910" y="0"/>
                </a:cubicBezTo>
                <a:cubicBezTo>
                  <a:pt x="81419" y="0"/>
                  <a:pt x="50912" y="16944"/>
                  <a:pt x="32197" y="42943"/>
                </a:cubicBezTo>
                <a:lnTo>
                  <a:pt x="32197" y="32197"/>
                </a:lnTo>
                <a:cubicBezTo>
                  <a:pt x="32197" y="25074"/>
                  <a:pt x="26442" y="19318"/>
                  <a:pt x="19318" y="19318"/>
                </a:cubicBezTo>
                <a:cubicBezTo>
                  <a:pt x="12195" y="19318"/>
                  <a:pt x="6439" y="25074"/>
                  <a:pt x="6439" y="32197"/>
                </a:cubicBezTo>
                <a:lnTo>
                  <a:pt x="6439" y="77273"/>
                </a:lnTo>
                <a:cubicBezTo>
                  <a:pt x="6439" y="84397"/>
                  <a:pt x="12195" y="90152"/>
                  <a:pt x="19318" y="90152"/>
                </a:cubicBezTo>
                <a:lnTo>
                  <a:pt x="29219" y="90152"/>
                </a:lnTo>
                <a:cubicBezTo>
                  <a:pt x="29420" y="90152"/>
                  <a:pt x="29621" y="90152"/>
                  <a:pt x="29823" y="90152"/>
                </a:cubicBezTo>
                <a:lnTo>
                  <a:pt x="64435" y="90152"/>
                </a:lnTo>
                <a:cubicBezTo>
                  <a:pt x="71558" y="90152"/>
                  <a:pt x="77313" y="84397"/>
                  <a:pt x="77313" y="77273"/>
                </a:cubicBezTo>
                <a:cubicBezTo>
                  <a:pt x="77313" y="70150"/>
                  <a:pt x="71558" y="64394"/>
                  <a:pt x="64435" y="64394"/>
                </a:cubicBezTo>
                <a:lnTo>
                  <a:pt x="49020" y="64394"/>
                </a:lnTo>
                <a:cubicBezTo>
                  <a:pt x="62342" y="41293"/>
                  <a:pt x="87335" y="25758"/>
                  <a:pt x="115910" y="25758"/>
                </a:cubicBezTo>
                <a:close/>
                <a:moveTo>
                  <a:pt x="125569" y="61175"/>
                </a:moveTo>
                <a:cubicBezTo>
                  <a:pt x="125569" y="55822"/>
                  <a:pt x="121263" y="51515"/>
                  <a:pt x="115910" y="51515"/>
                </a:cubicBezTo>
                <a:cubicBezTo>
                  <a:pt x="110557" y="51515"/>
                  <a:pt x="106251" y="55822"/>
                  <a:pt x="106251" y="61175"/>
                </a:cubicBezTo>
                <a:lnTo>
                  <a:pt x="106251" y="103031"/>
                </a:lnTo>
                <a:cubicBezTo>
                  <a:pt x="106251" y="105607"/>
                  <a:pt x="107257" y="108062"/>
                  <a:pt x="109068" y="109873"/>
                </a:cubicBezTo>
                <a:lnTo>
                  <a:pt x="138045" y="138850"/>
                </a:lnTo>
                <a:cubicBezTo>
                  <a:pt x="141829" y="142634"/>
                  <a:pt x="147946" y="142634"/>
                  <a:pt x="151689" y="138850"/>
                </a:cubicBezTo>
                <a:cubicBezTo>
                  <a:pt x="155432" y="135067"/>
                  <a:pt x="155472" y="128950"/>
                  <a:pt x="151689" y="125207"/>
                </a:cubicBezTo>
                <a:lnTo>
                  <a:pt x="125529" y="99047"/>
                </a:lnTo>
                <a:lnTo>
                  <a:pt x="125529" y="61175"/>
                </a:ln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961623" y="343437"/>
            <a:ext cx="5057104" cy="171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6" b="1" spc="47" kern="0" dirty="0">
                <a:solidFill>
                  <a:srgbClr val="38BDF8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Current Landscape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1623" y="515155"/>
            <a:ext cx="5203065" cy="412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45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Existing System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6871" y="1136775"/>
            <a:ext cx="11503410" cy="3853359"/>
          </a:xfrm>
          <a:custGeom>
            <a:avLst/>
            <a:gdLst/>
            <a:ahLst/>
            <a:cxnLst/>
            <a:rect l="l" t="t" r="r" b="b"/>
            <a:pathLst>
              <a:path w="11503410" h="3853359">
                <a:moveTo>
                  <a:pt x="103039" y="0"/>
                </a:moveTo>
                <a:lnTo>
                  <a:pt x="11400371" y="0"/>
                </a:lnTo>
                <a:cubicBezTo>
                  <a:pt x="11457278" y="0"/>
                  <a:pt x="11503410" y="46132"/>
                  <a:pt x="11503410" y="103039"/>
                </a:cubicBezTo>
                <a:lnTo>
                  <a:pt x="11503410" y="3750320"/>
                </a:lnTo>
                <a:cubicBezTo>
                  <a:pt x="11503410" y="3807227"/>
                  <a:pt x="11457278" y="3853359"/>
                  <a:pt x="11400371" y="3853359"/>
                </a:cubicBezTo>
                <a:lnTo>
                  <a:pt x="103039" y="3853359"/>
                </a:lnTo>
                <a:cubicBezTo>
                  <a:pt x="46132" y="3853359"/>
                  <a:pt x="0" y="3807227"/>
                  <a:pt x="0" y="3750320"/>
                </a:cubicBezTo>
                <a:lnTo>
                  <a:pt x="0" y="103039"/>
                </a:lnTo>
                <a:cubicBezTo>
                  <a:pt x="0" y="46170"/>
                  <a:pt x="46170" y="0"/>
                  <a:pt x="103039" y="0"/>
                </a:cubicBezTo>
                <a:close/>
              </a:path>
            </a:pathLst>
          </a:custGeom>
          <a:solidFill>
            <a:srgbClr val="1F2937"/>
          </a:solidFill>
          <a:ln w="10160">
            <a:solidFill>
              <a:srgbClr val="4B5563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5004" y="1380509"/>
            <a:ext cx="180304" cy="206062"/>
          </a:xfrm>
          <a:custGeom>
            <a:avLst/>
            <a:gdLst/>
            <a:ahLst/>
            <a:cxnLst/>
            <a:rect l="l" t="t" r="r" b="b"/>
            <a:pathLst>
              <a:path w="180304" h="206062">
                <a:moveTo>
                  <a:pt x="103031" y="64394"/>
                </a:moveTo>
                <a:lnTo>
                  <a:pt x="103031" y="103031"/>
                </a:lnTo>
                <a:lnTo>
                  <a:pt x="154546" y="103031"/>
                </a:lnTo>
                <a:lnTo>
                  <a:pt x="154546" y="64394"/>
                </a:lnTo>
                <a:lnTo>
                  <a:pt x="103031" y="64394"/>
                </a:lnTo>
                <a:close/>
                <a:moveTo>
                  <a:pt x="77273" y="64394"/>
                </a:moveTo>
                <a:lnTo>
                  <a:pt x="25758" y="64394"/>
                </a:lnTo>
                <a:lnTo>
                  <a:pt x="25758" y="103031"/>
                </a:lnTo>
                <a:lnTo>
                  <a:pt x="77273" y="103031"/>
                </a:lnTo>
                <a:lnTo>
                  <a:pt x="77273" y="64394"/>
                </a:lnTo>
                <a:close/>
                <a:moveTo>
                  <a:pt x="0" y="128789"/>
                </a:moveTo>
                <a:lnTo>
                  <a:pt x="0" y="38637"/>
                </a:lnTo>
                <a:cubicBezTo>
                  <a:pt x="0" y="24430"/>
                  <a:pt x="11551" y="12879"/>
                  <a:pt x="25758" y="12879"/>
                </a:cubicBezTo>
                <a:lnTo>
                  <a:pt x="154546" y="12879"/>
                </a:lnTo>
                <a:cubicBezTo>
                  <a:pt x="168753" y="12879"/>
                  <a:pt x="180304" y="24430"/>
                  <a:pt x="180304" y="38637"/>
                </a:cubicBezTo>
                <a:lnTo>
                  <a:pt x="180304" y="167425"/>
                </a:lnTo>
                <a:cubicBezTo>
                  <a:pt x="180304" y="181632"/>
                  <a:pt x="168753" y="193183"/>
                  <a:pt x="154546" y="193183"/>
                </a:cubicBezTo>
                <a:lnTo>
                  <a:pt x="25758" y="193183"/>
                </a:lnTo>
                <a:cubicBezTo>
                  <a:pt x="11551" y="193183"/>
                  <a:pt x="0" y="181632"/>
                  <a:pt x="0" y="167425"/>
                </a:cubicBezTo>
                <a:lnTo>
                  <a:pt x="0" y="128789"/>
                </a:lnTo>
                <a:close/>
                <a:moveTo>
                  <a:pt x="154546" y="128789"/>
                </a:moveTo>
                <a:lnTo>
                  <a:pt x="103031" y="128789"/>
                </a:lnTo>
                <a:lnTo>
                  <a:pt x="103031" y="167425"/>
                </a:lnTo>
                <a:lnTo>
                  <a:pt x="154546" y="167425"/>
                </a:lnTo>
                <a:lnTo>
                  <a:pt x="154546" y="128789"/>
                </a:lnTo>
                <a:close/>
                <a:moveTo>
                  <a:pt x="77273" y="167425"/>
                </a:moveTo>
                <a:lnTo>
                  <a:pt x="77273" y="128789"/>
                </a:lnTo>
                <a:lnTo>
                  <a:pt x="25758" y="128789"/>
                </a:lnTo>
                <a:lnTo>
                  <a:pt x="25758" y="167425"/>
                </a:lnTo>
                <a:lnTo>
                  <a:pt x="77273" y="167425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813945" y="1346272"/>
            <a:ext cx="10929870" cy="27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3" b="1" dirty="0">
                <a:solidFill>
                  <a:srgbClr val="38BD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Traditional Rate Limiting Methods Comparison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6367" y="1758289"/>
          <a:ext cx="11084417" cy="3022242"/>
        </p:xfrm>
        <a:graphic>
          <a:graphicData uri="http://schemas.openxmlformats.org/drawingml/2006/table">
            <a:tbl>
              <a:tblPr/>
              <a:tblGrid>
                <a:gridCol w="3348507"/>
                <a:gridCol w="3752045"/>
                <a:gridCol w="3983865"/>
              </a:tblGrid>
              <a:tr h="604448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9FA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Method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7375" marR="137375" marT="137375" marB="1373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9FA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7375" marR="137375" marT="137375" marB="1373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9FA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7375" marR="137375" marT="137375" marB="1373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0444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9FA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Fixed Window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7375" marR="137375" marT="137375" marB="1373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D4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Easy to implement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7375" marR="137375" marT="137375" marB="1373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F44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Not adaptive to traffic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7375" marR="137375" marT="137375" marB="1373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0444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9FA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Sliding Window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7375" marR="137375" marT="137375" marB="1373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D4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 computational cost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7375" marR="137375" marT="137375" marB="1373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F44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Poor burst handling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7375" marR="137375" marT="137375" marB="1373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0444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9FA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Token Bucket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7375" marR="137375" marT="137375" marB="1373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D4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Simple and intuitive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7375" marR="137375" marT="137375" marB="1373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F44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Static thresholds only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7375" marR="137375" marT="137375" marB="1373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604448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9FA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Leaky Bucket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7375" marR="137375" marT="137375" marB="1373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2DD4B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Predictable output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7375" marR="137375" marT="137375" marB="1373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EF444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 optimization capability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7375" marR="137375" marT="137375" marB="1373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0608" y="5199524"/>
            <a:ext cx="11487955" cy="1313645"/>
          </a:xfrm>
          <a:custGeom>
            <a:avLst/>
            <a:gdLst/>
            <a:ahLst/>
            <a:cxnLst/>
            <a:rect l="l" t="t" r="r" b="b"/>
            <a:pathLst>
              <a:path w="11487955" h="1313645">
                <a:moveTo>
                  <a:pt x="34344" y="0"/>
                </a:moveTo>
                <a:lnTo>
                  <a:pt x="11384926" y="0"/>
                </a:lnTo>
                <a:cubicBezTo>
                  <a:pt x="11441827" y="0"/>
                  <a:pt x="11487955" y="46128"/>
                  <a:pt x="11487955" y="103029"/>
                </a:cubicBezTo>
                <a:lnTo>
                  <a:pt x="11487955" y="1210616"/>
                </a:lnTo>
                <a:cubicBezTo>
                  <a:pt x="11487955" y="1267517"/>
                  <a:pt x="11441827" y="1313645"/>
                  <a:pt x="11384926" y="1313645"/>
                </a:cubicBezTo>
                <a:lnTo>
                  <a:pt x="34344" y="1313645"/>
                </a:lnTo>
                <a:cubicBezTo>
                  <a:pt x="15376" y="1313645"/>
                  <a:pt x="0" y="1298269"/>
                  <a:pt x="0" y="1279301"/>
                </a:cubicBezTo>
                <a:lnTo>
                  <a:pt x="0" y="34344"/>
                </a:lnTo>
                <a:cubicBezTo>
                  <a:pt x="0" y="15389"/>
                  <a:pt x="15389" y="0"/>
                  <a:pt x="34344" y="0"/>
                </a:cubicBezTo>
                <a:close/>
              </a:path>
            </a:pathLst>
          </a:custGeom>
          <a:gradFill rotWithShape="1" flip="none">
            <a:gsLst>
              <a:gs pos="0">
                <a:srgbClr val="EF4444">
                  <a:alpha val="20000"/>
                </a:srgbClr>
              </a:gs>
              <a:gs pos="100000">
                <a:srgbClr val="F59E0B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11" name="Shape 8"/>
          <p:cNvSpPr/>
          <p:nvPr/>
        </p:nvSpPr>
        <p:spPr>
          <a:xfrm>
            <a:off x="360608" y="5199524"/>
            <a:ext cx="34344" cy="1313645"/>
          </a:xfrm>
          <a:custGeom>
            <a:avLst/>
            <a:gdLst/>
            <a:ahLst/>
            <a:cxnLst/>
            <a:rect l="l" t="t" r="r" b="b"/>
            <a:pathLst>
              <a:path w="34344" h="1313645">
                <a:moveTo>
                  <a:pt x="34344" y="0"/>
                </a:moveTo>
                <a:lnTo>
                  <a:pt x="34344" y="0"/>
                </a:lnTo>
                <a:lnTo>
                  <a:pt x="34344" y="1313645"/>
                </a:lnTo>
                <a:lnTo>
                  <a:pt x="34344" y="1313645"/>
                </a:lnTo>
                <a:cubicBezTo>
                  <a:pt x="15376" y="1313645"/>
                  <a:pt x="0" y="1298269"/>
                  <a:pt x="0" y="1279301"/>
                </a:cubicBezTo>
                <a:lnTo>
                  <a:pt x="0" y="34344"/>
                </a:lnTo>
                <a:cubicBezTo>
                  <a:pt x="0" y="15376"/>
                  <a:pt x="15376" y="0"/>
                  <a:pt x="34344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2" name="Shape 9"/>
          <p:cNvSpPr/>
          <p:nvPr/>
        </p:nvSpPr>
        <p:spPr>
          <a:xfrm>
            <a:off x="583842" y="5405586"/>
            <a:ext cx="480811" cy="480811"/>
          </a:xfrm>
          <a:custGeom>
            <a:avLst/>
            <a:gdLst/>
            <a:ahLst/>
            <a:cxnLst/>
            <a:rect l="l" t="t" r="r" b="b"/>
            <a:pathLst>
              <a:path w="480811" h="480811">
                <a:moveTo>
                  <a:pt x="103033" y="0"/>
                </a:moveTo>
                <a:lnTo>
                  <a:pt x="377778" y="0"/>
                </a:lnTo>
                <a:cubicBezTo>
                  <a:pt x="434682" y="0"/>
                  <a:pt x="480811" y="46129"/>
                  <a:pt x="480811" y="103033"/>
                </a:cubicBezTo>
                <a:lnTo>
                  <a:pt x="480811" y="377778"/>
                </a:lnTo>
                <a:cubicBezTo>
                  <a:pt x="480811" y="434682"/>
                  <a:pt x="434682" y="480811"/>
                  <a:pt x="377778" y="480811"/>
                </a:cubicBezTo>
                <a:lnTo>
                  <a:pt x="103033" y="480811"/>
                </a:lnTo>
                <a:cubicBezTo>
                  <a:pt x="46129" y="480811"/>
                  <a:pt x="0" y="434682"/>
                  <a:pt x="0" y="377778"/>
                </a:cubicBezTo>
                <a:lnTo>
                  <a:pt x="0" y="103033"/>
                </a:lnTo>
                <a:cubicBezTo>
                  <a:pt x="0" y="46168"/>
                  <a:pt x="46168" y="0"/>
                  <a:pt x="103033" y="0"/>
                </a:cubicBezTo>
                <a:close/>
              </a:path>
            </a:pathLst>
          </a:custGeom>
          <a:solidFill>
            <a:srgbClr val="EF4444">
              <a:alpha val="3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21217" y="5542961"/>
            <a:ext cx="206062" cy="206062"/>
          </a:xfrm>
          <a:custGeom>
            <a:avLst/>
            <a:gdLst/>
            <a:ahLst/>
            <a:cxnLst/>
            <a:rect l="l" t="t" r="r" b="b"/>
            <a:pathLst>
              <a:path w="206062" h="206062">
                <a:moveTo>
                  <a:pt x="103031" y="206062"/>
                </a:moveTo>
                <a:cubicBezTo>
                  <a:pt x="159895" y="206062"/>
                  <a:pt x="206062" y="159895"/>
                  <a:pt x="206062" y="103031"/>
                </a:cubicBezTo>
                <a:cubicBezTo>
                  <a:pt x="206062" y="46167"/>
                  <a:pt x="159895" y="0"/>
                  <a:pt x="103031" y="0"/>
                </a:cubicBezTo>
                <a:cubicBezTo>
                  <a:pt x="46167" y="0"/>
                  <a:pt x="0" y="46167"/>
                  <a:pt x="0" y="103031"/>
                </a:cubicBezTo>
                <a:cubicBezTo>
                  <a:pt x="0" y="159895"/>
                  <a:pt x="46167" y="206062"/>
                  <a:pt x="103031" y="206062"/>
                </a:cubicBezTo>
                <a:close/>
                <a:moveTo>
                  <a:pt x="103031" y="54735"/>
                </a:moveTo>
                <a:cubicBezTo>
                  <a:pt x="108384" y="54735"/>
                  <a:pt x="112690" y="59042"/>
                  <a:pt x="112690" y="64394"/>
                </a:cubicBezTo>
                <a:lnTo>
                  <a:pt x="112690" y="109470"/>
                </a:lnTo>
                <a:cubicBezTo>
                  <a:pt x="112690" y="114823"/>
                  <a:pt x="108384" y="119130"/>
                  <a:pt x="103031" y="119130"/>
                </a:cubicBezTo>
                <a:cubicBezTo>
                  <a:pt x="97678" y="119130"/>
                  <a:pt x="93372" y="114823"/>
                  <a:pt x="93372" y="109470"/>
                </a:cubicBezTo>
                <a:lnTo>
                  <a:pt x="93372" y="64394"/>
                </a:lnTo>
                <a:cubicBezTo>
                  <a:pt x="93372" y="59042"/>
                  <a:pt x="97678" y="54735"/>
                  <a:pt x="103031" y="54735"/>
                </a:cubicBezTo>
                <a:close/>
                <a:moveTo>
                  <a:pt x="92285" y="141668"/>
                </a:moveTo>
                <a:cubicBezTo>
                  <a:pt x="92041" y="137679"/>
                  <a:pt x="94030" y="133884"/>
                  <a:pt x="97449" y="131816"/>
                </a:cubicBezTo>
                <a:cubicBezTo>
                  <a:pt x="100869" y="129747"/>
                  <a:pt x="105153" y="129747"/>
                  <a:pt x="108573" y="131816"/>
                </a:cubicBezTo>
                <a:cubicBezTo>
                  <a:pt x="111992" y="133884"/>
                  <a:pt x="113981" y="137679"/>
                  <a:pt x="113737" y="141668"/>
                </a:cubicBezTo>
                <a:cubicBezTo>
                  <a:pt x="113981" y="145656"/>
                  <a:pt x="111992" y="149451"/>
                  <a:pt x="108573" y="151520"/>
                </a:cubicBezTo>
                <a:cubicBezTo>
                  <a:pt x="105153" y="153588"/>
                  <a:pt x="100869" y="153588"/>
                  <a:pt x="97449" y="151520"/>
                </a:cubicBezTo>
                <a:cubicBezTo>
                  <a:pt x="94030" y="149451"/>
                  <a:pt x="92041" y="145656"/>
                  <a:pt x="92285" y="141668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1202028" y="5405586"/>
            <a:ext cx="10543504" cy="27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3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Gap Identified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02028" y="5748914"/>
            <a:ext cx="10526332" cy="558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2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real-time adaptation</a:t>
            </a:r>
            <a:pPr>
              <a:lnSpc>
                <a:spcPct val="140000"/>
              </a:lnSpc>
            </a:pPr>
            <a:r>
              <a:rPr lang="en-US" sz="1352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traffic behavior. All traditional methods use </a:t>
            </a:r>
            <a:pPr>
              <a:lnSpc>
                <a:spcPct val="140000"/>
              </a:lnSpc>
            </a:pPr>
            <a:r>
              <a:rPr lang="en-US" sz="1352" dirty="0">
                <a:solidFill>
                  <a:srgbClr val="EF4444"/>
                </a:solidFill>
                <a:highlight>
                  <a:srgbClr val="EF4444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predefined static thresholds </a:t>
            </a:r>
            <a:pPr>
              <a:lnSpc>
                <a:spcPct val="140000"/>
              </a:lnSpc>
            </a:pPr>
            <a:r>
              <a:rPr lang="en-US" sz="1352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that cannot respond to dynamic changes in request patterns, leading to suboptimal resource utilization.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/>
              </a:gs>
              <a:gs pos="100000">
                <a:srgbClr val="2DD4BF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590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381000"/>
            <a:ext cx="392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8BDF8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571500"/>
            <a:ext cx="40862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Proposed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261110"/>
            <a:ext cx="5589270" cy="3150870"/>
          </a:xfrm>
          <a:custGeom>
            <a:avLst/>
            <a:gdLst/>
            <a:ahLst/>
            <a:cxnLst/>
            <a:rect l="l" t="t" r="r" b="b"/>
            <a:pathLst>
              <a:path w="5589270" h="3150870">
                <a:moveTo>
                  <a:pt x="114314" y="0"/>
                </a:moveTo>
                <a:lnTo>
                  <a:pt x="5474956" y="0"/>
                </a:lnTo>
                <a:cubicBezTo>
                  <a:pt x="5538090" y="0"/>
                  <a:pt x="5589270" y="51180"/>
                  <a:pt x="5589270" y="114314"/>
                </a:cubicBezTo>
                <a:lnTo>
                  <a:pt x="5589270" y="3036556"/>
                </a:lnTo>
                <a:cubicBezTo>
                  <a:pt x="5589270" y="3099690"/>
                  <a:pt x="5538090" y="3150870"/>
                  <a:pt x="5474956" y="3150870"/>
                </a:cubicBezTo>
                <a:lnTo>
                  <a:pt x="114314" y="3150870"/>
                </a:lnTo>
                <a:cubicBezTo>
                  <a:pt x="51180" y="3150870"/>
                  <a:pt x="0" y="3099690"/>
                  <a:pt x="0" y="3036556"/>
                </a:cubicBezTo>
                <a:lnTo>
                  <a:pt x="0" y="114314"/>
                </a:lnTo>
                <a:cubicBezTo>
                  <a:pt x="0" y="51222"/>
                  <a:pt x="51222" y="0"/>
                  <a:pt x="114314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>
                  <a:alpha val="20000"/>
                </a:srgbClr>
              </a:gs>
              <a:gs pos="100000">
                <a:srgbClr val="2DD4BF">
                  <a:alpha val="20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14935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8BDF8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45808" y="160782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78058"/>
                </a:moveTo>
                <a:cubicBezTo>
                  <a:pt x="94744" y="180335"/>
                  <a:pt x="89565" y="182389"/>
                  <a:pt x="84430" y="184086"/>
                </a:cubicBezTo>
                <a:cubicBezTo>
                  <a:pt x="91886" y="199177"/>
                  <a:pt x="98271" y="200025"/>
                  <a:pt x="100013" y="200025"/>
                </a:cubicBezTo>
                <a:cubicBezTo>
                  <a:pt x="101754" y="200025"/>
                  <a:pt x="108094" y="199177"/>
                  <a:pt x="115595" y="184086"/>
                </a:cubicBezTo>
                <a:cubicBezTo>
                  <a:pt x="110505" y="182344"/>
                  <a:pt x="105281" y="180335"/>
                  <a:pt x="100012" y="178058"/>
                </a:cubicBezTo>
                <a:close/>
                <a:moveTo>
                  <a:pt x="184845" y="114300"/>
                </a:moveTo>
                <a:cubicBezTo>
                  <a:pt x="199579" y="134481"/>
                  <a:pt x="204624" y="154885"/>
                  <a:pt x="195382" y="171450"/>
                </a:cubicBezTo>
                <a:cubicBezTo>
                  <a:pt x="186363" y="187657"/>
                  <a:pt x="167476" y="193462"/>
                  <a:pt x="143947" y="190738"/>
                </a:cubicBezTo>
                <a:cubicBezTo>
                  <a:pt x="134124" y="214000"/>
                  <a:pt x="119077" y="228600"/>
                  <a:pt x="100013" y="228600"/>
                </a:cubicBezTo>
                <a:cubicBezTo>
                  <a:pt x="80948" y="228600"/>
                  <a:pt x="65901" y="214000"/>
                  <a:pt x="56078" y="190738"/>
                </a:cubicBezTo>
                <a:cubicBezTo>
                  <a:pt x="32549" y="193462"/>
                  <a:pt x="13662" y="187657"/>
                  <a:pt x="4643" y="171450"/>
                </a:cubicBezTo>
                <a:cubicBezTo>
                  <a:pt x="-4599" y="154885"/>
                  <a:pt x="446" y="134481"/>
                  <a:pt x="15180" y="114300"/>
                </a:cubicBezTo>
                <a:cubicBezTo>
                  <a:pt x="446" y="94119"/>
                  <a:pt x="-4599" y="73715"/>
                  <a:pt x="4643" y="57150"/>
                </a:cubicBezTo>
                <a:cubicBezTo>
                  <a:pt x="13662" y="40943"/>
                  <a:pt x="32549" y="35138"/>
                  <a:pt x="56078" y="37862"/>
                </a:cubicBezTo>
                <a:cubicBezTo>
                  <a:pt x="65901" y="14600"/>
                  <a:pt x="80903" y="0"/>
                  <a:pt x="100013" y="0"/>
                </a:cubicBezTo>
                <a:cubicBezTo>
                  <a:pt x="119122" y="0"/>
                  <a:pt x="134124" y="14600"/>
                  <a:pt x="143947" y="37862"/>
                </a:cubicBezTo>
                <a:cubicBezTo>
                  <a:pt x="167476" y="35138"/>
                  <a:pt x="186363" y="40898"/>
                  <a:pt x="195382" y="57150"/>
                </a:cubicBezTo>
                <a:cubicBezTo>
                  <a:pt x="204624" y="73715"/>
                  <a:pt x="199579" y="94119"/>
                  <a:pt x="184845" y="114300"/>
                </a:cubicBezTo>
                <a:close/>
                <a:moveTo>
                  <a:pt x="155466" y="144393"/>
                </a:moveTo>
                <a:cubicBezTo>
                  <a:pt x="154707" y="150733"/>
                  <a:pt x="153725" y="156895"/>
                  <a:pt x="152474" y="162788"/>
                </a:cubicBezTo>
                <a:cubicBezTo>
                  <a:pt x="166673" y="163413"/>
                  <a:pt x="169709" y="158904"/>
                  <a:pt x="170423" y="157564"/>
                </a:cubicBezTo>
                <a:cubicBezTo>
                  <a:pt x="171450" y="155689"/>
                  <a:pt x="173548" y="149572"/>
                  <a:pt x="165110" y="136088"/>
                </a:cubicBezTo>
                <a:cubicBezTo>
                  <a:pt x="162074" y="138901"/>
                  <a:pt x="158859" y="141669"/>
                  <a:pt x="155466" y="144393"/>
                </a:cubicBezTo>
                <a:close/>
                <a:moveTo>
                  <a:pt x="152474" y="65856"/>
                </a:moveTo>
                <a:cubicBezTo>
                  <a:pt x="153725" y="71705"/>
                  <a:pt x="154707" y="77867"/>
                  <a:pt x="155466" y="84252"/>
                </a:cubicBezTo>
                <a:cubicBezTo>
                  <a:pt x="158859" y="86975"/>
                  <a:pt x="162074" y="89743"/>
                  <a:pt x="165110" y="92556"/>
                </a:cubicBezTo>
                <a:cubicBezTo>
                  <a:pt x="173548" y="79072"/>
                  <a:pt x="171450" y="72911"/>
                  <a:pt x="170423" y="71080"/>
                </a:cubicBezTo>
                <a:cubicBezTo>
                  <a:pt x="169709" y="69786"/>
                  <a:pt x="166673" y="65276"/>
                  <a:pt x="152474" y="65856"/>
                </a:cubicBezTo>
                <a:close/>
                <a:moveTo>
                  <a:pt x="115595" y="44514"/>
                </a:moveTo>
                <a:cubicBezTo>
                  <a:pt x="108094" y="29423"/>
                  <a:pt x="101754" y="28575"/>
                  <a:pt x="100013" y="28575"/>
                </a:cubicBezTo>
                <a:cubicBezTo>
                  <a:pt x="98271" y="28575"/>
                  <a:pt x="91931" y="29423"/>
                  <a:pt x="84430" y="44514"/>
                </a:cubicBezTo>
                <a:cubicBezTo>
                  <a:pt x="89520" y="46256"/>
                  <a:pt x="94744" y="48265"/>
                  <a:pt x="100013" y="50542"/>
                </a:cubicBezTo>
                <a:cubicBezTo>
                  <a:pt x="105281" y="48265"/>
                  <a:pt x="110460" y="46211"/>
                  <a:pt x="115595" y="44514"/>
                </a:cubicBezTo>
                <a:close/>
                <a:moveTo>
                  <a:pt x="44604" y="84207"/>
                </a:moveTo>
                <a:cubicBezTo>
                  <a:pt x="45363" y="77822"/>
                  <a:pt x="46345" y="71705"/>
                  <a:pt x="47595" y="65812"/>
                </a:cubicBezTo>
                <a:cubicBezTo>
                  <a:pt x="33397" y="65187"/>
                  <a:pt x="30361" y="69696"/>
                  <a:pt x="29647" y="71036"/>
                </a:cubicBezTo>
                <a:cubicBezTo>
                  <a:pt x="28620" y="72911"/>
                  <a:pt x="26521" y="79028"/>
                  <a:pt x="34960" y="92512"/>
                </a:cubicBezTo>
                <a:cubicBezTo>
                  <a:pt x="37996" y="89699"/>
                  <a:pt x="41211" y="86931"/>
                  <a:pt x="44604" y="84207"/>
                </a:cubicBezTo>
                <a:close/>
                <a:moveTo>
                  <a:pt x="34915" y="136088"/>
                </a:moveTo>
                <a:cubicBezTo>
                  <a:pt x="26477" y="149572"/>
                  <a:pt x="28575" y="155734"/>
                  <a:pt x="29602" y="157564"/>
                </a:cubicBezTo>
                <a:cubicBezTo>
                  <a:pt x="30316" y="158859"/>
                  <a:pt x="33352" y="163369"/>
                  <a:pt x="47551" y="162788"/>
                </a:cubicBezTo>
                <a:cubicBezTo>
                  <a:pt x="46300" y="156939"/>
                  <a:pt x="45318" y="150778"/>
                  <a:pt x="44559" y="144393"/>
                </a:cubicBezTo>
                <a:cubicBezTo>
                  <a:pt x="41166" y="141669"/>
                  <a:pt x="37951" y="138901"/>
                  <a:pt x="34915" y="136088"/>
                </a:cubicBezTo>
                <a:close/>
                <a:moveTo>
                  <a:pt x="135731" y="114300"/>
                </a:moveTo>
                <a:cubicBezTo>
                  <a:pt x="135731" y="94586"/>
                  <a:pt x="119726" y="78581"/>
                  <a:pt x="100013" y="78581"/>
                </a:cubicBezTo>
                <a:cubicBezTo>
                  <a:pt x="80299" y="78581"/>
                  <a:pt x="64294" y="94586"/>
                  <a:pt x="64294" y="114300"/>
                </a:cubicBezTo>
                <a:cubicBezTo>
                  <a:pt x="64294" y="134014"/>
                  <a:pt x="80299" y="150019"/>
                  <a:pt x="100013" y="150019"/>
                </a:cubicBezTo>
                <a:cubicBezTo>
                  <a:pt x="119726" y="150019"/>
                  <a:pt x="135731" y="134014"/>
                  <a:pt x="135731" y="114300"/>
                </a:cubicBezTo>
                <a:close/>
                <a:moveTo>
                  <a:pt x="100013" y="100013"/>
                </a:moveTo>
                <a:cubicBezTo>
                  <a:pt x="107898" y="100013"/>
                  <a:pt x="114300" y="106415"/>
                  <a:pt x="114300" y="114300"/>
                </a:cubicBezTo>
                <a:cubicBezTo>
                  <a:pt x="114300" y="122185"/>
                  <a:pt x="107898" y="128588"/>
                  <a:pt x="100013" y="128588"/>
                </a:cubicBezTo>
                <a:cubicBezTo>
                  <a:pt x="92127" y="128588"/>
                  <a:pt x="85725" y="122185"/>
                  <a:pt x="85725" y="114300"/>
                </a:cubicBezTo>
                <a:cubicBezTo>
                  <a:pt x="85725" y="106415"/>
                  <a:pt x="92127" y="100013"/>
                  <a:pt x="100013" y="100013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569720"/>
            <a:ext cx="1857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Innovation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" y="2103120"/>
            <a:ext cx="5219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Quantum-Inspired Optimization (QIO)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dynamic rate limits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" y="2874645"/>
            <a:ext cx="5124450" cy="9525"/>
          </a:xfrm>
          <a:custGeom>
            <a:avLst/>
            <a:gdLst/>
            <a:ahLst/>
            <a:cxnLst/>
            <a:rect l="l" t="t" r="r" b="b"/>
            <a:pathLst>
              <a:path w="5124450" h="9525">
                <a:moveTo>
                  <a:pt x="0" y="0"/>
                </a:moveTo>
                <a:lnTo>
                  <a:pt x="5124450" y="0"/>
                </a:lnTo>
                <a:lnTo>
                  <a:pt x="51244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8BDF8">
              <a:alpha val="3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" y="303657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83883" y="303657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36320" y="3074670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live traffic patterns continuously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" y="345567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83883" y="345567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DD4B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36320" y="349377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rate limits in real-time using QIO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" y="387477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83883" y="387477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36320" y="391287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Allocate bandwidth intelligently across users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4110" y="1261110"/>
            <a:ext cx="5589270" cy="3150870"/>
          </a:xfrm>
          <a:custGeom>
            <a:avLst/>
            <a:gdLst/>
            <a:ahLst/>
            <a:cxnLst/>
            <a:rect l="l" t="t" r="r" b="b"/>
            <a:pathLst>
              <a:path w="5589270" h="3150870">
                <a:moveTo>
                  <a:pt x="114314" y="0"/>
                </a:moveTo>
                <a:lnTo>
                  <a:pt x="5474956" y="0"/>
                </a:lnTo>
                <a:cubicBezTo>
                  <a:pt x="5538090" y="0"/>
                  <a:pt x="5589270" y="51180"/>
                  <a:pt x="5589270" y="114314"/>
                </a:cubicBezTo>
                <a:lnTo>
                  <a:pt x="5589270" y="3036556"/>
                </a:lnTo>
                <a:cubicBezTo>
                  <a:pt x="5589270" y="3099690"/>
                  <a:pt x="5538090" y="3150870"/>
                  <a:pt x="5474956" y="3150870"/>
                </a:cubicBezTo>
                <a:lnTo>
                  <a:pt x="114314" y="3150870"/>
                </a:lnTo>
                <a:cubicBezTo>
                  <a:pt x="51180" y="3150870"/>
                  <a:pt x="0" y="3099690"/>
                  <a:pt x="0" y="3036556"/>
                </a:cubicBezTo>
                <a:lnTo>
                  <a:pt x="0" y="114314"/>
                </a:lnTo>
                <a:cubicBezTo>
                  <a:pt x="0" y="51222"/>
                  <a:pt x="51222" y="0"/>
                  <a:pt x="114314" y="0"/>
                </a:cubicBezTo>
                <a:close/>
              </a:path>
            </a:pathLst>
          </a:custGeom>
          <a:solidFill>
            <a:srgbClr val="1F2937"/>
          </a:solidFill>
          <a:ln w="1016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14935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60820" y="16078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24" name="Text 22"/>
          <p:cNvSpPr/>
          <p:nvPr/>
        </p:nvSpPr>
        <p:spPr>
          <a:xfrm>
            <a:off x="7018020" y="1569720"/>
            <a:ext cx="2771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Why Quantum-Inspired?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70332" y="21412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35719"/>
                </a:moveTo>
                <a:cubicBezTo>
                  <a:pt x="23812" y="29133"/>
                  <a:pt x="29133" y="23812"/>
                  <a:pt x="35719" y="23812"/>
                </a:cubicBezTo>
                <a:lnTo>
                  <a:pt x="95250" y="23812"/>
                </a:lnTo>
                <a:cubicBezTo>
                  <a:pt x="101836" y="23812"/>
                  <a:pt x="107156" y="29133"/>
                  <a:pt x="107156" y="35719"/>
                </a:cubicBezTo>
                <a:lnTo>
                  <a:pt x="107156" y="142875"/>
                </a:lnTo>
                <a:lnTo>
                  <a:pt x="142875" y="142875"/>
                </a:lnTo>
                <a:lnTo>
                  <a:pt x="142875" y="95250"/>
                </a:lnTo>
                <a:cubicBezTo>
                  <a:pt x="142875" y="88664"/>
                  <a:pt x="148196" y="83344"/>
                  <a:pt x="154781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166688" y="107156"/>
                </a:lnTo>
                <a:lnTo>
                  <a:pt x="166688" y="154781"/>
                </a:lnTo>
                <a:cubicBezTo>
                  <a:pt x="166688" y="161367"/>
                  <a:pt x="161367" y="166688"/>
                  <a:pt x="154781" y="166688"/>
                </a:cubicBezTo>
                <a:lnTo>
                  <a:pt x="95250" y="166688"/>
                </a:lnTo>
                <a:cubicBezTo>
                  <a:pt x="88664" y="166688"/>
                  <a:pt x="83344" y="161367"/>
                  <a:pt x="83344" y="154781"/>
                </a:cubicBezTo>
                <a:lnTo>
                  <a:pt x="83344" y="47625"/>
                </a:lnTo>
                <a:lnTo>
                  <a:pt x="47625" y="47625"/>
                </a:lnTo>
                <a:lnTo>
                  <a:pt x="47625" y="95250"/>
                </a:lnTo>
                <a:cubicBezTo>
                  <a:pt x="47625" y="101836"/>
                  <a:pt x="42304" y="107156"/>
                  <a:pt x="35719" y="107156"/>
                </a:cubicBezTo>
                <a:lnTo>
                  <a:pt x="11906" y="107156"/>
                </a:lnTo>
                <a:cubicBezTo>
                  <a:pt x="5321" y="107156"/>
                  <a:pt x="0" y="101836"/>
                  <a:pt x="0" y="95250"/>
                </a:cubicBezTo>
                <a:cubicBezTo>
                  <a:pt x="0" y="88664"/>
                  <a:pt x="5321" y="83344"/>
                  <a:pt x="11906" y="83344"/>
                </a:cubicBezTo>
                <a:lnTo>
                  <a:pt x="23812" y="83344"/>
                </a:lnTo>
                <a:lnTo>
                  <a:pt x="23812" y="35719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6798945" y="2103120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Superposition-like Exploration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98945" y="2369820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Evaluates multiple rate limit configurations simultaneously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70332" y="27508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29" name="Text 27"/>
          <p:cNvSpPr/>
          <p:nvPr/>
        </p:nvSpPr>
        <p:spPr>
          <a:xfrm>
            <a:off x="6798945" y="2712720"/>
            <a:ext cx="3667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Probability-driven Global Search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98945" y="2979420"/>
            <a:ext cx="3657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Avoids local optima through quantum probability distributions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82239" y="336042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6798945" y="3322320"/>
            <a:ext cx="3629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Optimal Solutions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98945" y="3589020"/>
            <a:ext cx="361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Converges to optimal limits quicker than classical algorithms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00050" y="4644391"/>
            <a:ext cx="3686175" cy="1181100"/>
          </a:xfrm>
          <a:custGeom>
            <a:avLst/>
            <a:gdLst/>
            <a:ahLst/>
            <a:cxnLst/>
            <a:rect l="l" t="t" r="r" b="b"/>
            <a:pathLst>
              <a:path w="3686175" h="1181100">
                <a:moveTo>
                  <a:pt x="38100" y="0"/>
                </a:moveTo>
                <a:lnTo>
                  <a:pt x="3571880" y="0"/>
                </a:lnTo>
                <a:cubicBezTo>
                  <a:pt x="3635003" y="0"/>
                  <a:pt x="3686175" y="51172"/>
                  <a:pt x="3686175" y="114295"/>
                </a:cubicBezTo>
                <a:lnTo>
                  <a:pt x="3686175" y="1066805"/>
                </a:lnTo>
                <a:cubicBezTo>
                  <a:pt x="3686175" y="1129928"/>
                  <a:pt x="3635003" y="1181100"/>
                  <a:pt x="3571880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400050" y="4644391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6" name="Shape 34"/>
          <p:cNvSpPr/>
          <p:nvPr/>
        </p:nvSpPr>
        <p:spPr>
          <a:xfrm>
            <a:off x="666750" y="485394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11576" y="29825"/>
                </a:moveTo>
                <a:cubicBezTo>
                  <a:pt x="116220" y="23440"/>
                  <a:pt x="114791" y="14511"/>
                  <a:pt x="108406" y="9867"/>
                </a:cubicBezTo>
                <a:cubicBezTo>
                  <a:pt x="102022" y="5224"/>
                  <a:pt x="93092" y="6653"/>
                  <a:pt x="88449" y="13037"/>
                </a:cubicBezTo>
                <a:lnTo>
                  <a:pt x="41121" y="78090"/>
                </a:lnTo>
                <a:lnTo>
                  <a:pt x="24378" y="61347"/>
                </a:lnTo>
                <a:cubicBezTo>
                  <a:pt x="18797" y="55766"/>
                  <a:pt x="9733" y="55766"/>
                  <a:pt x="4152" y="61347"/>
                </a:cubicBezTo>
                <a:cubicBezTo>
                  <a:pt x="-1429" y="66928"/>
                  <a:pt x="-1429" y="75992"/>
                  <a:pt x="4152" y="81573"/>
                </a:cubicBezTo>
                <a:lnTo>
                  <a:pt x="32727" y="110148"/>
                </a:lnTo>
                <a:cubicBezTo>
                  <a:pt x="35674" y="113094"/>
                  <a:pt x="39782" y="114613"/>
                  <a:pt x="43934" y="114300"/>
                </a:cubicBezTo>
                <a:cubicBezTo>
                  <a:pt x="48086" y="113987"/>
                  <a:pt x="51926" y="111844"/>
                  <a:pt x="54382" y="108451"/>
                </a:cubicBezTo>
                <a:lnTo>
                  <a:pt x="111532" y="29870"/>
                </a:lnTo>
                <a:close/>
                <a:moveTo>
                  <a:pt x="168726" y="90547"/>
                </a:moveTo>
                <a:cubicBezTo>
                  <a:pt x="173370" y="84162"/>
                  <a:pt x="171941" y="75233"/>
                  <a:pt x="165556" y="70589"/>
                </a:cubicBezTo>
                <a:cubicBezTo>
                  <a:pt x="159172" y="65946"/>
                  <a:pt x="150242" y="67374"/>
                  <a:pt x="145599" y="73759"/>
                </a:cubicBezTo>
                <a:lnTo>
                  <a:pt x="69696" y="178103"/>
                </a:lnTo>
                <a:lnTo>
                  <a:pt x="38666" y="147072"/>
                </a:lnTo>
                <a:cubicBezTo>
                  <a:pt x="33084" y="141491"/>
                  <a:pt x="24021" y="141491"/>
                  <a:pt x="18440" y="147072"/>
                </a:cubicBezTo>
                <a:cubicBezTo>
                  <a:pt x="12859" y="152653"/>
                  <a:pt x="12859" y="161717"/>
                  <a:pt x="18440" y="167298"/>
                </a:cubicBezTo>
                <a:lnTo>
                  <a:pt x="61302" y="210160"/>
                </a:lnTo>
                <a:cubicBezTo>
                  <a:pt x="64249" y="213107"/>
                  <a:pt x="68357" y="214625"/>
                  <a:pt x="72509" y="214313"/>
                </a:cubicBezTo>
                <a:cubicBezTo>
                  <a:pt x="76661" y="214000"/>
                  <a:pt x="80501" y="211857"/>
                  <a:pt x="82957" y="208464"/>
                </a:cubicBezTo>
                <a:lnTo>
                  <a:pt x="168682" y="90592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7" name="Text 35"/>
          <p:cNvSpPr/>
          <p:nvPr/>
        </p:nvSpPr>
        <p:spPr>
          <a:xfrm>
            <a:off x="1009650" y="4834891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Fewer Rejections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09600" y="5177791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allocation reduces unnecessary request drops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60771" y="4644391"/>
            <a:ext cx="3686175" cy="1181100"/>
          </a:xfrm>
          <a:custGeom>
            <a:avLst/>
            <a:gdLst/>
            <a:ahLst/>
            <a:cxnLst/>
            <a:rect l="l" t="t" r="r" b="b"/>
            <a:pathLst>
              <a:path w="3686175" h="1181100">
                <a:moveTo>
                  <a:pt x="38100" y="0"/>
                </a:moveTo>
                <a:lnTo>
                  <a:pt x="3571880" y="0"/>
                </a:lnTo>
                <a:cubicBezTo>
                  <a:pt x="3635003" y="0"/>
                  <a:pt x="3686175" y="51172"/>
                  <a:pt x="3686175" y="114295"/>
                </a:cubicBezTo>
                <a:lnTo>
                  <a:pt x="3686175" y="1066805"/>
                </a:lnTo>
                <a:cubicBezTo>
                  <a:pt x="3686175" y="1129928"/>
                  <a:pt x="3635003" y="1181100"/>
                  <a:pt x="3571880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2DD4B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0" name="Shape 38"/>
          <p:cNvSpPr/>
          <p:nvPr/>
        </p:nvSpPr>
        <p:spPr>
          <a:xfrm>
            <a:off x="4260771" y="4644391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41" name="Shape 39"/>
          <p:cNvSpPr/>
          <p:nvPr/>
        </p:nvSpPr>
        <p:spPr>
          <a:xfrm>
            <a:off x="4498896" y="48539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42" name="Text 40"/>
          <p:cNvSpPr/>
          <p:nvPr/>
        </p:nvSpPr>
        <p:spPr>
          <a:xfrm>
            <a:off x="4870371" y="4834891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Overload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470321" y="5177791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server saturation during traffic spikes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21611" y="4644391"/>
            <a:ext cx="3686175" cy="1181100"/>
          </a:xfrm>
          <a:custGeom>
            <a:avLst/>
            <a:gdLst/>
            <a:ahLst/>
            <a:cxnLst/>
            <a:rect l="l" t="t" r="r" b="b"/>
            <a:pathLst>
              <a:path w="3686175" h="1181100">
                <a:moveTo>
                  <a:pt x="38100" y="0"/>
                </a:moveTo>
                <a:lnTo>
                  <a:pt x="3571880" y="0"/>
                </a:lnTo>
                <a:cubicBezTo>
                  <a:pt x="3635003" y="0"/>
                  <a:pt x="3686175" y="51172"/>
                  <a:pt x="3686175" y="114295"/>
                </a:cubicBezTo>
                <a:lnTo>
                  <a:pt x="3686175" y="1066805"/>
                </a:lnTo>
                <a:cubicBezTo>
                  <a:pt x="3686175" y="1129928"/>
                  <a:pt x="3635003" y="1181100"/>
                  <a:pt x="3571880" y="1181100"/>
                </a:cubicBez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5" name="Shape 43"/>
          <p:cNvSpPr/>
          <p:nvPr/>
        </p:nvSpPr>
        <p:spPr>
          <a:xfrm>
            <a:off x="8121611" y="4644391"/>
            <a:ext cx="38100" cy="1181100"/>
          </a:xfrm>
          <a:custGeom>
            <a:avLst/>
            <a:gdLst/>
            <a:ahLst/>
            <a:cxnLst/>
            <a:rect l="l" t="t" r="r" b="b"/>
            <a:pathLst>
              <a:path w="38100" h="1181100">
                <a:moveTo>
                  <a:pt x="38100" y="0"/>
                </a:moveTo>
                <a:lnTo>
                  <a:pt x="38100" y="0"/>
                </a:lnTo>
                <a:lnTo>
                  <a:pt x="38100" y="1181100"/>
                </a:lnTo>
                <a:lnTo>
                  <a:pt x="38100" y="1181100"/>
                </a:lnTo>
                <a:cubicBezTo>
                  <a:pt x="17072" y="1181100"/>
                  <a:pt x="0" y="1164028"/>
                  <a:pt x="0" y="1143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6" name="Shape 44"/>
          <p:cNvSpPr/>
          <p:nvPr/>
        </p:nvSpPr>
        <p:spPr>
          <a:xfrm>
            <a:off x="8359736" y="48539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7" name="Text 45"/>
          <p:cNvSpPr/>
          <p:nvPr/>
        </p:nvSpPr>
        <p:spPr>
          <a:xfrm>
            <a:off x="8731211" y="4834891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Self-Adjusting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31161" y="5177791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adapts to changing traffic patterns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799" y="383869"/>
            <a:ext cx="467318" cy="467318"/>
          </a:xfrm>
          <a:custGeom>
            <a:avLst/>
            <a:gdLst/>
            <a:ahLst/>
            <a:cxnLst/>
            <a:rect l="l" t="t" r="r" b="b"/>
            <a:pathLst>
              <a:path w="467318" h="467318">
                <a:moveTo>
                  <a:pt x="100142" y="0"/>
                </a:moveTo>
                <a:lnTo>
                  <a:pt x="367177" y="0"/>
                </a:lnTo>
                <a:cubicBezTo>
                  <a:pt x="422446" y="0"/>
                  <a:pt x="467318" y="44872"/>
                  <a:pt x="467318" y="100142"/>
                </a:cubicBezTo>
                <a:lnTo>
                  <a:pt x="467318" y="367177"/>
                </a:lnTo>
                <a:cubicBezTo>
                  <a:pt x="467318" y="422446"/>
                  <a:pt x="422446" y="467318"/>
                  <a:pt x="367177" y="467318"/>
                </a:cubicBezTo>
                <a:lnTo>
                  <a:pt x="100142" y="467318"/>
                </a:lnTo>
                <a:cubicBezTo>
                  <a:pt x="44872" y="467318"/>
                  <a:pt x="0" y="422446"/>
                  <a:pt x="0" y="367177"/>
                </a:cubicBezTo>
                <a:lnTo>
                  <a:pt x="0" y="100142"/>
                </a:lnTo>
                <a:cubicBezTo>
                  <a:pt x="0" y="44872"/>
                  <a:pt x="44872" y="0"/>
                  <a:pt x="100142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/>
              </a:gs>
              <a:gs pos="100000">
                <a:srgbClr val="2DD4BF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67318" y="517388"/>
            <a:ext cx="200279" cy="200279"/>
          </a:xfrm>
          <a:custGeom>
            <a:avLst/>
            <a:gdLst/>
            <a:ahLst/>
            <a:cxnLst/>
            <a:rect l="l" t="t" r="r" b="b"/>
            <a:pathLst>
              <a:path w="200279" h="200279">
                <a:moveTo>
                  <a:pt x="100140" y="55272"/>
                </a:moveTo>
                <a:lnTo>
                  <a:pt x="100140" y="176261"/>
                </a:lnTo>
                <a:lnTo>
                  <a:pt x="100335" y="176183"/>
                </a:lnTo>
                <a:cubicBezTo>
                  <a:pt x="121693" y="167304"/>
                  <a:pt x="144616" y="162727"/>
                  <a:pt x="167734" y="162727"/>
                </a:cubicBezTo>
                <a:lnTo>
                  <a:pt x="175244" y="162727"/>
                </a:lnTo>
                <a:lnTo>
                  <a:pt x="175244" y="37552"/>
                </a:lnTo>
                <a:lnTo>
                  <a:pt x="167734" y="37552"/>
                </a:lnTo>
                <a:cubicBezTo>
                  <a:pt x="151226" y="37552"/>
                  <a:pt x="134836" y="40838"/>
                  <a:pt x="119581" y="47175"/>
                </a:cubicBezTo>
                <a:cubicBezTo>
                  <a:pt x="113009" y="49913"/>
                  <a:pt x="106516" y="52612"/>
                  <a:pt x="100140" y="55272"/>
                </a:cubicBezTo>
                <a:close/>
                <a:moveTo>
                  <a:pt x="90321" y="24057"/>
                </a:moveTo>
                <a:lnTo>
                  <a:pt x="100140" y="28164"/>
                </a:lnTo>
                <a:lnTo>
                  <a:pt x="109958" y="24057"/>
                </a:lnTo>
                <a:cubicBezTo>
                  <a:pt x="128265" y="16429"/>
                  <a:pt x="147902" y="12517"/>
                  <a:pt x="167734" y="12517"/>
                </a:cubicBezTo>
                <a:lnTo>
                  <a:pt x="181503" y="12517"/>
                </a:lnTo>
                <a:cubicBezTo>
                  <a:pt x="191869" y="12517"/>
                  <a:pt x="200279" y="20928"/>
                  <a:pt x="200279" y="31294"/>
                </a:cubicBezTo>
                <a:lnTo>
                  <a:pt x="200279" y="168986"/>
                </a:lnTo>
                <a:cubicBezTo>
                  <a:pt x="200279" y="179352"/>
                  <a:pt x="191869" y="187762"/>
                  <a:pt x="181503" y="187762"/>
                </a:cubicBezTo>
                <a:lnTo>
                  <a:pt x="167734" y="187762"/>
                </a:lnTo>
                <a:cubicBezTo>
                  <a:pt x="147902" y="187762"/>
                  <a:pt x="128265" y="191674"/>
                  <a:pt x="109958" y="199301"/>
                </a:cubicBezTo>
                <a:lnTo>
                  <a:pt x="104951" y="201375"/>
                </a:lnTo>
                <a:cubicBezTo>
                  <a:pt x="101861" y="202665"/>
                  <a:pt x="98418" y="202665"/>
                  <a:pt x="95328" y="201375"/>
                </a:cubicBezTo>
                <a:lnTo>
                  <a:pt x="90321" y="199301"/>
                </a:lnTo>
                <a:cubicBezTo>
                  <a:pt x="72014" y="191674"/>
                  <a:pt x="52378" y="187762"/>
                  <a:pt x="32545" y="187762"/>
                </a:cubicBezTo>
                <a:lnTo>
                  <a:pt x="18776" y="187762"/>
                </a:lnTo>
                <a:cubicBezTo>
                  <a:pt x="8410" y="187762"/>
                  <a:pt x="0" y="179352"/>
                  <a:pt x="0" y="168986"/>
                </a:cubicBezTo>
                <a:lnTo>
                  <a:pt x="0" y="31294"/>
                </a:lnTo>
                <a:cubicBezTo>
                  <a:pt x="0" y="20928"/>
                  <a:pt x="8410" y="12517"/>
                  <a:pt x="18776" y="12517"/>
                </a:cubicBezTo>
                <a:lnTo>
                  <a:pt x="32545" y="12517"/>
                </a:lnTo>
                <a:cubicBezTo>
                  <a:pt x="52378" y="12517"/>
                  <a:pt x="72014" y="16429"/>
                  <a:pt x="90321" y="24057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934637" y="333799"/>
            <a:ext cx="3354678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0" b="1" spc="46" kern="0" dirty="0">
                <a:solidFill>
                  <a:srgbClr val="38BDF8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4637" y="500698"/>
            <a:ext cx="3496542" cy="400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54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Literature Survey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7137" y="1104874"/>
            <a:ext cx="11522733" cy="3136039"/>
          </a:xfrm>
          <a:custGeom>
            <a:avLst/>
            <a:gdLst/>
            <a:ahLst/>
            <a:cxnLst/>
            <a:rect l="l" t="t" r="r" b="b"/>
            <a:pathLst>
              <a:path w="11522733" h="3136039">
                <a:moveTo>
                  <a:pt x="100134" y="0"/>
                </a:moveTo>
                <a:lnTo>
                  <a:pt x="11422600" y="0"/>
                </a:lnTo>
                <a:cubicBezTo>
                  <a:pt x="11477902" y="0"/>
                  <a:pt x="11522733" y="44831"/>
                  <a:pt x="11522733" y="100134"/>
                </a:cubicBezTo>
                <a:lnTo>
                  <a:pt x="11522733" y="3035906"/>
                </a:lnTo>
                <a:cubicBezTo>
                  <a:pt x="11522733" y="3091208"/>
                  <a:pt x="11477902" y="3136039"/>
                  <a:pt x="11422600" y="3136039"/>
                </a:cubicBezTo>
                <a:lnTo>
                  <a:pt x="100134" y="3136039"/>
                </a:lnTo>
                <a:cubicBezTo>
                  <a:pt x="44831" y="3136039"/>
                  <a:pt x="0" y="3091208"/>
                  <a:pt x="0" y="3035906"/>
                </a:cubicBezTo>
                <a:lnTo>
                  <a:pt x="0" y="100134"/>
                </a:lnTo>
                <a:cubicBezTo>
                  <a:pt x="0" y="44868"/>
                  <a:pt x="44868" y="0"/>
                  <a:pt x="100134" y="0"/>
                </a:cubicBezTo>
                <a:close/>
              </a:path>
            </a:pathLst>
          </a:custGeom>
          <a:solidFill>
            <a:srgbClr val="1F2937"/>
          </a:solidFill>
          <a:ln w="10160">
            <a:solidFill>
              <a:srgbClr val="4B5563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5789" y="1341768"/>
            <a:ext cx="200279" cy="200279"/>
          </a:xfrm>
          <a:custGeom>
            <a:avLst/>
            <a:gdLst/>
            <a:ahLst/>
            <a:cxnLst/>
            <a:rect l="l" t="t" r="r" b="b"/>
            <a:pathLst>
              <a:path w="200279" h="200279">
                <a:moveTo>
                  <a:pt x="162727" y="81363"/>
                </a:moveTo>
                <a:cubicBezTo>
                  <a:pt x="162727" y="99318"/>
                  <a:pt x="156898" y="115904"/>
                  <a:pt x="147080" y="129360"/>
                </a:cubicBezTo>
                <a:lnTo>
                  <a:pt x="196602" y="178921"/>
                </a:lnTo>
                <a:cubicBezTo>
                  <a:pt x="201492" y="183811"/>
                  <a:pt x="201492" y="191752"/>
                  <a:pt x="196602" y="196641"/>
                </a:cubicBezTo>
                <a:cubicBezTo>
                  <a:pt x="191713" y="201531"/>
                  <a:pt x="183772" y="201531"/>
                  <a:pt x="178882" y="196641"/>
                </a:cubicBezTo>
                <a:lnTo>
                  <a:pt x="129360" y="147080"/>
                </a:lnTo>
                <a:cubicBezTo>
                  <a:pt x="115904" y="156898"/>
                  <a:pt x="99318" y="162727"/>
                  <a:pt x="81363" y="162727"/>
                </a:cubicBezTo>
                <a:cubicBezTo>
                  <a:pt x="36418" y="162727"/>
                  <a:pt x="0" y="126309"/>
                  <a:pt x="0" y="81363"/>
                </a:cubicBezTo>
                <a:cubicBezTo>
                  <a:pt x="0" y="36418"/>
                  <a:pt x="36418" y="0"/>
                  <a:pt x="81363" y="0"/>
                </a:cubicBezTo>
                <a:cubicBezTo>
                  <a:pt x="126309" y="0"/>
                  <a:pt x="162727" y="36418"/>
                  <a:pt x="162727" y="81363"/>
                </a:cubicBezTo>
                <a:close/>
                <a:moveTo>
                  <a:pt x="81363" y="137692"/>
                </a:moveTo>
                <a:cubicBezTo>
                  <a:pt x="112452" y="137692"/>
                  <a:pt x="137692" y="112452"/>
                  <a:pt x="137692" y="81363"/>
                </a:cubicBezTo>
                <a:cubicBezTo>
                  <a:pt x="137692" y="50275"/>
                  <a:pt x="112452" y="25035"/>
                  <a:pt x="81363" y="25035"/>
                </a:cubicBezTo>
                <a:cubicBezTo>
                  <a:pt x="50275" y="25035"/>
                  <a:pt x="25035" y="50275"/>
                  <a:pt x="25035" y="81363"/>
                </a:cubicBezTo>
                <a:cubicBezTo>
                  <a:pt x="25035" y="112452"/>
                  <a:pt x="50275" y="137692"/>
                  <a:pt x="81363" y="137692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791103" y="1308492"/>
            <a:ext cx="10965290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7" b="1" dirty="0">
                <a:solidFill>
                  <a:srgbClr val="38BD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Comparative Analysis of Existing Research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0754" y="1708946"/>
          <a:ext cx="11115499" cy="2328246"/>
        </p:xfrm>
        <a:graphic>
          <a:graphicData uri="http://schemas.openxmlformats.org/drawingml/2006/table">
            <a:tbl>
              <a:tblPr/>
              <a:tblGrid>
                <a:gridCol w="3980550"/>
                <a:gridCol w="4514628"/>
                <a:gridCol w="2620320"/>
              </a:tblGrid>
              <a:tr h="582062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9FA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Paper/Method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3520" marR="133520" marT="133520" marB="1335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9FA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Approach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3520" marR="133520" marT="133520" marB="1335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F9FA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Limitation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3520" marR="133520" marT="133520" marB="1335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0320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82062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9FA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Token Bucket Control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3520" marR="133520" marT="133520" marB="1335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CA3A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Static threshold-based rate limiting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3520" marR="133520" marT="133520" marB="1335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9FA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 adaptability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3520" marR="133520" marT="133520" marB="1335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82062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9FA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AI Traffic Control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3520" marR="133520" marT="133520" marB="1335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CA3A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Machine learning prediction models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3520" marR="133520" marT="133520" marB="1335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9FA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 computation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3520" marR="133520" marT="133520" marB="1335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82062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9FA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Quantum in Networks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3520" marR="133520" marT="133520" marB="1335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9CA3A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QAOA for network optimization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3520" marR="133520" marT="133520" marB="1335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F9FAF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Not API-specific</a:t>
                      </a:r>
                      <a:endParaRPr lang="en-US" sz="10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3520" marR="133520" marT="133520" marB="1335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50489" y="4446096"/>
            <a:ext cx="11507713" cy="2077897"/>
          </a:xfrm>
          <a:custGeom>
            <a:avLst/>
            <a:gdLst/>
            <a:ahLst/>
            <a:cxnLst/>
            <a:rect l="l" t="t" r="r" b="b"/>
            <a:pathLst>
              <a:path w="11507713" h="2077897">
                <a:moveTo>
                  <a:pt x="33380" y="0"/>
                </a:moveTo>
                <a:lnTo>
                  <a:pt x="11407579" y="0"/>
                </a:lnTo>
                <a:cubicBezTo>
                  <a:pt x="11462881" y="0"/>
                  <a:pt x="11507713" y="44831"/>
                  <a:pt x="11507713" y="100134"/>
                </a:cubicBezTo>
                <a:lnTo>
                  <a:pt x="11507713" y="1977763"/>
                </a:lnTo>
                <a:cubicBezTo>
                  <a:pt x="11507713" y="2033066"/>
                  <a:pt x="11462881" y="2077897"/>
                  <a:pt x="11407579" y="2077897"/>
                </a:cubicBezTo>
                <a:lnTo>
                  <a:pt x="33380" y="2077897"/>
                </a:lnTo>
                <a:cubicBezTo>
                  <a:pt x="14945" y="2077897"/>
                  <a:pt x="0" y="2062953"/>
                  <a:pt x="0" y="2044517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>
                  <a:alpha val="20000"/>
                </a:srgbClr>
              </a:gs>
              <a:gs pos="100000">
                <a:srgbClr val="2DD4BF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11" name="Shape 8"/>
          <p:cNvSpPr/>
          <p:nvPr/>
        </p:nvSpPr>
        <p:spPr>
          <a:xfrm>
            <a:off x="350489" y="4446096"/>
            <a:ext cx="33380" cy="2077897"/>
          </a:xfrm>
          <a:custGeom>
            <a:avLst/>
            <a:gdLst/>
            <a:ahLst/>
            <a:cxnLst/>
            <a:rect l="l" t="t" r="r" b="b"/>
            <a:pathLst>
              <a:path w="33380" h="2077897">
                <a:moveTo>
                  <a:pt x="33380" y="0"/>
                </a:moveTo>
                <a:lnTo>
                  <a:pt x="33380" y="0"/>
                </a:lnTo>
                <a:lnTo>
                  <a:pt x="33380" y="2077897"/>
                </a:lnTo>
                <a:lnTo>
                  <a:pt x="33380" y="2077897"/>
                </a:lnTo>
                <a:cubicBezTo>
                  <a:pt x="14945" y="2077897"/>
                  <a:pt x="0" y="2062953"/>
                  <a:pt x="0" y="2044517"/>
                </a:cubicBezTo>
                <a:lnTo>
                  <a:pt x="0" y="33380"/>
                </a:lnTo>
                <a:cubicBezTo>
                  <a:pt x="0" y="14957"/>
                  <a:pt x="14957" y="0"/>
                  <a:pt x="33380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2" name="Shape 9"/>
          <p:cNvSpPr/>
          <p:nvPr/>
        </p:nvSpPr>
        <p:spPr>
          <a:xfrm>
            <a:off x="567458" y="4646375"/>
            <a:ext cx="467318" cy="467318"/>
          </a:xfrm>
          <a:custGeom>
            <a:avLst/>
            <a:gdLst/>
            <a:ahLst/>
            <a:cxnLst/>
            <a:rect l="l" t="t" r="r" b="b"/>
            <a:pathLst>
              <a:path w="467318" h="467318">
                <a:moveTo>
                  <a:pt x="100142" y="0"/>
                </a:moveTo>
                <a:lnTo>
                  <a:pt x="367177" y="0"/>
                </a:lnTo>
                <a:cubicBezTo>
                  <a:pt x="422446" y="0"/>
                  <a:pt x="467318" y="44872"/>
                  <a:pt x="467318" y="100142"/>
                </a:cubicBezTo>
                <a:lnTo>
                  <a:pt x="467318" y="367177"/>
                </a:lnTo>
                <a:cubicBezTo>
                  <a:pt x="467318" y="422446"/>
                  <a:pt x="422446" y="467318"/>
                  <a:pt x="367177" y="467318"/>
                </a:cubicBezTo>
                <a:lnTo>
                  <a:pt x="100142" y="467318"/>
                </a:lnTo>
                <a:cubicBezTo>
                  <a:pt x="44872" y="467318"/>
                  <a:pt x="0" y="422446"/>
                  <a:pt x="0" y="367177"/>
                </a:cubicBezTo>
                <a:lnTo>
                  <a:pt x="0" y="100142"/>
                </a:lnTo>
                <a:cubicBezTo>
                  <a:pt x="0" y="44872"/>
                  <a:pt x="44872" y="0"/>
                  <a:pt x="100142" y="0"/>
                </a:cubicBezTo>
                <a:close/>
              </a:path>
            </a:pathLst>
          </a:custGeom>
          <a:solidFill>
            <a:srgbClr val="38BDF8">
              <a:alpha val="3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26012" y="4779895"/>
            <a:ext cx="150209" cy="200279"/>
          </a:xfrm>
          <a:custGeom>
            <a:avLst/>
            <a:gdLst/>
            <a:ahLst/>
            <a:cxnLst/>
            <a:rect l="l" t="t" r="r" b="b"/>
            <a:pathLst>
              <a:path w="150209" h="200279">
                <a:moveTo>
                  <a:pt x="114574" y="150209"/>
                </a:moveTo>
                <a:cubicBezTo>
                  <a:pt x="117429" y="141486"/>
                  <a:pt x="123140" y="133585"/>
                  <a:pt x="129595" y="126778"/>
                </a:cubicBezTo>
                <a:cubicBezTo>
                  <a:pt x="142386" y="113322"/>
                  <a:pt x="150209" y="95133"/>
                  <a:pt x="150209" y="75105"/>
                </a:cubicBezTo>
                <a:cubicBezTo>
                  <a:pt x="150209" y="33641"/>
                  <a:pt x="116569" y="0"/>
                  <a:pt x="75105" y="0"/>
                </a:cubicBezTo>
                <a:cubicBezTo>
                  <a:pt x="33641" y="0"/>
                  <a:pt x="0" y="33641"/>
                  <a:pt x="0" y="75105"/>
                </a:cubicBezTo>
                <a:cubicBezTo>
                  <a:pt x="0" y="95133"/>
                  <a:pt x="7823" y="113322"/>
                  <a:pt x="20615" y="126778"/>
                </a:cubicBezTo>
                <a:cubicBezTo>
                  <a:pt x="27069" y="133585"/>
                  <a:pt x="32819" y="141486"/>
                  <a:pt x="35636" y="150209"/>
                </a:cubicBezTo>
                <a:lnTo>
                  <a:pt x="114535" y="150209"/>
                </a:lnTo>
                <a:close/>
                <a:moveTo>
                  <a:pt x="112657" y="168986"/>
                </a:moveTo>
                <a:lnTo>
                  <a:pt x="37552" y="168986"/>
                </a:lnTo>
                <a:lnTo>
                  <a:pt x="37552" y="175244"/>
                </a:lnTo>
                <a:cubicBezTo>
                  <a:pt x="37552" y="192534"/>
                  <a:pt x="51556" y="206538"/>
                  <a:pt x="68846" y="206538"/>
                </a:cubicBezTo>
                <a:lnTo>
                  <a:pt x="81363" y="206538"/>
                </a:lnTo>
                <a:cubicBezTo>
                  <a:pt x="98653" y="206538"/>
                  <a:pt x="112657" y="192534"/>
                  <a:pt x="112657" y="175244"/>
                </a:cubicBezTo>
                <a:lnTo>
                  <a:pt x="112657" y="168986"/>
                </a:lnTo>
                <a:close/>
                <a:moveTo>
                  <a:pt x="71975" y="43811"/>
                </a:moveTo>
                <a:cubicBezTo>
                  <a:pt x="56407" y="43811"/>
                  <a:pt x="43811" y="56407"/>
                  <a:pt x="43811" y="71975"/>
                </a:cubicBezTo>
                <a:cubicBezTo>
                  <a:pt x="43811" y="77178"/>
                  <a:pt x="39626" y="81363"/>
                  <a:pt x="34423" y="81363"/>
                </a:cubicBezTo>
                <a:cubicBezTo>
                  <a:pt x="29220" y="81363"/>
                  <a:pt x="25035" y="77178"/>
                  <a:pt x="25035" y="71975"/>
                </a:cubicBezTo>
                <a:cubicBezTo>
                  <a:pt x="25035" y="46041"/>
                  <a:pt x="46041" y="25035"/>
                  <a:pt x="71975" y="25035"/>
                </a:cubicBezTo>
                <a:cubicBezTo>
                  <a:pt x="77178" y="25035"/>
                  <a:pt x="81363" y="29220"/>
                  <a:pt x="81363" y="34423"/>
                </a:cubicBezTo>
                <a:cubicBezTo>
                  <a:pt x="81363" y="39626"/>
                  <a:pt x="77178" y="43811"/>
                  <a:pt x="71975" y="43811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4" name="Text 11"/>
          <p:cNvSpPr/>
          <p:nvPr/>
        </p:nvSpPr>
        <p:spPr>
          <a:xfrm>
            <a:off x="1168296" y="4646375"/>
            <a:ext cx="10589766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7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Our Innovation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68296" y="5013448"/>
            <a:ext cx="10573076" cy="542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14" b="1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QIO tailored specifically for API rate limiting</a:t>
            </a:r>
            <a:pPr>
              <a:lnSpc>
                <a:spcPct val="140000"/>
              </a:lnSpc>
            </a:pPr>
            <a:r>
              <a:rPr lang="en-US" sz="1314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combining the exploration power of quantum-inspired algorithms with the specific constraints and requirements of API traffic management.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68296" y="5689391"/>
            <a:ext cx="3404747" cy="634218"/>
          </a:xfrm>
          <a:custGeom>
            <a:avLst/>
            <a:gdLst/>
            <a:ahLst/>
            <a:cxnLst/>
            <a:rect l="l" t="t" r="r" b="b"/>
            <a:pathLst>
              <a:path w="3404747" h="634218">
                <a:moveTo>
                  <a:pt x="66758" y="0"/>
                </a:moveTo>
                <a:lnTo>
                  <a:pt x="3337990" y="0"/>
                </a:lnTo>
                <a:cubicBezTo>
                  <a:pt x="3374859" y="0"/>
                  <a:pt x="3404747" y="29888"/>
                  <a:pt x="3404747" y="66758"/>
                </a:cubicBezTo>
                <a:lnTo>
                  <a:pt x="3404747" y="567460"/>
                </a:lnTo>
                <a:cubicBezTo>
                  <a:pt x="3404747" y="604329"/>
                  <a:pt x="3374859" y="634218"/>
                  <a:pt x="3337990" y="634218"/>
                </a:cubicBezTo>
                <a:lnTo>
                  <a:pt x="66758" y="634218"/>
                </a:lnTo>
                <a:cubicBezTo>
                  <a:pt x="29888" y="634218"/>
                  <a:pt x="0" y="604329"/>
                  <a:pt x="0" y="567460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218366" y="5789530"/>
            <a:ext cx="3304608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7" b="1" dirty="0">
                <a:solidFill>
                  <a:srgbClr val="2DD4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Low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39228" y="6056467"/>
            <a:ext cx="3262883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Computational Cost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710214" y="5689391"/>
            <a:ext cx="3404747" cy="634218"/>
          </a:xfrm>
          <a:custGeom>
            <a:avLst/>
            <a:gdLst/>
            <a:ahLst/>
            <a:cxnLst/>
            <a:rect l="l" t="t" r="r" b="b"/>
            <a:pathLst>
              <a:path w="3404747" h="634218">
                <a:moveTo>
                  <a:pt x="66758" y="0"/>
                </a:moveTo>
                <a:lnTo>
                  <a:pt x="3337990" y="0"/>
                </a:lnTo>
                <a:cubicBezTo>
                  <a:pt x="3374859" y="0"/>
                  <a:pt x="3404747" y="29888"/>
                  <a:pt x="3404747" y="66758"/>
                </a:cubicBezTo>
                <a:lnTo>
                  <a:pt x="3404747" y="567460"/>
                </a:lnTo>
                <a:cubicBezTo>
                  <a:pt x="3404747" y="604329"/>
                  <a:pt x="3374859" y="634218"/>
                  <a:pt x="3337990" y="634218"/>
                </a:cubicBezTo>
                <a:lnTo>
                  <a:pt x="66758" y="634218"/>
                </a:lnTo>
                <a:cubicBezTo>
                  <a:pt x="29888" y="634218"/>
                  <a:pt x="0" y="604329"/>
                  <a:pt x="0" y="567460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4760283" y="5789530"/>
            <a:ext cx="3304608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7" b="1" dirty="0">
                <a:solidFill>
                  <a:srgbClr val="38BD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High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781146" y="6056467"/>
            <a:ext cx="3262883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Adaptability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252131" y="5689391"/>
            <a:ext cx="3404747" cy="634218"/>
          </a:xfrm>
          <a:custGeom>
            <a:avLst/>
            <a:gdLst/>
            <a:ahLst/>
            <a:cxnLst/>
            <a:rect l="l" t="t" r="r" b="b"/>
            <a:pathLst>
              <a:path w="3404747" h="634218">
                <a:moveTo>
                  <a:pt x="66758" y="0"/>
                </a:moveTo>
                <a:lnTo>
                  <a:pt x="3337990" y="0"/>
                </a:lnTo>
                <a:cubicBezTo>
                  <a:pt x="3374859" y="0"/>
                  <a:pt x="3404747" y="29888"/>
                  <a:pt x="3404747" y="66758"/>
                </a:cubicBezTo>
                <a:lnTo>
                  <a:pt x="3404747" y="567460"/>
                </a:lnTo>
                <a:cubicBezTo>
                  <a:pt x="3404747" y="604329"/>
                  <a:pt x="3374859" y="634218"/>
                  <a:pt x="3337990" y="634218"/>
                </a:cubicBezTo>
                <a:lnTo>
                  <a:pt x="66758" y="634218"/>
                </a:lnTo>
                <a:cubicBezTo>
                  <a:pt x="29888" y="634218"/>
                  <a:pt x="0" y="604329"/>
                  <a:pt x="0" y="567460"/>
                </a:cubicBezTo>
                <a:lnTo>
                  <a:pt x="0" y="66758"/>
                </a:lnTo>
                <a:cubicBezTo>
                  <a:pt x="0" y="29913"/>
                  <a:pt x="29913" y="0"/>
                  <a:pt x="66758" y="0"/>
                </a:cubicBezTo>
                <a:close/>
              </a:path>
            </a:pathLst>
          </a:custGeom>
          <a:solidFill>
            <a:srgbClr val="111827">
              <a:alpha val="50196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8302201" y="5789530"/>
            <a:ext cx="3304608" cy="267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7" b="1" dirty="0">
                <a:solidFill>
                  <a:srgbClr val="2DD4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API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323064" y="6056467"/>
            <a:ext cx="3262883" cy="16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0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Specific Design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472" y="393843"/>
            <a:ext cx="479461" cy="479461"/>
          </a:xfrm>
          <a:custGeom>
            <a:avLst/>
            <a:gdLst/>
            <a:ahLst/>
            <a:cxnLst/>
            <a:rect l="l" t="t" r="r" b="b"/>
            <a:pathLst>
              <a:path w="479461" h="479461">
                <a:moveTo>
                  <a:pt x="102744" y="0"/>
                </a:moveTo>
                <a:lnTo>
                  <a:pt x="376717" y="0"/>
                </a:lnTo>
                <a:cubicBezTo>
                  <a:pt x="433423" y="0"/>
                  <a:pt x="479461" y="46038"/>
                  <a:pt x="479461" y="102744"/>
                </a:cubicBezTo>
                <a:lnTo>
                  <a:pt x="479461" y="376717"/>
                </a:lnTo>
                <a:cubicBezTo>
                  <a:pt x="479461" y="433423"/>
                  <a:pt x="433423" y="479461"/>
                  <a:pt x="376717" y="479461"/>
                </a:cubicBezTo>
                <a:lnTo>
                  <a:pt x="102744" y="479461"/>
                </a:lnTo>
                <a:cubicBezTo>
                  <a:pt x="46038" y="479461"/>
                  <a:pt x="0" y="433423"/>
                  <a:pt x="0" y="376717"/>
                </a:cubicBezTo>
                <a:lnTo>
                  <a:pt x="0" y="102744"/>
                </a:lnTo>
                <a:cubicBezTo>
                  <a:pt x="0" y="46038"/>
                  <a:pt x="46038" y="0"/>
                  <a:pt x="102744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/>
              </a:gs>
              <a:gs pos="100000">
                <a:srgbClr val="2DD4BF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79461" y="530831"/>
            <a:ext cx="205483" cy="205483"/>
          </a:xfrm>
          <a:custGeom>
            <a:avLst/>
            <a:gdLst/>
            <a:ahLst/>
            <a:cxnLst/>
            <a:rect l="l" t="t" r="r" b="b"/>
            <a:pathLst>
              <a:path w="205483" h="205483">
                <a:moveTo>
                  <a:pt x="77056" y="25685"/>
                </a:moveTo>
                <a:cubicBezTo>
                  <a:pt x="77056" y="18582"/>
                  <a:pt x="82795" y="12843"/>
                  <a:pt x="89899" y="12843"/>
                </a:cubicBezTo>
                <a:lnTo>
                  <a:pt x="115584" y="12843"/>
                </a:lnTo>
                <a:cubicBezTo>
                  <a:pt x="122688" y="12843"/>
                  <a:pt x="128427" y="18582"/>
                  <a:pt x="128427" y="25685"/>
                </a:cubicBezTo>
                <a:lnTo>
                  <a:pt x="128427" y="51371"/>
                </a:lnTo>
                <a:cubicBezTo>
                  <a:pt x="128427" y="58474"/>
                  <a:pt x="122688" y="64213"/>
                  <a:pt x="115584" y="64213"/>
                </a:cubicBezTo>
                <a:lnTo>
                  <a:pt x="112374" y="64213"/>
                </a:lnTo>
                <a:lnTo>
                  <a:pt x="112374" y="89899"/>
                </a:lnTo>
                <a:lnTo>
                  <a:pt x="160534" y="89899"/>
                </a:lnTo>
                <a:cubicBezTo>
                  <a:pt x="176507" y="89899"/>
                  <a:pt x="189430" y="102822"/>
                  <a:pt x="189430" y="118795"/>
                </a:cubicBezTo>
                <a:lnTo>
                  <a:pt x="189430" y="141270"/>
                </a:lnTo>
                <a:lnTo>
                  <a:pt x="192640" y="141270"/>
                </a:lnTo>
                <a:cubicBezTo>
                  <a:pt x="199744" y="141270"/>
                  <a:pt x="205483" y="147009"/>
                  <a:pt x="205483" y="154112"/>
                </a:cubicBezTo>
                <a:lnTo>
                  <a:pt x="205483" y="179798"/>
                </a:lnTo>
                <a:cubicBezTo>
                  <a:pt x="205483" y="186901"/>
                  <a:pt x="199744" y="192640"/>
                  <a:pt x="192640" y="192640"/>
                </a:cubicBezTo>
                <a:lnTo>
                  <a:pt x="166955" y="192640"/>
                </a:lnTo>
                <a:cubicBezTo>
                  <a:pt x="159851" y="192640"/>
                  <a:pt x="154112" y="186901"/>
                  <a:pt x="154112" y="179798"/>
                </a:cubicBezTo>
                <a:lnTo>
                  <a:pt x="154112" y="154112"/>
                </a:lnTo>
                <a:cubicBezTo>
                  <a:pt x="154112" y="147009"/>
                  <a:pt x="159851" y="141270"/>
                  <a:pt x="166955" y="141270"/>
                </a:cubicBezTo>
                <a:lnTo>
                  <a:pt x="170166" y="141270"/>
                </a:lnTo>
                <a:lnTo>
                  <a:pt x="170166" y="118795"/>
                </a:lnTo>
                <a:cubicBezTo>
                  <a:pt x="170166" y="113457"/>
                  <a:pt x="165871" y="109163"/>
                  <a:pt x="160534" y="109163"/>
                </a:cubicBezTo>
                <a:lnTo>
                  <a:pt x="112374" y="109163"/>
                </a:lnTo>
                <a:lnTo>
                  <a:pt x="112374" y="141270"/>
                </a:lnTo>
                <a:lnTo>
                  <a:pt x="115584" y="141270"/>
                </a:lnTo>
                <a:cubicBezTo>
                  <a:pt x="122688" y="141270"/>
                  <a:pt x="128427" y="147009"/>
                  <a:pt x="128427" y="154112"/>
                </a:cubicBezTo>
                <a:lnTo>
                  <a:pt x="128427" y="179798"/>
                </a:lnTo>
                <a:cubicBezTo>
                  <a:pt x="128427" y="186901"/>
                  <a:pt x="122688" y="192640"/>
                  <a:pt x="115584" y="192640"/>
                </a:cubicBezTo>
                <a:lnTo>
                  <a:pt x="89899" y="192640"/>
                </a:lnTo>
                <a:cubicBezTo>
                  <a:pt x="82795" y="192640"/>
                  <a:pt x="77056" y="186901"/>
                  <a:pt x="77056" y="179798"/>
                </a:cubicBezTo>
                <a:lnTo>
                  <a:pt x="77056" y="154112"/>
                </a:lnTo>
                <a:cubicBezTo>
                  <a:pt x="77056" y="147009"/>
                  <a:pt x="82795" y="141270"/>
                  <a:pt x="89899" y="141270"/>
                </a:cubicBezTo>
                <a:lnTo>
                  <a:pt x="93110" y="141270"/>
                </a:lnTo>
                <a:lnTo>
                  <a:pt x="93110" y="109163"/>
                </a:lnTo>
                <a:lnTo>
                  <a:pt x="44949" y="109163"/>
                </a:lnTo>
                <a:cubicBezTo>
                  <a:pt x="39612" y="109163"/>
                  <a:pt x="35317" y="113457"/>
                  <a:pt x="35317" y="118795"/>
                </a:cubicBezTo>
                <a:lnTo>
                  <a:pt x="35317" y="141270"/>
                </a:lnTo>
                <a:lnTo>
                  <a:pt x="38528" y="141270"/>
                </a:lnTo>
                <a:cubicBezTo>
                  <a:pt x="45632" y="141270"/>
                  <a:pt x="51371" y="147009"/>
                  <a:pt x="51371" y="154112"/>
                </a:cubicBezTo>
                <a:lnTo>
                  <a:pt x="51371" y="179798"/>
                </a:lnTo>
                <a:cubicBezTo>
                  <a:pt x="51371" y="186901"/>
                  <a:pt x="45632" y="192640"/>
                  <a:pt x="38528" y="192640"/>
                </a:cubicBezTo>
                <a:lnTo>
                  <a:pt x="12843" y="192640"/>
                </a:lnTo>
                <a:cubicBezTo>
                  <a:pt x="5739" y="192640"/>
                  <a:pt x="0" y="186901"/>
                  <a:pt x="0" y="179798"/>
                </a:cubicBezTo>
                <a:lnTo>
                  <a:pt x="0" y="154112"/>
                </a:lnTo>
                <a:cubicBezTo>
                  <a:pt x="0" y="147009"/>
                  <a:pt x="5739" y="141270"/>
                  <a:pt x="12843" y="141270"/>
                </a:cubicBezTo>
                <a:lnTo>
                  <a:pt x="16053" y="141270"/>
                </a:lnTo>
                <a:lnTo>
                  <a:pt x="16053" y="118795"/>
                </a:lnTo>
                <a:cubicBezTo>
                  <a:pt x="16053" y="102822"/>
                  <a:pt x="28976" y="89899"/>
                  <a:pt x="44949" y="89899"/>
                </a:cubicBezTo>
                <a:lnTo>
                  <a:pt x="93110" y="89899"/>
                </a:lnTo>
                <a:lnTo>
                  <a:pt x="93110" y="64213"/>
                </a:lnTo>
                <a:lnTo>
                  <a:pt x="89899" y="64213"/>
                </a:lnTo>
                <a:cubicBezTo>
                  <a:pt x="82795" y="64213"/>
                  <a:pt x="77056" y="58474"/>
                  <a:pt x="77056" y="51371"/>
                </a:cubicBezTo>
                <a:lnTo>
                  <a:pt x="77056" y="25685"/>
                </a:ln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958921" y="342472"/>
            <a:ext cx="6250112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4" b="1" spc="47" kern="0" dirty="0">
                <a:solidFill>
                  <a:srgbClr val="38BDF8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8921" y="513708"/>
            <a:ext cx="6395663" cy="41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36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System Architecture &amp; Modules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5897" y="1133582"/>
            <a:ext cx="11496782" cy="2566827"/>
          </a:xfrm>
          <a:custGeom>
            <a:avLst/>
            <a:gdLst/>
            <a:ahLst/>
            <a:cxnLst/>
            <a:rect l="l" t="t" r="r" b="b"/>
            <a:pathLst>
              <a:path w="11496782" h="2566827">
                <a:moveTo>
                  <a:pt x="102750" y="0"/>
                </a:moveTo>
                <a:lnTo>
                  <a:pt x="11394032" y="0"/>
                </a:lnTo>
                <a:cubicBezTo>
                  <a:pt x="11450779" y="0"/>
                  <a:pt x="11496782" y="46003"/>
                  <a:pt x="11496782" y="102750"/>
                </a:cubicBezTo>
                <a:lnTo>
                  <a:pt x="11496782" y="2464077"/>
                </a:lnTo>
                <a:cubicBezTo>
                  <a:pt x="11496782" y="2520824"/>
                  <a:pt x="11450779" y="2566827"/>
                  <a:pt x="11394032" y="2566827"/>
                </a:cubicBezTo>
                <a:lnTo>
                  <a:pt x="102750" y="2566827"/>
                </a:lnTo>
                <a:cubicBezTo>
                  <a:pt x="46003" y="2566827"/>
                  <a:pt x="0" y="2520824"/>
                  <a:pt x="0" y="2464077"/>
                </a:cubicBezTo>
                <a:lnTo>
                  <a:pt x="0" y="102750"/>
                </a:lnTo>
                <a:cubicBezTo>
                  <a:pt x="0" y="46003"/>
                  <a:pt x="46003" y="0"/>
                  <a:pt x="102750" y="0"/>
                </a:cubicBezTo>
                <a:close/>
              </a:path>
            </a:pathLst>
          </a:custGeom>
          <a:solidFill>
            <a:srgbClr val="1F2937"/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490" y="1376631"/>
            <a:ext cx="205483" cy="205483"/>
          </a:xfrm>
          <a:custGeom>
            <a:avLst/>
            <a:gdLst/>
            <a:ahLst/>
            <a:cxnLst/>
            <a:rect l="l" t="t" r="r" b="b"/>
            <a:pathLst>
              <a:path w="205483" h="205483">
                <a:moveTo>
                  <a:pt x="0" y="32107"/>
                </a:moveTo>
                <a:cubicBezTo>
                  <a:pt x="0" y="21471"/>
                  <a:pt x="8629" y="12843"/>
                  <a:pt x="19264" y="12843"/>
                </a:cubicBezTo>
                <a:lnTo>
                  <a:pt x="57792" y="12843"/>
                </a:lnTo>
                <a:cubicBezTo>
                  <a:pt x="68427" y="12843"/>
                  <a:pt x="77056" y="21471"/>
                  <a:pt x="77056" y="32107"/>
                </a:cubicBezTo>
                <a:lnTo>
                  <a:pt x="77056" y="38528"/>
                </a:lnTo>
                <a:lnTo>
                  <a:pt x="128427" y="38528"/>
                </a:lnTo>
                <a:lnTo>
                  <a:pt x="128427" y="32107"/>
                </a:lnTo>
                <a:cubicBezTo>
                  <a:pt x="128427" y="21471"/>
                  <a:pt x="137056" y="12843"/>
                  <a:pt x="147691" y="12843"/>
                </a:cubicBezTo>
                <a:lnTo>
                  <a:pt x="186219" y="12843"/>
                </a:lnTo>
                <a:cubicBezTo>
                  <a:pt x="196854" y="12843"/>
                  <a:pt x="205483" y="21471"/>
                  <a:pt x="205483" y="32107"/>
                </a:cubicBezTo>
                <a:lnTo>
                  <a:pt x="205483" y="70635"/>
                </a:lnTo>
                <a:cubicBezTo>
                  <a:pt x="205483" y="81270"/>
                  <a:pt x="196854" y="89899"/>
                  <a:pt x="186219" y="89899"/>
                </a:cubicBezTo>
                <a:lnTo>
                  <a:pt x="147691" y="89899"/>
                </a:lnTo>
                <a:cubicBezTo>
                  <a:pt x="137056" y="89899"/>
                  <a:pt x="128427" y="81270"/>
                  <a:pt x="128427" y="70635"/>
                </a:cubicBezTo>
                <a:lnTo>
                  <a:pt x="128427" y="64213"/>
                </a:lnTo>
                <a:lnTo>
                  <a:pt x="77056" y="64213"/>
                </a:lnTo>
                <a:lnTo>
                  <a:pt x="77056" y="70635"/>
                </a:lnTo>
                <a:cubicBezTo>
                  <a:pt x="77056" y="73565"/>
                  <a:pt x="76374" y="76374"/>
                  <a:pt x="75210" y="78862"/>
                </a:cubicBezTo>
                <a:lnTo>
                  <a:pt x="102742" y="115584"/>
                </a:lnTo>
                <a:lnTo>
                  <a:pt x="134848" y="115584"/>
                </a:lnTo>
                <a:cubicBezTo>
                  <a:pt x="145484" y="115584"/>
                  <a:pt x="154112" y="124213"/>
                  <a:pt x="154112" y="134848"/>
                </a:cubicBezTo>
                <a:lnTo>
                  <a:pt x="154112" y="173376"/>
                </a:lnTo>
                <a:cubicBezTo>
                  <a:pt x="154112" y="184012"/>
                  <a:pt x="145484" y="192640"/>
                  <a:pt x="134848" y="192640"/>
                </a:cubicBezTo>
                <a:lnTo>
                  <a:pt x="96320" y="192640"/>
                </a:lnTo>
                <a:cubicBezTo>
                  <a:pt x="85685" y="192640"/>
                  <a:pt x="77056" y="184012"/>
                  <a:pt x="77056" y="173376"/>
                </a:cubicBezTo>
                <a:lnTo>
                  <a:pt x="77056" y="134848"/>
                </a:lnTo>
                <a:cubicBezTo>
                  <a:pt x="77056" y="131919"/>
                  <a:pt x="77738" y="129109"/>
                  <a:pt x="78902" y="126621"/>
                </a:cubicBezTo>
                <a:lnTo>
                  <a:pt x="51371" y="89899"/>
                </a:lnTo>
                <a:lnTo>
                  <a:pt x="19264" y="89899"/>
                </a:lnTo>
                <a:cubicBezTo>
                  <a:pt x="8629" y="89899"/>
                  <a:pt x="0" y="81270"/>
                  <a:pt x="0" y="70635"/>
                </a:cubicBezTo>
                <a:lnTo>
                  <a:pt x="0" y="32107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811658" y="1342492"/>
            <a:ext cx="10924854" cy="273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8" b="1" dirty="0">
                <a:solidFill>
                  <a:srgbClr val="38BD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Architecture 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229" y="1791022"/>
            <a:ext cx="1839074" cy="1137007"/>
          </a:xfrm>
          <a:custGeom>
            <a:avLst/>
            <a:gdLst/>
            <a:ahLst/>
            <a:cxnLst/>
            <a:rect l="l" t="t" r="r" b="b"/>
            <a:pathLst>
              <a:path w="1839074" h="1137007">
                <a:moveTo>
                  <a:pt x="102740" y="0"/>
                </a:moveTo>
                <a:lnTo>
                  <a:pt x="1736334" y="0"/>
                </a:lnTo>
                <a:cubicBezTo>
                  <a:pt x="1793076" y="0"/>
                  <a:pt x="1839074" y="45998"/>
                  <a:pt x="1839074" y="102740"/>
                </a:cubicBezTo>
                <a:lnTo>
                  <a:pt x="1839074" y="1034267"/>
                </a:lnTo>
                <a:cubicBezTo>
                  <a:pt x="1839074" y="1091009"/>
                  <a:pt x="1793076" y="1137007"/>
                  <a:pt x="1736334" y="1137007"/>
                </a:cubicBezTo>
                <a:lnTo>
                  <a:pt x="102740" y="1137007"/>
                </a:lnTo>
                <a:cubicBezTo>
                  <a:pt x="45998" y="1137007"/>
                  <a:pt x="0" y="1091009"/>
                  <a:pt x="0" y="1034267"/>
                </a:cubicBezTo>
                <a:lnTo>
                  <a:pt x="0" y="102740"/>
                </a:lnTo>
                <a:cubicBezTo>
                  <a:pt x="0" y="46036"/>
                  <a:pt x="46036" y="0"/>
                  <a:pt x="102740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72604" y="1931434"/>
            <a:ext cx="410966" cy="410966"/>
          </a:xfrm>
          <a:custGeom>
            <a:avLst/>
            <a:gdLst/>
            <a:ahLst/>
            <a:cxnLst/>
            <a:rect l="l" t="t" r="r" b="b"/>
            <a:pathLst>
              <a:path w="410966" h="410966">
                <a:moveTo>
                  <a:pt x="102742" y="0"/>
                </a:moveTo>
                <a:lnTo>
                  <a:pt x="308225" y="0"/>
                </a:lnTo>
                <a:cubicBezTo>
                  <a:pt x="364967" y="0"/>
                  <a:pt x="410966" y="45999"/>
                  <a:pt x="410966" y="102742"/>
                </a:cubicBezTo>
                <a:lnTo>
                  <a:pt x="410966" y="308225"/>
                </a:lnTo>
                <a:cubicBezTo>
                  <a:pt x="410966" y="364967"/>
                  <a:pt x="364967" y="410966"/>
                  <a:pt x="308225" y="410966"/>
                </a:cubicBezTo>
                <a:lnTo>
                  <a:pt x="102742" y="410966"/>
                </a:lnTo>
                <a:cubicBezTo>
                  <a:pt x="45999" y="410966"/>
                  <a:pt x="0" y="364967"/>
                  <a:pt x="0" y="308225"/>
                </a:cubicBezTo>
                <a:lnTo>
                  <a:pt x="0" y="102742"/>
                </a:lnTo>
                <a:cubicBezTo>
                  <a:pt x="0" y="45999"/>
                  <a:pt x="45999" y="0"/>
                  <a:pt x="102742" y="0"/>
                </a:cubicBezTo>
                <a:close/>
              </a:path>
            </a:pathLst>
          </a:custGeom>
          <a:solidFill>
            <a:srgbClr val="38BDF8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03172" y="2051299"/>
            <a:ext cx="149831" cy="171236"/>
          </a:xfrm>
          <a:custGeom>
            <a:avLst/>
            <a:gdLst/>
            <a:ahLst/>
            <a:cxnLst/>
            <a:rect l="l" t="t" r="r" b="b"/>
            <a:pathLst>
              <a:path w="149831" h="171236">
                <a:moveTo>
                  <a:pt x="74916" y="82942"/>
                </a:moveTo>
                <a:cubicBezTo>
                  <a:pt x="97066" y="82942"/>
                  <a:pt x="115049" y="64959"/>
                  <a:pt x="115049" y="42809"/>
                </a:cubicBezTo>
                <a:cubicBezTo>
                  <a:pt x="115049" y="20659"/>
                  <a:pt x="97066" y="2676"/>
                  <a:pt x="74916" y="2676"/>
                </a:cubicBezTo>
                <a:cubicBezTo>
                  <a:pt x="52765" y="2676"/>
                  <a:pt x="34782" y="20659"/>
                  <a:pt x="34782" y="42809"/>
                </a:cubicBezTo>
                <a:cubicBezTo>
                  <a:pt x="34782" y="64959"/>
                  <a:pt x="52765" y="82942"/>
                  <a:pt x="74916" y="82942"/>
                </a:cubicBezTo>
                <a:close/>
                <a:moveTo>
                  <a:pt x="64983" y="101671"/>
                </a:moveTo>
                <a:cubicBezTo>
                  <a:pt x="32040" y="101671"/>
                  <a:pt x="5351" y="128360"/>
                  <a:pt x="5351" y="161303"/>
                </a:cubicBezTo>
                <a:cubicBezTo>
                  <a:pt x="5351" y="166788"/>
                  <a:pt x="9799" y="171236"/>
                  <a:pt x="15284" y="171236"/>
                </a:cubicBezTo>
                <a:lnTo>
                  <a:pt x="134547" y="171236"/>
                </a:lnTo>
                <a:cubicBezTo>
                  <a:pt x="140032" y="171236"/>
                  <a:pt x="144480" y="166788"/>
                  <a:pt x="144480" y="161303"/>
                </a:cubicBezTo>
                <a:cubicBezTo>
                  <a:pt x="144480" y="128360"/>
                  <a:pt x="117792" y="101671"/>
                  <a:pt x="84849" y="101671"/>
                </a:cubicBezTo>
                <a:lnTo>
                  <a:pt x="64983" y="101671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664395" y="2410894"/>
            <a:ext cx="1626742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9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8676" y="2616378"/>
            <a:ext cx="1618180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4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API Consumer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29797" y="2256782"/>
            <a:ext cx="205483" cy="205483"/>
          </a:xfrm>
          <a:custGeom>
            <a:avLst/>
            <a:gdLst/>
            <a:ahLst/>
            <a:cxnLst/>
            <a:rect l="l" t="t" r="r" b="b"/>
            <a:pathLst>
              <a:path w="205483" h="205483">
                <a:moveTo>
                  <a:pt x="201711" y="111812"/>
                </a:moveTo>
                <a:cubicBezTo>
                  <a:pt x="206727" y="106795"/>
                  <a:pt x="206727" y="98648"/>
                  <a:pt x="201711" y="93631"/>
                </a:cubicBezTo>
                <a:lnTo>
                  <a:pt x="137497" y="29418"/>
                </a:lnTo>
                <a:cubicBezTo>
                  <a:pt x="132480" y="24401"/>
                  <a:pt x="124333" y="24401"/>
                  <a:pt x="119317" y="29418"/>
                </a:cubicBezTo>
                <a:cubicBezTo>
                  <a:pt x="114300" y="34434"/>
                  <a:pt x="114300" y="42582"/>
                  <a:pt x="119317" y="47598"/>
                </a:cubicBezTo>
                <a:lnTo>
                  <a:pt x="161617" y="89899"/>
                </a:lnTo>
                <a:lnTo>
                  <a:pt x="12843" y="89899"/>
                </a:lnTo>
                <a:cubicBezTo>
                  <a:pt x="5739" y="89899"/>
                  <a:pt x="0" y="95638"/>
                  <a:pt x="0" y="102742"/>
                </a:cubicBezTo>
                <a:cubicBezTo>
                  <a:pt x="0" y="109845"/>
                  <a:pt x="5739" y="115584"/>
                  <a:pt x="12843" y="115584"/>
                </a:cubicBezTo>
                <a:lnTo>
                  <a:pt x="161617" y="115584"/>
                </a:lnTo>
                <a:lnTo>
                  <a:pt x="119317" y="157885"/>
                </a:lnTo>
                <a:cubicBezTo>
                  <a:pt x="114300" y="162902"/>
                  <a:pt x="114300" y="171049"/>
                  <a:pt x="119317" y="176065"/>
                </a:cubicBezTo>
                <a:cubicBezTo>
                  <a:pt x="124333" y="181082"/>
                  <a:pt x="132480" y="181082"/>
                  <a:pt x="137497" y="176065"/>
                </a:cubicBezTo>
                <a:lnTo>
                  <a:pt x="201711" y="111852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5" name="Shape 13"/>
          <p:cNvSpPr/>
          <p:nvPr/>
        </p:nvSpPr>
        <p:spPr>
          <a:xfrm>
            <a:off x="2867132" y="1791022"/>
            <a:ext cx="1839074" cy="1137007"/>
          </a:xfrm>
          <a:custGeom>
            <a:avLst/>
            <a:gdLst/>
            <a:ahLst/>
            <a:cxnLst/>
            <a:rect l="l" t="t" r="r" b="b"/>
            <a:pathLst>
              <a:path w="1839074" h="1137007">
                <a:moveTo>
                  <a:pt x="102740" y="0"/>
                </a:moveTo>
                <a:lnTo>
                  <a:pt x="1736334" y="0"/>
                </a:lnTo>
                <a:cubicBezTo>
                  <a:pt x="1793076" y="0"/>
                  <a:pt x="1839074" y="45998"/>
                  <a:pt x="1839074" y="102740"/>
                </a:cubicBezTo>
                <a:lnTo>
                  <a:pt x="1839074" y="1034267"/>
                </a:lnTo>
                <a:cubicBezTo>
                  <a:pt x="1839074" y="1091009"/>
                  <a:pt x="1793076" y="1137007"/>
                  <a:pt x="1736334" y="1137007"/>
                </a:cubicBezTo>
                <a:lnTo>
                  <a:pt x="102740" y="1137007"/>
                </a:lnTo>
                <a:cubicBezTo>
                  <a:pt x="45998" y="1137007"/>
                  <a:pt x="0" y="1091009"/>
                  <a:pt x="0" y="1034267"/>
                </a:cubicBezTo>
                <a:lnTo>
                  <a:pt x="0" y="102740"/>
                </a:lnTo>
                <a:cubicBezTo>
                  <a:pt x="0" y="46036"/>
                  <a:pt x="46036" y="0"/>
                  <a:pt x="102740" y="0"/>
                </a:cubicBezTo>
                <a:close/>
              </a:path>
            </a:pathLst>
          </a:custGeom>
          <a:gradFill rotWithShape="1" flip="none">
            <a:gsLst>
              <a:gs pos="0">
                <a:srgbClr val="2DD4B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81507" y="1931434"/>
            <a:ext cx="410966" cy="410966"/>
          </a:xfrm>
          <a:custGeom>
            <a:avLst/>
            <a:gdLst/>
            <a:ahLst/>
            <a:cxnLst/>
            <a:rect l="l" t="t" r="r" b="b"/>
            <a:pathLst>
              <a:path w="410966" h="410966">
                <a:moveTo>
                  <a:pt x="102742" y="0"/>
                </a:moveTo>
                <a:lnTo>
                  <a:pt x="308225" y="0"/>
                </a:lnTo>
                <a:cubicBezTo>
                  <a:pt x="364967" y="0"/>
                  <a:pt x="410966" y="45999"/>
                  <a:pt x="410966" y="102742"/>
                </a:cubicBezTo>
                <a:lnTo>
                  <a:pt x="410966" y="308225"/>
                </a:lnTo>
                <a:cubicBezTo>
                  <a:pt x="410966" y="364967"/>
                  <a:pt x="364967" y="410966"/>
                  <a:pt x="308225" y="410966"/>
                </a:cubicBezTo>
                <a:lnTo>
                  <a:pt x="102742" y="410966"/>
                </a:lnTo>
                <a:cubicBezTo>
                  <a:pt x="45999" y="410966"/>
                  <a:pt x="0" y="364967"/>
                  <a:pt x="0" y="308225"/>
                </a:cubicBezTo>
                <a:lnTo>
                  <a:pt x="0" y="102742"/>
                </a:lnTo>
                <a:cubicBezTo>
                  <a:pt x="0" y="45999"/>
                  <a:pt x="45999" y="0"/>
                  <a:pt x="102742" y="0"/>
                </a:cubicBezTo>
                <a:close/>
              </a:path>
            </a:pathLst>
          </a:custGeom>
          <a:solidFill>
            <a:srgbClr val="2DD4BF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701372" y="2051299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85618" y="0"/>
                </a:moveTo>
                <a:cubicBezTo>
                  <a:pt x="87156" y="0"/>
                  <a:pt x="88695" y="334"/>
                  <a:pt x="90100" y="970"/>
                </a:cubicBezTo>
                <a:lnTo>
                  <a:pt x="153109" y="27692"/>
                </a:lnTo>
                <a:cubicBezTo>
                  <a:pt x="160467" y="30802"/>
                  <a:pt x="165952" y="38060"/>
                  <a:pt x="165918" y="46822"/>
                </a:cubicBezTo>
                <a:cubicBezTo>
                  <a:pt x="165751" y="79999"/>
                  <a:pt x="152106" y="140701"/>
                  <a:pt x="94481" y="168293"/>
                </a:cubicBezTo>
                <a:cubicBezTo>
                  <a:pt x="88896" y="170968"/>
                  <a:pt x="82407" y="170968"/>
                  <a:pt x="76822" y="168293"/>
                </a:cubicBezTo>
                <a:cubicBezTo>
                  <a:pt x="19164" y="140701"/>
                  <a:pt x="5552" y="79999"/>
                  <a:pt x="5385" y="46822"/>
                </a:cubicBezTo>
                <a:cubicBezTo>
                  <a:pt x="5351" y="38060"/>
                  <a:pt x="10836" y="30802"/>
                  <a:pt x="18194" y="27692"/>
                </a:cubicBezTo>
                <a:lnTo>
                  <a:pt x="81170" y="970"/>
                </a:lnTo>
                <a:cubicBezTo>
                  <a:pt x="82575" y="334"/>
                  <a:pt x="84080" y="0"/>
                  <a:pt x="85618" y="0"/>
                </a:cubicBezTo>
                <a:close/>
                <a:moveTo>
                  <a:pt x="85618" y="22341"/>
                </a:moveTo>
                <a:lnTo>
                  <a:pt x="85618" y="148795"/>
                </a:lnTo>
                <a:cubicBezTo>
                  <a:pt x="131771" y="126454"/>
                  <a:pt x="144179" y="76956"/>
                  <a:pt x="144480" y="47324"/>
                </a:cubicBezTo>
                <a:lnTo>
                  <a:pt x="85618" y="22374"/>
                </a:lnTo>
                <a:lnTo>
                  <a:pt x="85618" y="22374"/>
                </a:ln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2973298" y="2410894"/>
            <a:ext cx="1626742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9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977579" y="2616378"/>
            <a:ext cx="1618180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4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Entry Point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38807" y="2256782"/>
            <a:ext cx="205483" cy="205483"/>
          </a:xfrm>
          <a:custGeom>
            <a:avLst/>
            <a:gdLst/>
            <a:ahLst/>
            <a:cxnLst/>
            <a:rect l="l" t="t" r="r" b="b"/>
            <a:pathLst>
              <a:path w="205483" h="205483">
                <a:moveTo>
                  <a:pt x="201711" y="111812"/>
                </a:moveTo>
                <a:cubicBezTo>
                  <a:pt x="206727" y="106795"/>
                  <a:pt x="206727" y="98648"/>
                  <a:pt x="201711" y="93631"/>
                </a:cubicBezTo>
                <a:lnTo>
                  <a:pt x="137497" y="29418"/>
                </a:lnTo>
                <a:cubicBezTo>
                  <a:pt x="132480" y="24401"/>
                  <a:pt x="124333" y="24401"/>
                  <a:pt x="119317" y="29418"/>
                </a:cubicBezTo>
                <a:cubicBezTo>
                  <a:pt x="114300" y="34434"/>
                  <a:pt x="114300" y="42582"/>
                  <a:pt x="119317" y="47598"/>
                </a:cubicBezTo>
                <a:lnTo>
                  <a:pt x="161617" y="89899"/>
                </a:lnTo>
                <a:lnTo>
                  <a:pt x="12843" y="89899"/>
                </a:lnTo>
                <a:cubicBezTo>
                  <a:pt x="5739" y="89899"/>
                  <a:pt x="0" y="95638"/>
                  <a:pt x="0" y="102742"/>
                </a:cubicBezTo>
                <a:cubicBezTo>
                  <a:pt x="0" y="109845"/>
                  <a:pt x="5739" y="115584"/>
                  <a:pt x="12843" y="115584"/>
                </a:cubicBezTo>
                <a:lnTo>
                  <a:pt x="161617" y="115584"/>
                </a:lnTo>
                <a:lnTo>
                  <a:pt x="119317" y="157885"/>
                </a:lnTo>
                <a:cubicBezTo>
                  <a:pt x="114300" y="162902"/>
                  <a:pt x="114300" y="171049"/>
                  <a:pt x="119317" y="176065"/>
                </a:cubicBezTo>
                <a:cubicBezTo>
                  <a:pt x="124333" y="181082"/>
                  <a:pt x="132480" y="181082"/>
                  <a:pt x="137497" y="176065"/>
                </a:cubicBezTo>
                <a:lnTo>
                  <a:pt x="201711" y="111852"/>
                </a:ln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21" name="Shape 19"/>
          <p:cNvSpPr/>
          <p:nvPr/>
        </p:nvSpPr>
        <p:spPr>
          <a:xfrm>
            <a:off x="5176142" y="1791022"/>
            <a:ext cx="1839074" cy="1137007"/>
          </a:xfrm>
          <a:custGeom>
            <a:avLst/>
            <a:gdLst/>
            <a:ahLst/>
            <a:cxnLst/>
            <a:rect l="l" t="t" r="r" b="b"/>
            <a:pathLst>
              <a:path w="1839074" h="1137007">
                <a:moveTo>
                  <a:pt x="102740" y="0"/>
                </a:moveTo>
                <a:lnTo>
                  <a:pt x="1736334" y="0"/>
                </a:lnTo>
                <a:cubicBezTo>
                  <a:pt x="1793076" y="0"/>
                  <a:pt x="1839074" y="45998"/>
                  <a:pt x="1839074" y="102740"/>
                </a:cubicBezTo>
                <a:lnTo>
                  <a:pt x="1839074" y="1034267"/>
                </a:lnTo>
                <a:cubicBezTo>
                  <a:pt x="1839074" y="1091009"/>
                  <a:pt x="1793076" y="1137007"/>
                  <a:pt x="1736334" y="1137007"/>
                </a:cubicBezTo>
                <a:lnTo>
                  <a:pt x="102740" y="1137007"/>
                </a:lnTo>
                <a:cubicBezTo>
                  <a:pt x="45998" y="1137007"/>
                  <a:pt x="0" y="1091009"/>
                  <a:pt x="0" y="1034267"/>
                </a:cubicBezTo>
                <a:lnTo>
                  <a:pt x="0" y="102740"/>
                </a:lnTo>
                <a:cubicBezTo>
                  <a:pt x="0" y="46036"/>
                  <a:pt x="46036" y="0"/>
                  <a:pt x="102740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0517" y="1931434"/>
            <a:ext cx="410966" cy="410966"/>
          </a:xfrm>
          <a:custGeom>
            <a:avLst/>
            <a:gdLst/>
            <a:ahLst/>
            <a:cxnLst/>
            <a:rect l="l" t="t" r="r" b="b"/>
            <a:pathLst>
              <a:path w="410966" h="410966">
                <a:moveTo>
                  <a:pt x="102742" y="0"/>
                </a:moveTo>
                <a:lnTo>
                  <a:pt x="308225" y="0"/>
                </a:lnTo>
                <a:cubicBezTo>
                  <a:pt x="364967" y="0"/>
                  <a:pt x="410966" y="45999"/>
                  <a:pt x="410966" y="102742"/>
                </a:cubicBezTo>
                <a:lnTo>
                  <a:pt x="410966" y="308225"/>
                </a:lnTo>
                <a:cubicBezTo>
                  <a:pt x="410966" y="364967"/>
                  <a:pt x="364967" y="410966"/>
                  <a:pt x="308225" y="410966"/>
                </a:cubicBezTo>
                <a:lnTo>
                  <a:pt x="102742" y="410966"/>
                </a:lnTo>
                <a:cubicBezTo>
                  <a:pt x="45999" y="410966"/>
                  <a:pt x="0" y="364967"/>
                  <a:pt x="0" y="308225"/>
                </a:cubicBezTo>
                <a:lnTo>
                  <a:pt x="0" y="102742"/>
                </a:lnTo>
                <a:cubicBezTo>
                  <a:pt x="0" y="45999"/>
                  <a:pt x="45999" y="0"/>
                  <a:pt x="102742" y="0"/>
                </a:cubicBezTo>
                <a:close/>
              </a:path>
            </a:pathLst>
          </a:custGeom>
          <a:solidFill>
            <a:srgbClr val="38BDF8">
              <a:alpha val="3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010382" y="2051299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0" y="85618"/>
                </a:moveTo>
                <a:cubicBezTo>
                  <a:pt x="0" y="38364"/>
                  <a:pt x="38364" y="0"/>
                  <a:pt x="85618" y="0"/>
                </a:cubicBezTo>
                <a:cubicBezTo>
                  <a:pt x="132872" y="0"/>
                  <a:pt x="171236" y="38364"/>
                  <a:pt x="171236" y="85618"/>
                </a:cubicBezTo>
                <a:cubicBezTo>
                  <a:pt x="171236" y="132872"/>
                  <a:pt x="132872" y="171236"/>
                  <a:pt x="85618" y="171236"/>
                </a:cubicBezTo>
                <a:cubicBezTo>
                  <a:pt x="38364" y="171236"/>
                  <a:pt x="0" y="132872"/>
                  <a:pt x="0" y="85618"/>
                </a:cubicBezTo>
                <a:close/>
                <a:moveTo>
                  <a:pt x="96320" y="32107"/>
                </a:moveTo>
                <a:cubicBezTo>
                  <a:pt x="96320" y="26200"/>
                  <a:pt x="91525" y="21404"/>
                  <a:pt x="85618" y="21404"/>
                </a:cubicBezTo>
                <a:cubicBezTo>
                  <a:pt x="79711" y="21404"/>
                  <a:pt x="74916" y="26200"/>
                  <a:pt x="74916" y="32107"/>
                </a:cubicBezTo>
                <a:cubicBezTo>
                  <a:pt x="74916" y="38013"/>
                  <a:pt x="79711" y="42809"/>
                  <a:pt x="85618" y="42809"/>
                </a:cubicBezTo>
                <a:cubicBezTo>
                  <a:pt x="91525" y="42809"/>
                  <a:pt x="96320" y="38013"/>
                  <a:pt x="96320" y="32107"/>
                </a:cubicBezTo>
                <a:close/>
                <a:moveTo>
                  <a:pt x="85618" y="139129"/>
                </a:moveTo>
                <a:cubicBezTo>
                  <a:pt x="97424" y="139129"/>
                  <a:pt x="107022" y="129531"/>
                  <a:pt x="107022" y="117725"/>
                </a:cubicBezTo>
                <a:cubicBezTo>
                  <a:pt x="107022" y="112307"/>
                  <a:pt x="105016" y="107323"/>
                  <a:pt x="101671" y="103578"/>
                </a:cubicBezTo>
                <a:lnTo>
                  <a:pt x="124915" y="57123"/>
                </a:lnTo>
                <a:cubicBezTo>
                  <a:pt x="126889" y="53143"/>
                  <a:pt x="125283" y="48327"/>
                  <a:pt x="121337" y="46354"/>
                </a:cubicBezTo>
                <a:cubicBezTo>
                  <a:pt x="117390" y="44381"/>
                  <a:pt x="112541" y="45986"/>
                  <a:pt x="110568" y="49933"/>
                </a:cubicBezTo>
                <a:lnTo>
                  <a:pt x="87324" y="96387"/>
                </a:lnTo>
                <a:cubicBezTo>
                  <a:pt x="86755" y="96354"/>
                  <a:pt x="86187" y="96320"/>
                  <a:pt x="85618" y="96320"/>
                </a:cubicBezTo>
                <a:cubicBezTo>
                  <a:pt x="73812" y="96320"/>
                  <a:pt x="64213" y="105919"/>
                  <a:pt x="64213" y="117725"/>
                </a:cubicBezTo>
                <a:cubicBezTo>
                  <a:pt x="64213" y="129531"/>
                  <a:pt x="73812" y="139129"/>
                  <a:pt x="85618" y="139129"/>
                </a:cubicBezTo>
                <a:close/>
                <a:moveTo>
                  <a:pt x="58862" y="48160"/>
                </a:moveTo>
                <a:cubicBezTo>
                  <a:pt x="58862" y="42253"/>
                  <a:pt x="54067" y="37458"/>
                  <a:pt x="48160" y="37458"/>
                </a:cubicBezTo>
                <a:cubicBezTo>
                  <a:pt x="42253" y="37458"/>
                  <a:pt x="37458" y="42253"/>
                  <a:pt x="37458" y="48160"/>
                </a:cubicBezTo>
                <a:cubicBezTo>
                  <a:pt x="37458" y="54067"/>
                  <a:pt x="42253" y="58862"/>
                  <a:pt x="48160" y="58862"/>
                </a:cubicBezTo>
                <a:cubicBezTo>
                  <a:pt x="54067" y="58862"/>
                  <a:pt x="58862" y="54067"/>
                  <a:pt x="58862" y="48160"/>
                </a:cubicBezTo>
                <a:close/>
                <a:moveTo>
                  <a:pt x="32107" y="96320"/>
                </a:moveTo>
                <a:cubicBezTo>
                  <a:pt x="38013" y="96320"/>
                  <a:pt x="42809" y="91525"/>
                  <a:pt x="42809" y="85618"/>
                </a:cubicBezTo>
                <a:cubicBezTo>
                  <a:pt x="42809" y="79711"/>
                  <a:pt x="38013" y="74916"/>
                  <a:pt x="32107" y="74916"/>
                </a:cubicBezTo>
                <a:cubicBezTo>
                  <a:pt x="26200" y="74916"/>
                  <a:pt x="21404" y="79711"/>
                  <a:pt x="21404" y="85618"/>
                </a:cubicBezTo>
                <a:cubicBezTo>
                  <a:pt x="21404" y="91525"/>
                  <a:pt x="26200" y="96320"/>
                  <a:pt x="32107" y="96320"/>
                </a:cubicBezTo>
                <a:close/>
                <a:moveTo>
                  <a:pt x="149831" y="85618"/>
                </a:moveTo>
                <a:cubicBezTo>
                  <a:pt x="149831" y="79711"/>
                  <a:pt x="145036" y="74916"/>
                  <a:pt x="139129" y="74916"/>
                </a:cubicBezTo>
                <a:cubicBezTo>
                  <a:pt x="133222" y="74916"/>
                  <a:pt x="128427" y="79711"/>
                  <a:pt x="128427" y="85618"/>
                </a:cubicBezTo>
                <a:cubicBezTo>
                  <a:pt x="128427" y="91525"/>
                  <a:pt x="133222" y="96320"/>
                  <a:pt x="139129" y="96320"/>
                </a:cubicBezTo>
                <a:cubicBezTo>
                  <a:pt x="145036" y="96320"/>
                  <a:pt x="149831" y="91525"/>
                  <a:pt x="149831" y="85618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5282308" y="2410894"/>
            <a:ext cx="1626742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9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Rate Limiter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86589" y="2616378"/>
            <a:ext cx="1618180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4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Enforcer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47710" y="2256782"/>
            <a:ext cx="205483" cy="205483"/>
          </a:xfrm>
          <a:custGeom>
            <a:avLst/>
            <a:gdLst/>
            <a:ahLst/>
            <a:cxnLst/>
            <a:rect l="l" t="t" r="r" b="b"/>
            <a:pathLst>
              <a:path w="205483" h="205483">
                <a:moveTo>
                  <a:pt x="201711" y="111812"/>
                </a:moveTo>
                <a:cubicBezTo>
                  <a:pt x="206727" y="106795"/>
                  <a:pt x="206727" y="98648"/>
                  <a:pt x="201711" y="93631"/>
                </a:cubicBezTo>
                <a:lnTo>
                  <a:pt x="137497" y="29418"/>
                </a:lnTo>
                <a:cubicBezTo>
                  <a:pt x="132480" y="24401"/>
                  <a:pt x="124333" y="24401"/>
                  <a:pt x="119317" y="29418"/>
                </a:cubicBezTo>
                <a:cubicBezTo>
                  <a:pt x="114300" y="34434"/>
                  <a:pt x="114300" y="42582"/>
                  <a:pt x="119317" y="47598"/>
                </a:cubicBezTo>
                <a:lnTo>
                  <a:pt x="161617" y="89899"/>
                </a:lnTo>
                <a:lnTo>
                  <a:pt x="12843" y="89899"/>
                </a:lnTo>
                <a:cubicBezTo>
                  <a:pt x="5739" y="89899"/>
                  <a:pt x="0" y="95638"/>
                  <a:pt x="0" y="102742"/>
                </a:cubicBezTo>
                <a:cubicBezTo>
                  <a:pt x="0" y="109845"/>
                  <a:pt x="5739" y="115584"/>
                  <a:pt x="12843" y="115584"/>
                </a:cubicBezTo>
                <a:lnTo>
                  <a:pt x="161617" y="115584"/>
                </a:lnTo>
                <a:lnTo>
                  <a:pt x="119317" y="157885"/>
                </a:lnTo>
                <a:cubicBezTo>
                  <a:pt x="114300" y="162902"/>
                  <a:pt x="114300" y="171049"/>
                  <a:pt x="119317" y="176065"/>
                </a:cubicBezTo>
                <a:cubicBezTo>
                  <a:pt x="124333" y="181082"/>
                  <a:pt x="132480" y="181082"/>
                  <a:pt x="137497" y="176065"/>
                </a:cubicBezTo>
                <a:lnTo>
                  <a:pt x="201711" y="111852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485045" y="1791022"/>
            <a:ext cx="1839074" cy="1137007"/>
          </a:xfrm>
          <a:custGeom>
            <a:avLst/>
            <a:gdLst/>
            <a:ahLst/>
            <a:cxnLst/>
            <a:rect l="l" t="t" r="r" b="b"/>
            <a:pathLst>
              <a:path w="1839074" h="1137007">
                <a:moveTo>
                  <a:pt x="102740" y="0"/>
                </a:moveTo>
                <a:lnTo>
                  <a:pt x="1736334" y="0"/>
                </a:lnTo>
                <a:cubicBezTo>
                  <a:pt x="1793076" y="0"/>
                  <a:pt x="1839074" y="45998"/>
                  <a:pt x="1839074" y="102740"/>
                </a:cubicBezTo>
                <a:lnTo>
                  <a:pt x="1839074" y="1034267"/>
                </a:lnTo>
                <a:cubicBezTo>
                  <a:pt x="1839074" y="1091009"/>
                  <a:pt x="1793076" y="1137007"/>
                  <a:pt x="1736334" y="1137007"/>
                </a:cubicBezTo>
                <a:lnTo>
                  <a:pt x="102740" y="1137007"/>
                </a:lnTo>
                <a:cubicBezTo>
                  <a:pt x="45998" y="1137007"/>
                  <a:pt x="0" y="1091009"/>
                  <a:pt x="0" y="1034267"/>
                </a:cubicBezTo>
                <a:lnTo>
                  <a:pt x="0" y="102740"/>
                </a:lnTo>
                <a:cubicBezTo>
                  <a:pt x="0" y="46036"/>
                  <a:pt x="46036" y="0"/>
                  <a:pt x="102740" y="0"/>
                </a:cubicBezTo>
                <a:close/>
              </a:path>
            </a:pathLst>
          </a:custGeom>
          <a:gradFill rotWithShape="1" flip="none">
            <a:gsLst>
              <a:gs pos="0">
                <a:srgbClr val="2DD4B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99420" y="1931434"/>
            <a:ext cx="410966" cy="410966"/>
          </a:xfrm>
          <a:custGeom>
            <a:avLst/>
            <a:gdLst/>
            <a:ahLst/>
            <a:cxnLst/>
            <a:rect l="l" t="t" r="r" b="b"/>
            <a:pathLst>
              <a:path w="410966" h="410966">
                <a:moveTo>
                  <a:pt x="102742" y="0"/>
                </a:moveTo>
                <a:lnTo>
                  <a:pt x="308225" y="0"/>
                </a:lnTo>
                <a:cubicBezTo>
                  <a:pt x="364967" y="0"/>
                  <a:pt x="410966" y="45999"/>
                  <a:pt x="410966" y="102742"/>
                </a:cubicBezTo>
                <a:lnTo>
                  <a:pt x="410966" y="308225"/>
                </a:lnTo>
                <a:cubicBezTo>
                  <a:pt x="410966" y="364967"/>
                  <a:pt x="364967" y="410966"/>
                  <a:pt x="308225" y="410966"/>
                </a:cubicBezTo>
                <a:lnTo>
                  <a:pt x="102742" y="410966"/>
                </a:lnTo>
                <a:cubicBezTo>
                  <a:pt x="45999" y="410966"/>
                  <a:pt x="0" y="364967"/>
                  <a:pt x="0" y="308225"/>
                </a:cubicBezTo>
                <a:lnTo>
                  <a:pt x="0" y="102742"/>
                </a:lnTo>
                <a:cubicBezTo>
                  <a:pt x="0" y="45999"/>
                  <a:pt x="45999" y="0"/>
                  <a:pt x="102742" y="0"/>
                </a:cubicBezTo>
                <a:close/>
              </a:path>
            </a:pathLst>
          </a:custGeom>
          <a:solidFill>
            <a:srgbClr val="2DD4BF">
              <a:alpha val="3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29987" y="2051299"/>
            <a:ext cx="149831" cy="171236"/>
          </a:xfrm>
          <a:custGeom>
            <a:avLst/>
            <a:gdLst/>
            <a:ahLst/>
            <a:cxnLst/>
            <a:rect l="l" t="t" r="r" b="b"/>
            <a:pathLst>
              <a:path w="149831" h="171236">
                <a:moveTo>
                  <a:pt x="74916" y="133377"/>
                </a:moveTo>
                <a:cubicBezTo>
                  <a:pt x="70969" y="135082"/>
                  <a:pt x="67090" y="136621"/>
                  <a:pt x="63244" y="137892"/>
                </a:cubicBezTo>
                <a:cubicBezTo>
                  <a:pt x="68829" y="149196"/>
                  <a:pt x="73611" y="149831"/>
                  <a:pt x="74916" y="149831"/>
                </a:cubicBezTo>
                <a:cubicBezTo>
                  <a:pt x="76220" y="149831"/>
                  <a:pt x="80969" y="149196"/>
                  <a:pt x="86588" y="137892"/>
                </a:cubicBezTo>
                <a:cubicBezTo>
                  <a:pt x="82775" y="136587"/>
                  <a:pt x="78862" y="135082"/>
                  <a:pt x="74916" y="133377"/>
                </a:cubicBezTo>
                <a:close/>
                <a:moveTo>
                  <a:pt x="138460" y="85618"/>
                </a:moveTo>
                <a:cubicBezTo>
                  <a:pt x="149497" y="100735"/>
                  <a:pt x="153276" y="116019"/>
                  <a:pt x="146353" y="128427"/>
                </a:cubicBezTo>
                <a:cubicBezTo>
                  <a:pt x="139597" y="140567"/>
                  <a:pt x="125450" y="144915"/>
                  <a:pt x="107825" y="142875"/>
                </a:cubicBezTo>
                <a:cubicBezTo>
                  <a:pt x="100467" y="160300"/>
                  <a:pt x="89197" y="171236"/>
                  <a:pt x="74916" y="171236"/>
                </a:cubicBezTo>
                <a:cubicBezTo>
                  <a:pt x="60635" y="171236"/>
                  <a:pt x="49364" y="160300"/>
                  <a:pt x="42006" y="142875"/>
                </a:cubicBezTo>
                <a:cubicBezTo>
                  <a:pt x="24381" y="144915"/>
                  <a:pt x="10234" y="140567"/>
                  <a:pt x="3478" y="128427"/>
                </a:cubicBezTo>
                <a:cubicBezTo>
                  <a:pt x="-3445" y="116019"/>
                  <a:pt x="334" y="100735"/>
                  <a:pt x="11371" y="85618"/>
                </a:cubicBezTo>
                <a:cubicBezTo>
                  <a:pt x="334" y="70501"/>
                  <a:pt x="-3445" y="55217"/>
                  <a:pt x="3478" y="42809"/>
                </a:cubicBezTo>
                <a:cubicBezTo>
                  <a:pt x="10234" y="30669"/>
                  <a:pt x="24381" y="26321"/>
                  <a:pt x="42006" y="28361"/>
                </a:cubicBezTo>
                <a:cubicBezTo>
                  <a:pt x="49364" y="10936"/>
                  <a:pt x="60601" y="0"/>
                  <a:pt x="74916" y="0"/>
                </a:cubicBezTo>
                <a:cubicBezTo>
                  <a:pt x="89230" y="0"/>
                  <a:pt x="100467" y="10936"/>
                  <a:pt x="107825" y="28361"/>
                </a:cubicBezTo>
                <a:cubicBezTo>
                  <a:pt x="125450" y="26321"/>
                  <a:pt x="139597" y="30635"/>
                  <a:pt x="146353" y="42809"/>
                </a:cubicBezTo>
                <a:cubicBezTo>
                  <a:pt x="153276" y="55217"/>
                  <a:pt x="149497" y="70501"/>
                  <a:pt x="138460" y="85618"/>
                </a:cubicBezTo>
                <a:close/>
                <a:moveTo>
                  <a:pt x="116454" y="108160"/>
                </a:moveTo>
                <a:cubicBezTo>
                  <a:pt x="115885" y="112909"/>
                  <a:pt x="115149" y="117524"/>
                  <a:pt x="114213" y="121939"/>
                </a:cubicBezTo>
                <a:cubicBezTo>
                  <a:pt x="124848" y="122407"/>
                  <a:pt x="127123" y="119029"/>
                  <a:pt x="127658" y="118026"/>
                </a:cubicBezTo>
                <a:cubicBezTo>
                  <a:pt x="128427" y="116621"/>
                  <a:pt x="129999" y="112039"/>
                  <a:pt x="123678" y="101939"/>
                </a:cubicBezTo>
                <a:cubicBezTo>
                  <a:pt x="121404" y="104046"/>
                  <a:pt x="118996" y="106119"/>
                  <a:pt x="116454" y="108160"/>
                </a:cubicBezTo>
                <a:close/>
                <a:moveTo>
                  <a:pt x="114213" y="49331"/>
                </a:moveTo>
                <a:cubicBezTo>
                  <a:pt x="115149" y="53712"/>
                  <a:pt x="115885" y="58327"/>
                  <a:pt x="116454" y="63110"/>
                </a:cubicBezTo>
                <a:cubicBezTo>
                  <a:pt x="118996" y="65150"/>
                  <a:pt x="121404" y="67223"/>
                  <a:pt x="123678" y="69330"/>
                </a:cubicBezTo>
                <a:cubicBezTo>
                  <a:pt x="129999" y="59230"/>
                  <a:pt x="128427" y="54615"/>
                  <a:pt x="127658" y="53244"/>
                </a:cubicBezTo>
                <a:cubicBezTo>
                  <a:pt x="127123" y="52274"/>
                  <a:pt x="124848" y="48896"/>
                  <a:pt x="114213" y="49331"/>
                </a:cubicBezTo>
                <a:close/>
                <a:moveTo>
                  <a:pt x="86588" y="33344"/>
                </a:moveTo>
                <a:cubicBezTo>
                  <a:pt x="80969" y="22040"/>
                  <a:pt x="76220" y="21404"/>
                  <a:pt x="74916" y="21404"/>
                </a:cubicBezTo>
                <a:cubicBezTo>
                  <a:pt x="73611" y="21404"/>
                  <a:pt x="68862" y="22040"/>
                  <a:pt x="63244" y="33344"/>
                </a:cubicBezTo>
                <a:cubicBezTo>
                  <a:pt x="67056" y="34649"/>
                  <a:pt x="70969" y="36154"/>
                  <a:pt x="74916" y="37859"/>
                </a:cubicBezTo>
                <a:cubicBezTo>
                  <a:pt x="78862" y="36154"/>
                  <a:pt x="82742" y="34615"/>
                  <a:pt x="86588" y="33344"/>
                </a:cubicBezTo>
                <a:close/>
                <a:moveTo>
                  <a:pt x="33411" y="63076"/>
                </a:moveTo>
                <a:cubicBezTo>
                  <a:pt x="33980" y="58294"/>
                  <a:pt x="34715" y="53712"/>
                  <a:pt x="35652" y="49297"/>
                </a:cubicBezTo>
                <a:cubicBezTo>
                  <a:pt x="25017" y="48829"/>
                  <a:pt x="22742" y="52207"/>
                  <a:pt x="22207" y="53210"/>
                </a:cubicBezTo>
                <a:cubicBezTo>
                  <a:pt x="21438" y="54615"/>
                  <a:pt x="19866" y="59197"/>
                  <a:pt x="26187" y="69297"/>
                </a:cubicBezTo>
                <a:cubicBezTo>
                  <a:pt x="28461" y="67190"/>
                  <a:pt x="30869" y="65116"/>
                  <a:pt x="33411" y="63076"/>
                </a:cubicBezTo>
                <a:close/>
                <a:moveTo>
                  <a:pt x="26154" y="101939"/>
                </a:moveTo>
                <a:cubicBezTo>
                  <a:pt x="19833" y="112039"/>
                  <a:pt x="21404" y="116654"/>
                  <a:pt x="22174" y="118026"/>
                </a:cubicBezTo>
                <a:cubicBezTo>
                  <a:pt x="22709" y="118996"/>
                  <a:pt x="24983" y="122374"/>
                  <a:pt x="35618" y="121939"/>
                </a:cubicBezTo>
                <a:cubicBezTo>
                  <a:pt x="34682" y="117557"/>
                  <a:pt x="33946" y="112942"/>
                  <a:pt x="33378" y="108160"/>
                </a:cubicBezTo>
                <a:cubicBezTo>
                  <a:pt x="30836" y="106119"/>
                  <a:pt x="28428" y="104046"/>
                  <a:pt x="26154" y="101939"/>
                </a:cubicBezTo>
                <a:close/>
                <a:moveTo>
                  <a:pt x="101671" y="85618"/>
                </a:moveTo>
                <a:cubicBezTo>
                  <a:pt x="101671" y="70851"/>
                  <a:pt x="89683" y="58862"/>
                  <a:pt x="74916" y="58862"/>
                </a:cubicBezTo>
                <a:cubicBezTo>
                  <a:pt x="60149" y="58862"/>
                  <a:pt x="48160" y="70851"/>
                  <a:pt x="48160" y="85618"/>
                </a:cubicBezTo>
                <a:cubicBezTo>
                  <a:pt x="48160" y="100385"/>
                  <a:pt x="60149" y="112374"/>
                  <a:pt x="74916" y="112374"/>
                </a:cubicBezTo>
                <a:cubicBezTo>
                  <a:pt x="89683" y="112374"/>
                  <a:pt x="101671" y="100385"/>
                  <a:pt x="101671" y="85618"/>
                </a:cubicBezTo>
                <a:close/>
                <a:moveTo>
                  <a:pt x="74916" y="74916"/>
                </a:moveTo>
                <a:cubicBezTo>
                  <a:pt x="80822" y="74916"/>
                  <a:pt x="85618" y="79711"/>
                  <a:pt x="85618" y="85618"/>
                </a:cubicBezTo>
                <a:cubicBezTo>
                  <a:pt x="85618" y="91525"/>
                  <a:pt x="80822" y="96320"/>
                  <a:pt x="74916" y="96320"/>
                </a:cubicBezTo>
                <a:cubicBezTo>
                  <a:pt x="69009" y="96320"/>
                  <a:pt x="64213" y="91525"/>
                  <a:pt x="64213" y="85618"/>
                </a:cubicBezTo>
                <a:cubicBezTo>
                  <a:pt x="64213" y="79711"/>
                  <a:pt x="69009" y="74916"/>
                  <a:pt x="74916" y="74916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30" name="Text 28"/>
          <p:cNvSpPr/>
          <p:nvPr/>
        </p:nvSpPr>
        <p:spPr>
          <a:xfrm>
            <a:off x="7591211" y="2410894"/>
            <a:ext cx="1626742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9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95492" y="2616378"/>
            <a:ext cx="1618180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4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QIO Engine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456720" y="2256782"/>
            <a:ext cx="205483" cy="205483"/>
          </a:xfrm>
          <a:custGeom>
            <a:avLst/>
            <a:gdLst/>
            <a:ahLst/>
            <a:cxnLst/>
            <a:rect l="l" t="t" r="r" b="b"/>
            <a:pathLst>
              <a:path w="205483" h="205483">
                <a:moveTo>
                  <a:pt x="201711" y="111812"/>
                </a:moveTo>
                <a:cubicBezTo>
                  <a:pt x="206727" y="106795"/>
                  <a:pt x="206727" y="98648"/>
                  <a:pt x="201711" y="93631"/>
                </a:cubicBezTo>
                <a:lnTo>
                  <a:pt x="137497" y="29418"/>
                </a:lnTo>
                <a:cubicBezTo>
                  <a:pt x="132480" y="24401"/>
                  <a:pt x="124333" y="24401"/>
                  <a:pt x="119317" y="29418"/>
                </a:cubicBezTo>
                <a:cubicBezTo>
                  <a:pt x="114300" y="34434"/>
                  <a:pt x="114300" y="42582"/>
                  <a:pt x="119317" y="47598"/>
                </a:cubicBezTo>
                <a:lnTo>
                  <a:pt x="161617" y="89899"/>
                </a:lnTo>
                <a:lnTo>
                  <a:pt x="12843" y="89899"/>
                </a:lnTo>
                <a:cubicBezTo>
                  <a:pt x="5739" y="89899"/>
                  <a:pt x="0" y="95638"/>
                  <a:pt x="0" y="102742"/>
                </a:cubicBezTo>
                <a:cubicBezTo>
                  <a:pt x="0" y="109845"/>
                  <a:pt x="5739" y="115584"/>
                  <a:pt x="12843" y="115584"/>
                </a:cubicBezTo>
                <a:lnTo>
                  <a:pt x="161617" y="115584"/>
                </a:lnTo>
                <a:lnTo>
                  <a:pt x="119317" y="157885"/>
                </a:lnTo>
                <a:cubicBezTo>
                  <a:pt x="114300" y="162902"/>
                  <a:pt x="114300" y="171049"/>
                  <a:pt x="119317" y="176065"/>
                </a:cubicBezTo>
                <a:cubicBezTo>
                  <a:pt x="124333" y="181082"/>
                  <a:pt x="132480" y="181082"/>
                  <a:pt x="137497" y="176065"/>
                </a:cubicBezTo>
                <a:lnTo>
                  <a:pt x="201711" y="111852"/>
                </a:ln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33" name="Shape 31"/>
          <p:cNvSpPr/>
          <p:nvPr/>
        </p:nvSpPr>
        <p:spPr>
          <a:xfrm>
            <a:off x="9794055" y="1791022"/>
            <a:ext cx="1839074" cy="1137007"/>
          </a:xfrm>
          <a:custGeom>
            <a:avLst/>
            <a:gdLst/>
            <a:ahLst/>
            <a:cxnLst/>
            <a:rect l="l" t="t" r="r" b="b"/>
            <a:pathLst>
              <a:path w="1839074" h="1137007">
                <a:moveTo>
                  <a:pt x="102740" y="0"/>
                </a:moveTo>
                <a:lnTo>
                  <a:pt x="1736334" y="0"/>
                </a:lnTo>
                <a:cubicBezTo>
                  <a:pt x="1793076" y="0"/>
                  <a:pt x="1839074" y="45998"/>
                  <a:pt x="1839074" y="102740"/>
                </a:cubicBezTo>
                <a:lnTo>
                  <a:pt x="1839074" y="1034267"/>
                </a:lnTo>
                <a:cubicBezTo>
                  <a:pt x="1839074" y="1091009"/>
                  <a:pt x="1793076" y="1137007"/>
                  <a:pt x="1736334" y="1137007"/>
                </a:cubicBezTo>
                <a:lnTo>
                  <a:pt x="102740" y="1137007"/>
                </a:lnTo>
                <a:cubicBezTo>
                  <a:pt x="45998" y="1137007"/>
                  <a:pt x="0" y="1091009"/>
                  <a:pt x="0" y="1034267"/>
                </a:cubicBezTo>
                <a:lnTo>
                  <a:pt x="0" y="102740"/>
                </a:lnTo>
                <a:cubicBezTo>
                  <a:pt x="0" y="46036"/>
                  <a:pt x="46036" y="0"/>
                  <a:pt x="102740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08430" y="1931434"/>
            <a:ext cx="410966" cy="410966"/>
          </a:xfrm>
          <a:custGeom>
            <a:avLst/>
            <a:gdLst/>
            <a:ahLst/>
            <a:cxnLst/>
            <a:rect l="l" t="t" r="r" b="b"/>
            <a:pathLst>
              <a:path w="410966" h="410966">
                <a:moveTo>
                  <a:pt x="102742" y="0"/>
                </a:moveTo>
                <a:lnTo>
                  <a:pt x="308225" y="0"/>
                </a:lnTo>
                <a:cubicBezTo>
                  <a:pt x="364967" y="0"/>
                  <a:pt x="410966" y="45999"/>
                  <a:pt x="410966" y="102742"/>
                </a:cubicBezTo>
                <a:lnTo>
                  <a:pt x="410966" y="308225"/>
                </a:lnTo>
                <a:cubicBezTo>
                  <a:pt x="410966" y="364967"/>
                  <a:pt x="364967" y="410966"/>
                  <a:pt x="308225" y="410966"/>
                </a:cubicBezTo>
                <a:lnTo>
                  <a:pt x="102742" y="410966"/>
                </a:lnTo>
                <a:cubicBezTo>
                  <a:pt x="45999" y="410966"/>
                  <a:pt x="0" y="364967"/>
                  <a:pt x="0" y="308225"/>
                </a:cubicBezTo>
                <a:lnTo>
                  <a:pt x="0" y="102742"/>
                </a:lnTo>
                <a:cubicBezTo>
                  <a:pt x="0" y="45999"/>
                  <a:pt x="45999" y="0"/>
                  <a:pt x="102742" y="0"/>
                </a:cubicBezTo>
                <a:close/>
              </a:path>
            </a:pathLst>
          </a:custGeom>
          <a:solidFill>
            <a:srgbClr val="38BDF8">
              <a:alpha val="3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638997" y="2051299"/>
            <a:ext cx="149831" cy="171236"/>
          </a:xfrm>
          <a:custGeom>
            <a:avLst/>
            <a:gdLst/>
            <a:ahLst/>
            <a:cxnLst/>
            <a:rect l="l" t="t" r="r" b="b"/>
            <a:pathLst>
              <a:path w="149831" h="171236">
                <a:moveTo>
                  <a:pt x="21404" y="10702"/>
                </a:moveTo>
                <a:cubicBezTo>
                  <a:pt x="9599" y="10702"/>
                  <a:pt x="0" y="20301"/>
                  <a:pt x="0" y="32107"/>
                </a:cubicBezTo>
                <a:lnTo>
                  <a:pt x="0" y="53511"/>
                </a:lnTo>
                <a:cubicBezTo>
                  <a:pt x="0" y="65317"/>
                  <a:pt x="9599" y="74916"/>
                  <a:pt x="21404" y="74916"/>
                </a:cubicBezTo>
                <a:lnTo>
                  <a:pt x="128427" y="74916"/>
                </a:lnTo>
                <a:cubicBezTo>
                  <a:pt x="140233" y="74916"/>
                  <a:pt x="149831" y="65317"/>
                  <a:pt x="149831" y="53511"/>
                </a:cubicBezTo>
                <a:lnTo>
                  <a:pt x="149831" y="32107"/>
                </a:lnTo>
                <a:cubicBezTo>
                  <a:pt x="149831" y="20301"/>
                  <a:pt x="140233" y="10702"/>
                  <a:pt x="128427" y="10702"/>
                </a:cubicBezTo>
                <a:lnTo>
                  <a:pt x="21404" y="10702"/>
                </a:lnTo>
                <a:close/>
                <a:moveTo>
                  <a:pt x="93645" y="34782"/>
                </a:moveTo>
                <a:cubicBezTo>
                  <a:pt x="98075" y="34782"/>
                  <a:pt x="101671" y="38379"/>
                  <a:pt x="101671" y="42809"/>
                </a:cubicBezTo>
                <a:cubicBezTo>
                  <a:pt x="101671" y="47239"/>
                  <a:pt x="98075" y="50836"/>
                  <a:pt x="93645" y="50836"/>
                </a:cubicBezTo>
                <a:cubicBezTo>
                  <a:pt x="89215" y="50836"/>
                  <a:pt x="85618" y="47239"/>
                  <a:pt x="85618" y="42809"/>
                </a:cubicBezTo>
                <a:cubicBezTo>
                  <a:pt x="85618" y="38379"/>
                  <a:pt x="89215" y="34782"/>
                  <a:pt x="93645" y="34782"/>
                </a:cubicBezTo>
                <a:close/>
                <a:moveTo>
                  <a:pt x="112374" y="42809"/>
                </a:moveTo>
                <a:cubicBezTo>
                  <a:pt x="112374" y="38379"/>
                  <a:pt x="115970" y="34782"/>
                  <a:pt x="120400" y="34782"/>
                </a:cubicBezTo>
                <a:cubicBezTo>
                  <a:pt x="124830" y="34782"/>
                  <a:pt x="128427" y="38379"/>
                  <a:pt x="128427" y="42809"/>
                </a:cubicBezTo>
                <a:cubicBezTo>
                  <a:pt x="128427" y="47239"/>
                  <a:pt x="124830" y="50836"/>
                  <a:pt x="120400" y="50836"/>
                </a:cubicBezTo>
                <a:cubicBezTo>
                  <a:pt x="115970" y="50836"/>
                  <a:pt x="112374" y="47239"/>
                  <a:pt x="112374" y="42809"/>
                </a:cubicBezTo>
                <a:close/>
                <a:moveTo>
                  <a:pt x="21404" y="96320"/>
                </a:moveTo>
                <a:cubicBezTo>
                  <a:pt x="9599" y="96320"/>
                  <a:pt x="0" y="105919"/>
                  <a:pt x="0" y="117725"/>
                </a:cubicBezTo>
                <a:lnTo>
                  <a:pt x="0" y="139129"/>
                </a:lnTo>
                <a:cubicBezTo>
                  <a:pt x="0" y="150935"/>
                  <a:pt x="9599" y="160534"/>
                  <a:pt x="21404" y="160534"/>
                </a:cubicBezTo>
                <a:lnTo>
                  <a:pt x="128427" y="160534"/>
                </a:lnTo>
                <a:cubicBezTo>
                  <a:pt x="140233" y="160534"/>
                  <a:pt x="149831" y="150935"/>
                  <a:pt x="149831" y="139129"/>
                </a:cubicBezTo>
                <a:lnTo>
                  <a:pt x="149831" y="117725"/>
                </a:lnTo>
                <a:cubicBezTo>
                  <a:pt x="149831" y="105919"/>
                  <a:pt x="140233" y="96320"/>
                  <a:pt x="128427" y="96320"/>
                </a:cubicBezTo>
                <a:lnTo>
                  <a:pt x="21404" y="96320"/>
                </a:lnTo>
                <a:close/>
                <a:moveTo>
                  <a:pt x="93645" y="120400"/>
                </a:moveTo>
                <a:cubicBezTo>
                  <a:pt x="98075" y="120400"/>
                  <a:pt x="101671" y="123997"/>
                  <a:pt x="101671" y="128427"/>
                </a:cubicBezTo>
                <a:cubicBezTo>
                  <a:pt x="101671" y="132857"/>
                  <a:pt x="98075" y="136454"/>
                  <a:pt x="93645" y="136454"/>
                </a:cubicBezTo>
                <a:cubicBezTo>
                  <a:pt x="89215" y="136454"/>
                  <a:pt x="85618" y="132857"/>
                  <a:pt x="85618" y="128427"/>
                </a:cubicBezTo>
                <a:cubicBezTo>
                  <a:pt x="85618" y="123997"/>
                  <a:pt x="89215" y="120400"/>
                  <a:pt x="93645" y="120400"/>
                </a:cubicBezTo>
                <a:close/>
                <a:moveTo>
                  <a:pt x="112374" y="128427"/>
                </a:moveTo>
                <a:cubicBezTo>
                  <a:pt x="112374" y="123997"/>
                  <a:pt x="115970" y="120400"/>
                  <a:pt x="120400" y="120400"/>
                </a:cubicBezTo>
                <a:cubicBezTo>
                  <a:pt x="124830" y="120400"/>
                  <a:pt x="128427" y="123997"/>
                  <a:pt x="128427" y="128427"/>
                </a:cubicBezTo>
                <a:cubicBezTo>
                  <a:pt x="128427" y="132857"/>
                  <a:pt x="124830" y="136454"/>
                  <a:pt x="120400" y="136454"/>
                </a:cubicBezTo>
                <a:cubicBezTo>
                  <a:pt x="115970" y="136454"/>
                  <a:pt x="112374" y="132857"/>
                  <a:pt x="112374" y="128427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6" name="Text 34"/>
          <p:cNvSpPr/>
          <p:nvPr/>
        </p:nvSpPr>
        <p:spPr>
          <a:xfrm>
            <a:off x="9900221" y="2410894"/>
            <a:ext cx="1626742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9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904502" y="2616378"/>
            <a:ext cx="1618180" cy="171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4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Backend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088580" y="3071868"/>
            <a:ext cx="4013771" cy="417816"/>
          </a:xfrm>
          <a:custGeom>
            <a:avLst/>
            <a:gdLst/>
            <a:ahLst/>
            <a:cxnLst/>
            <a:rect l="l" t="t" r="r" b="b"/>
            <a:pathLst>
              <a:path w="4013771" h="417816">
                <a:moveTo>
                  <a:pt x="208908" y="0"/>
                </a:moveTo>
                <a:lnTo>
                  <a:pt x="3804863" y="0"/>
                </a:lnTo>
                <a:cubicBezTo>
                  <a:pt x="3920240" y="0"/>
                  <a:pt x="4013771" y="93531"/>
                  <a:pt x="4013771" y="208908"/>
                </a:cubicBezTo>
                <a:lnTo>
                  <a:pt x="4013771" y="208908"/>
                </a:lnTo>
                <a:cubicBezTo>
                  <a:pt x="4013771" y="324284"/>
                  <a:pt x="3920240" y="417816"/>
                  <a:pt x="3804863" y="417816"/>
                </a:cubicBezTo>
                <a:lnTo>
                  <a:pt x="208908" y="417816"/>
                </a:lnTo>
                <a:cubicBezTo>
                  <a:pt x="93608" y="417816"/>
                  <a:pt x="0" y="324207"/>
                  <a:pt x="0" y="208908"/>
                </a:cubicBezTo>
                <a:lnTo>
                  <a:pt x="0" y="208908"/>
                </a:lnTo>
                <a:cubicBezTo>
                  <a:pt x="0" y="93608"/>
                  <a:pt x="93608" y="0"/>
                  <a:pt x="208908" y="0"/>
                </a:cubicBezTo>
                <a:close/>
              </a:path>
            </a:pathLst>
          </a:custGeom>
          <a:gradFill rotWithShape="1" flip="none">
            <a:gsLst>
              <a:gs pos="0">
                <a:srgbClr val="2DD4BF">
                  <a:alpha val="20000"/>
                </a:srgbClr>
              </a:gs>
              <a:gs pos="100000">
                <a:srgbClr val="38BDF8">
                  <a:alpha val="20000"/>
                </a:srgbClr>
              </a:gs>
            </a:gsLst>
            <a:lin ang="0" scaled="1"/>
          </a:gradFill>
          <a:ln w="1016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18892" y="3195156"/>
            <a:ext cx="171236" cy="171236"/>
          </a:xfrm>
          <a:custGeom>
            <a:avLst/>
            <a:gdLst/>
            <a:ahLst/>
            <a:cxnLst/>
            <a:rect l="l" t="t" r="r" b="b"/>
            <a:pathLst>
              <a:path w="171236" h="171236">
                <a:moveTo>
                  <a:pt x="160567" y="64213"/>
                </a:moveTo>
                <a:lnTo>
                  <a:pt x="163209" y="64213"/>
                </a:lnTo>
                <a:cubicBezTo>
                  <a:pt x="167657" y="64213"/>
                  <a:pt x="171236" y="60635"/>
                  <a:pt x="171236" y="56187"/>
                </a:cubicBezTo>
                <a:lnTo>
                  <a:pt x="171236" y="8027"/>
                </a:lnTo>
                <a:cubicBezTo>
                  <a:pt x="171236" y="4783"/>
                  <a:pt x="169296" y="1839"/>
                  <a:pt x="166286" y="602"/>
                </a:cubicBezTo>
                <a:cubicBezTo>
                  <a:pt x="163276" y="-635"/>
                  <a:pt x="159831" y="67"/>
                  <a:pt x="157524" y="2341"/>
                </a:cubicBezTo>
                <a:lnTo>
                  <a:pt x="140233" y="19665"/>
                </a:lnTo>
                <a:cubicBezTo>
                  <a:pt x="125417" y="7391"/>
                  <a:pt x="106354" y="0"/>
                  <a:pt x="85618" y="0"/>
                </a:cubicBezTo>
                <a:cubicBezTo>
                  <a:pt x="42475" y="0"/>
                  <a:pt x="6789" y="31906"/>
                  <a:pt x="870" y="73411"/>
                </a:cubicBezTo>
                <a:cubicBezTo>
                  <a:pt x="33" y="79264"/>
                  <a:pt x="4080" y="84682"/>
                  <a:pt x="9933" y="85518"/>
                </a:cubicBezTo>
                <a:cubicBezTo>
                  <a:pt x="15786" y="86354"/>
                  <a:pt x="21204" y="82274"/>
                  <a:pt x="22040" y="76454"/>
                </a:cubicBezTo>
                <a:cubicBezTo>
                  <a:pt x="26488" y="45317"/>
                  <a:pt x="53277" y="21404"/>
                  <a:pt x="85618" y="21404"/>
                </a:cubicBezTo>
                <a:cubicBezTo>
                  <a:pt x="100467" y="21404"/>
                  <a:pt x="114113" y="26421"/>
                  <a:pt x="124982" y="34883"/>
                </a:cubicBezTo>
                <a:lnTo>
                  <a:pt x="109364" y="50501"/>
                </a:lnTo>
                <a:cubicBezTo>
                  <a:pt x="107056" y="52809"/>
                  <a:pt x="106387" y="56254"/>
                  <a:pt x="107624" y="59264"/>
                </a:cubicBezTo>
                <a:cubicBezTo>
                  <a:pt x="108862" y="62274"/>
                  <a:pt x="111805" y="64213"/>
                  <a:pt x="115049" y="64213"/>
                </a:cubicBezTo>
                <a:lnTo>
                  <a:pt x="160567" y="64213"/>
                </a:lnTo>
                <a:close/>
                <a:moveTo>
                  <a:pt x="170400" y="97825"/>
                </a:moveTo>
                <a:cubicBezTo>
                  <a:pt x="171236" y="91972"/>
                  <a:pt x="167156" y="86554"/>
                  <a:pt x="161336" y="85718"/>
                </a:cubicBezTo>
                <a:cubicBezTo>
                  <a:pt x="155517" y="84882"/>
                  <a:pt x="150066" y="88962"/>
                  <a:pt x="149229" y="94782"/>
                </a:cubicBezTo>
                <a:cubicBezTo>
                  <a:pt x="144781" y="125885"/>
                  <a:pt x="117992" y="149798"/>
                  <a:pt x="85651" y="149798"/>
                </a:cubicBezTo>
                <a:cubicBezTo>
                  <a:pt x="70802" y="149798"/>
                  <a:pt x="57157" y="144781"/>
                  <a:pt x="46287" y="136320"/>
                </a:cubicBezTo>
                <a:lnTo>
                  <a:pt x="61872" y="120735"/>
                </a:lnTo>
                <a:cubicBezTo>
                  <a:pt x="64180" y="118427"/>
                  <a:pt x="64849" y="114982"/>
                  <a:pt x="63611" y="111972"/>
                </a:cubicBezTo>
                <a:cubicBezTo>
                  <a:pt x="62374" y="108962"/>
                  <a:pt x="59431" y="107022"/>
                  <a:pt x="56187" y="107022"/>
                </a:cubicBezTo>
                <a:lnTo>
                  <a:pt x="8027" y="107022"/>
                </a:lnTo>
                <a:cubicBezTo>
                  <a:pt x="3579" y="107022"/>
                  <a:pt x="0" y="110601"/>
                  <a:pt x="0" y="115049"/>
                </a:cubicBezTo>
                <a:lnTo>
                  <a:pt x="0" y="163209"/>
                </a:lnTo>
                <a:cubicBezTo>
                  <a:pt x="0" y="166453"/>
                  <a:pt x="1940" y="169397"/>
                  <a:pt x="4950" y="170634"/>
                </a:cubicBezTo>
                <a:cubicBezTo>
                  <a:pt x="7960" y="171871"/>
                  <a:pt x="11405" y="171169"/>
                  <a:pt x="13712" y="168895"/>
                </a:cubicBezTo>
                <a:lnTo>
                  <a:pt x="31037" y="151571"/>
                </a:lnTo>
                <a:cubicBezTo>
                  <a:pt x="45819" y="163845"/>
                  <a:pt x="64882" y="171236"/>
                  <a:pt x="85618" y="171236"/>
                </a:cubicBezTo>
                <a:cubicBezTo>
                  <a:pt x="128761" y="171236"/>
                  <a:pt x="164447" y="139330"/>
                  <a:pt x="170366" y="97825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40" name="Text 38"/>
          <p:cNvSpPr/>
          <p:nvPr/>
        </p:nvSpPr>
        <p:spPr>
          <a:xfrm>
            <a:off x="4614274" y="3178032"/>
            <a:ext cx="3347663" cy="205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Feedback Loop: Continuous threshold adjustment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59596" y="3910923"/>
            <a:ext cx="5667910" cy="1232899"/>
          </a:xfrm>
          <a:custGeom>
            <a:avLst/>
            <a:gdLst/>
            <a:ahLst/>
            <a:cxnLst/>
            <a:rect l="l" t="t" r="r" b="b"/>
            <a:pathLst>
              <a:path w="5667910" h="1232899">
                <a:moveTo>
                  <a:pt x="34247" y="0"/>
                </a:moveTo>
                <a:lnTo>
                  <a:pt x="5565173" y="0"/>
                </a:lnTo>
                <a:cubicBezTo>
                  <a:pt x="5621913" y="0"/>
                  <a:pt x="5667910" y="45997"/>
                  <a:pt x="5667910" y="102737"/>
                </a:cubicBezTo>
                <a:lnTo>
                  <a:pt x="5667910" y="1130161"/>
                </a:lnTo>
                <a:cubicBezTo>
                  <a:pt x="5667910" y="1186902"/>
                  <a:pt x="5621913" y="1232899"/>
                  <a:pt x="5565173" y="1232899"/>
                </a:cubicBezTo>
                <a:lnTo>
                  <a:pt x="34247" y="1232899"/>
                </a:lnTo>
                <a:cubicBezTo>
                  <a:pt x="15333" y="1232899"/>
                  <a:pt x="0" y="1217566"/>
                  <a:pt x="0" y="1198652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2" name="Shape 40"/>
          <p:cNvSpPr/>
          <p:nvPr/>
        </p:nvSpPr>
        <p:spPr>
          <a:xfrm>
            <a:off x="359596" y="3910923"/>
            <a:ext cx="34247" cy="1232899"/>
          </a:xfrm>
          <a:custGeom>
            <a:avLst/>
            <a:gdLst/>
            <a:ahLst/>
            <a:cxnLst/>
            <a:rect l="l" t="t" r="r" b="b"/>
            <a:pathLst>
              <a:path w="34247" h="1232899">
                <a:moveTo>
                  <a:pt x="34247" y="0"/>
                </a:moveTo>
                <a:lnTo>
                  <a:pt x="34247" y="0"/>
                </a:lnTo>
                <a:lnTo>
                  <a:pt x="34247" y="1232899"/>
                </a:lnTo>
                <a:lnTo>
                  <a:pt x="34247" y="1232899"/>
                </a:lnTo>
                <a:cubicBezTo>
                  <a:pt x="15333" y="1232899"/>
                  <a:pt x="0" y="1217566"/>
                  <a:pt x="0" y="1198652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3" name="Shape 41"/>
          <p:cNvSpPr/>
          <p:nvPr/>
        </p:nvSpPr>
        <p:spPr>
          <a:xfrm>
            <a:off x="547955" y="4082159"/>
            <a:ext cx="342472" cy="342472"/>
          </a:xfrm>
          <a:custGeom>
            <a:avLst/>
            <a:gdLst/>
            <a:ahLst/>
            <a:cxnLst/>
            <a:rect l="l" t="t" r="r" b="b"/>
            <a:pathLst>
              <a:path w="342472" h="342472">
                <a:moveTo>
                  <a:pt x="68494" y="0"/>
                </a:moveTo>
                <a:lnTo>
                  <a:pt x="273978" y="0"/>
                </a:lnTo>
                <a:cubicBezTo>
                  <a:pt x="311781" y="0"/>
                  <a:pt x="342472" y="30691"/>
                  <a:pt x="342472" y="68494"/>
                </a:cubicBezTo>
                <a:lnTo>
                  <a:pt x="342472" y="273978"/>
                </a:lnTo>
                <a:cubicBezTo>
                  <a:pt x="342472" y="311806"/>
                  <a:pt x="311806" y="342472"/>
                  <a:pt x="273978" y="342472"/>
                </a:cubicBezTo>
                <a:lnTo>
                  <a:pt x="68494" y="342472"/>
                </a:lnTo>
                <a:cubicBezTo>
                  <a:pt x="30691" y="342472"/>
                  <a:pt x="0" y="311781"/>
                  <a:pt x="0" y="273978"/>
                </a:cubicBezTo>
                <a:lnTo>
                  <a:pt x="0" y="68494"/>
                </a:lnTo>
                <a:cubicBezTo>
                  <a:pt x="0" y="30666"/>
                  <a:pt x="30666" y="0"/>
                  <a:pt x="68494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71566" y="4133530"/>
            <a:ext cx="179798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38BD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93169" y="4133530"/>
            <a:ext cx="1284270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Traffic Monitor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7955" y="4527372"/>
            <a:ext cx="5376809" cy="44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9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Continuously tracks incoming request patterns, analyzing frequency, distribution, and peak times to build real-time traffic profiles.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81618" y="3910923"/>
            <a:ext cx="5667910" cy="1232899"/>
          </a:xfrm>
          <a:custGeom>
            <a:avLst/>
            <a:gdLst/>
            <a:ahLst/>
            <a:cxnLst/>
            <a:rect l="l" t="t" r="r" b="b"/>
            <a:pathLst>
              <a:path w="5667910" h="1232899">
                <a:moveTo>
                  <a:pt x="34247" y="0"/>
                </a:moveTo>
                <a:lnTo>
                  <a:pt x="5565173" y="0"/>
                </a:lnTo>
                <a:cubicBezTo>
                  <a:pt x="5621913" y="0"/>
                  <a:pt x="5667910" y="45997"/>
                  <a:pt x="5667910" y="102737"/>
                </a:cubicBezTo>
                <a:lnTo>
                  <a:pt x="5667910" y="1130161"/>
                </a:lnTo>
                <a:cubicBezTo>
                  <a:pt x="5667910" y="1186902"/>
                  <a:pt x="5621913" y="1232899"/>
                  <a:pt x="5565173" y="1232899"/>
                </a:cubicBezTo>
                <a:lnTo>
                  <a:pt x="34247" y="1232899"/>
                </a:lnTo>
                <a:cubicBezTo>
                  <a:pt x="15333" y="1232899"/>
                  <a:pt x="0" y="1217566"/>
                  <a:pt x="0" y="1198652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8" name="Shape 46"/>
          <p:cNvSpPr/>
          <p:nvPr/>
        </p:nvSpPr>
        <p:spPr>
          <a:xfrm>
            <a:off x="6181618" y="3910923"/>
            <a:ext cx="34247" cy="1232899"/>
          </a:xfrm>
          <a:custGeom>
            <a:avLst/>
            <a:gdLst/>
            <a:ahLst/>
            <a:cxnLst/>
            <a:rect l="l" t="t" r="r" b="b"/>
            <a:pathLst>
              <a:path w="34247" h="1232899">
                <a:moveTo>
                  <a:pt x="34247" y="0"/>
                </a:moveTo>
                <a:lnTo>
                  <a:pt x="34247" y="0"/>
                </a:lnTo>
                <a:lnTo>
                  <a:pt x="34247" y="1232899"/>
                </a:lnTo>
                <a:lnTo>
                  <a:pt x="34247" y="1232899"/>
                </a:lnTo>
                <a:cubicBezTo>
                  <a:pt x="15333" y="1232899"/>
                  <a:pt x="0" y="1217566"/>
                  <a:pt x="0" y="1198652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49" name="Shape 47"/>
          <p:cNvSpPr/>
          <p:nvPr/>
        </p:nvSpPr>
        <p:spPr>
          <a:xfrm>
            <a:off x="6369978" y="4082159"/>
            <a:ext cx="342472" cy="342472"/>
          </a:xfrm>
          <a:custGeom>
            <a:avLst/>
            <a:gdLst/>
            <a:ahLst/>
            <a:cxnLst/>
            <a:rect l="l" t="t" r="r" b="b"/>
            <a:pathLst>
              <a:path w="342472" h="342472">
                <a:moveTo>
                  <a:pt x="68494" y="0"/>
                </a:moveTo>
                <a:lnTo>
                  <a:pt x="273978" y="0"/>
                </a:lnTo>
                <a:cubicBezTo>
                  <a:pt x="311781" y="0"/>
                  <a:pt x="342472" y="30691"/>
                  <a:pt x="342472" y="68494"/>
                </a:cubicBezTo>
                <a:lnTo>
                  <a:pt x="342472" y="273978"/>
                </a:lnTo>
                <a:cubicBezTo>
                  <a:pt x="342472" y="311806"/>
                  <a:pt x="311806" y="342472"/>
                  <a:pt x="273978" y="342472"/>
                </a:cubicBezTo>
                <a:lnTo>
                  <a:pt x="68494" y="342472"/>
                </a:lnTo>
                <a:cubicBezTo>
                  <a:pt x="30691" y="342472"/>
                  <a:pt x="0" y="311781"/>
                  <a:pt x="0" y="273978"/>
                </a:cubicBezTo>
                <a:lnTo>
                  <a:pt x="0" y="68494"/>
                </a:lnTo>
                <a:cubicBezTo>
                  <a:pt x="0" y="30666"/>
                  <a:pt x="30666" y="0"/>
                  <a:pt x="68494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93588" y="4133530"/>
            <a:ext cx="179798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2DD4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15191" y="4133530"/>
            <a:ext cx="1078787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Rate Limiter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69978" y="4527372"/>
            <a:ext cx="5376809" cy="44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9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Enforces dynamic rate limits based on optimizer output, allowing or rejecting requests according to current thresholds.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59596" y="5280811"/>
            <a:ext cx="5667910" cy="1232899"/>
          </a:xfrm>
          <a:custGeom>
            <a:avLst/>
            <a:gdLst/>
            <a:ahLst/>
            <a:cxnLst/>
            <a:rect l="l" t="t" r="r" b="b"/>
            <a:pathLst>
              <a:path w="5667910" h="1232899">
                <a:moveTo>
                  <a:pt x="34247" y="0"/>
                </a:moveTo>
                <a:lnTo>
                  <a:pt x="5565173" y="0"/>
                </a:lnTo>
                <a:cubicBezTo>
                  <a:pt x="5621913" y="0"/>
                  <a:pt x="5667910" y="45997"/>
                  <a:pt x="5667910" y="102737"/>
                </a:cubicBezTo>
                <a:lnTo>
                  <a:pt x="5667910" y="1130161"/>
                </a:lnTo>
                <a:cubicBezTo>
                  <a:pt x="5667910" y="1186902"/>
                  <a:pt x="5621913" y="1232899"/>
                  <a:pt x="5565173" y="1232899"/>
                </a:cubicBezTo>
                <a:lnTo>
                  <a:pt x="34247" y="1232899"/>
                </a:lnTo>
                <a:cubicBezTo>
                  <a:pt x="15333" y="1232899"/>
                  <a:pt x="0" y="1217566"/>
                  <a:pt x="0" y="1198652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4" name="Shape 52"/>
          <p:cNvSpPr/>
          <p:nvPr/>
        </p:nvSpPr>
        <p:spPr>
          <a:xfrm>
            <a:off x="359596" y="5280811"/>
            <a:ext cx="34247" cy="1232899"/>
          </a:xfrm>
          <a:custGeom>
            <a:avLst/>
            <a:gdLst/>
            <a:ahLst/>
            <a:cxnLst/>
            <a:rect l="l" t="t" r="r" b="b"/>
            <a:pathLst>
              <a:path w="34247" h="1232899">
                <a:moveTo>
                  <a:pt x="34247" y="0"/>
                </a:moveTo>
                <a:lnTo>
                  <a:pt x="34247" y="0"/>
                </a:lnTo>
                <a:lnTo>
                  <a:pt x="34247" y="1232899"/>
                </a:lnTo>
                <a:lnTo>
                  <a:pt x="34247" y="1232899"/>
                </a:lnTo>
                <a:cubicBezTo>
                  <a:pt x="15333" y="1232899"/>
                  <a:pt x="0" y="1217566"/>
                  <a:pt x="0" y="1198652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55" name="Shape 53"/>
          <p:cNvSpPr/>
          <p:nvPr/>
        </p:nvSpPr>
        <p:spPr>
          <a:xfrm>
            <a:off x="547955" y="5452047"/>
            <a:ext cx="342472" cy="342472"/>
          </a:xfrm>
          <a:custGeom>
            <a:avLst/>
            <a:gdLst/>
            <a:ahLst/>
            <a:cxnLst/>
            <a:rect l="l" t="t" r="r" b="b"/>
            <a:pathLst>
              <a:path w="342472" h="342472">
                <a:moveTo>
                  <a:pt x="68494" y="0"/>
                </a:moveTo>
                <a:lnTo>
                  <a:pt x="273978" y="0"/>
                </a:lnTo>
                <a:cubicBezTo>
                  <a:pt x="311781" y="0"/>
                  <a:pt x="342472" y="30691"/>
                  <a:pt x="342472" y="68494"/>
                </a:cubicBezTo>
                <a:lnTo>
                  <a:pt x="342472" y="273978"/>
                </a:lnTo>
                <a:cubicBezTo>
                  <a:pt x="342472" y="311806"/>
                  <a:pt x="311806" y="342472"/>
                  <a:pt x="273978" y="342472"/>
                </a:cubicBezTo>
                <a:lnTo>
                  <a:pt x="68494" y="342472"/>
                </a:lnTo>
                <a:cubicBezTo>
                  <a:pt x="30691" y="342472"/>
                  <a:pt x="0" y="311781"/>
                  <a:pt x="0" y="273978"/>
                </a:cubicBezTo>
                <a:lnTo>
                  <a:pt x="0" y="68494"/>
                </a:lnTo>
                <a:cubicBezTo>
                  <a:pt x="0" y="30666"/>
                  <a:pt x="30666" y="0"/>
                  <a:pt x="68494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71566" y="5503417"/>
            <a:ext cx="179798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38BD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93169" y="5503417"/>
            <a:ext cx="1018854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QIO Engine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47955" y="5897260"/>
            <a:ext cx="5376809" cy="44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9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optimization module using quantum-inspired algorithms to calculate optimal rate limits that maximize throughput while preventing overload.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81618" y="5280811"/>
            <a:ext cx="5667910" cy="1232899"/>
          </a:xfrm>
          <a:custGeom>
            <a:avLst/>
            <a:gdLst/>
            <a:ahLst/>
            <a:cxnLst/>
            <a:rect l="l" t="t" r="r" b="b"/>
            <a:pathLst>
              <a:path w="5667910" h="1232899">
                <a:moveTo>
                  <a:pt x="34247" y="0"/>
                </a:moveTo>
                <a:lnTo>
                  <a:pt x="5565173" y="0"/>
                </a:lnTo>
                <a:cubicBezTo>
                  <a:pt x="5621913" y="0"/>
                  <a:pt x="5667910" y="45997"/>
                  <a:pt x="5667910" y="102737"/>
                </a:cubicBezTo>
                <a:lnTo>
                  <a:pt x="5667910" y="1130161"/>
                </a:lnTo>
                <a:cubicBezTo>
                  <a:pt x="5667910" y="1186902"/>
                  <a:pt x="5621913" y="1232899"/>
                  <a:pt x="5565173" y="1232899"/>
                </a:cubicBezTo>
                <a:lnTo>
                  <a:pt x="34247" y="1232899"/>
                </a:lnTo>
                <a:cubicBezTo>
                  <a:pt x="15333" y="1232899"/>
                  <a:pt x="0" y="1217566"/>
                  <a:pt x="0" y="1198652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60" name="Shape 58"/>
          <p:cNvSpPr/>
          <p:nvPr/>
        </p:nvSpPr>
        <p:spPr>
          <a:xfrm>
            <a:off x="6181618" y="5280811"/>
            <a:ext cx="34247" cy="1232899"/>
          </a:xfrm>
          <a:custGeom>
            <a:avLst/>
            <a:gdLst/>
            <a:ahLst/>
            <a:cxnLst/>
            <a:rect l="l" t="t" r="r" b="b"/>
            <a:pathLst>
              <a:path w="34247" h="1232899">
                <a:moveTo>
                  <a:pt x="34247" y="0"/>
                </a:moveTo>
                <a:lnTo>
                  <a:pt x="34247" y="0"/>
                </a:lnTo>
                <a:lnTo>
                  <a:pt x="34247" y="1232899"/>
                </a:lnTo>
                <a:lnTo>
                  <a:pt x="34247" y="1232899"/>
                </a:lnTo>
                <a:cubicBezTo>
                  <a:pt x="15333" y="1232899"/>
                  <a:pt x="0" y="1217566"/>
                  <a:pt x="0" y="1198652"/>
                </a:cubicBezTo>
                <a:lnTo>
                  <a:pt x="0" y="34247"/>
                </a:lnTo>
                <a:cubicBezTo>
                  <a:pt x="0" y="15333"/>
                  <a:pt x="15333" y="0"/>
                  <a:pt x="34247" y="0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61" name="Shape 59"/>
          <p:cNvSpPr/>
          <p:nvPr/>
        </p:nvSpPr>
        <p:spPr>
          <a:xfrm>
            <a:off x="6369978" y="5452047"/>
            <a:ext cx="342472" cy="342472"/>
          </a:xfrm>
          <a:custGeom>
            <a:avLst/>
            <a:gdLst/>
            <a:ahLst/>
            <a:cxnLst/>
            <a:rect l="l" t="t" r="r" b="b"/>
            <a:pathLst>
              <a:path w="342472" h="342472">
                <a:moveTo>
                  <a:pt x="68494" y="0"/>
                </a:moveTo>
                <a:lnTo>
                  <a:pt x="273978" y="0"/>
                </a:lnTo>
                <a:cubicBezTo>
                  <a:pt x="311781" y="0"/>
                  <a:pt x="342472" y="30691"/>
                  <a:pt x="342472" y="68494"/>
                </a:cubicBezTo>
                <a:lnTo>
                  <a:pt x="342472" y="273978"/>
                </a:lnTo>
                <a:cubicBezTo>
                  <a:pt x="342472" y="311806"/>
                  <a:pt x="311806" y="342472"/>
                  <a:pt x="273978" y="342472"/>
                </a:cubicBezTo>
                <a:lnTo>
                  <a:pt x="68494" y="342472"/>
                </a:lnTo>
                <a:cubicBezTo>
                  <a:pt x="30691" y="342472"/>
                  <a:pt x="0" y="311781"/>
                  <a:pt x="0" y="273978"/>
                </a:cubicBezTo>
                <a:lnTo>
                  <a:pt x="0" y="68494"/>
                </a:lnTo>
                <a:cubicBezTo>
                  <a:pt x="0" y="30666"/>
                  <a:pt x="30666" y="0"/>
                  <a:pt x="68494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493588" y="5503417"/>
            <a:ext cx="179798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2DD4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815191" y="5503417"/>
            <a:ext cx="1344202" cy="239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8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Feedback Loop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69978" y="5897260"/>
            <a:ext cx="5376809" cy="445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9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Continuously feeds performance metrics back to the optimizer, enabling adaptive adjustments based on system response and traffic changes.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7028" y="387583"/>
            <a:ext cx="471840" cy="471840"/>
          </a:xfrm>
          <a:custGeom>
            <a:avLst/>
            <a:gdLst/>
            <a:ahLst/>
            <a:cxnLst/>
            <a:rect l="l" t="t" r="r" b="b"/>
            <a:pathLst>
              <a:path w="471840" h="471840">
                <a:moveTo>
                  <a:pt x="101111" y="0"/>
                </a:moveTo>
                <a:lnTo>
                  <a:pt x="370729" y="0"/>
                </a:lnTo>
                <a:cubicBezTo>
                  <a:pt x="426534" y="0"/>
                  <a:pt x="471840" y="45306"/>
                  <a:pt x="471840" y="101111"/>
                </a:cubicBezTo>
                <a:lnTo>
                  <a:pt x="471840" y="370729"/>
                </a:lnTo>
                <a:cubicBezTo>
                  <a:pt x="471840" y="426534"/>
                  <a:pt x="426534" y="471840"/>
                  <a:pt x="370729" y="471840"/>
                </a:cubicBezTo>
                <a:lnTo>
                  <a:pt x="101111" y="471840"/>
                </a:lnTo>
                <a:cubicBezTo>
                  <a:pt x="45306" y="471840"/>
                  <a:pt x="0" y="426534"/>
                  <a:pt x="0" y="370729"/>
                </a:cubicBezTo>
                <a:lnTo>
                  <a:pt x="0" y="101111"/>
                </a:lnTo>
                <a:cubicBezTo>
                  <a:pt x="0" y="45306"/>
                  <a:pt x="45306" y="0"/>
                  <a:pt x="101111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/>
              </a:gs>
              <a:gs pos="100000">
                <a:srgbClr val="2DD4BF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484478" y="522394"/>
            <a:ext cx="176940" cy="202217"/>
          </a:xfrm>
          <a:custGeom>
            <a:avLst/>
            <a:gdLst/>
            <a:ahLst/>
            <a:cxnLst/>
            <a:rect l="l" t="t" r="r" b="b"/>
            <a:pathLst>
              <a:path w="176940" h="202217">
                <a:moveTo>
                  <a:pt x="31596" y="41075"/>
                </a:moveTo>
                <a:cubicBezTo>
                  <a:pt x="36828" y="41075"/>
                  <a:pt x="41075" y="36828"/>
                  <a:pt x="41075" y="31596"/>
                </a:cubicBezTo>
                <a:cubicBezTo>
                  <a:pt x="41075" y="26365"/>
                  <a:pt x="36828" y="22117"/>
                  <a:pt x="31596" y="22117"/>
                </a:cubicBezTo>
                <a:cubicBezTo>
                  <a:pt x="26365" y="22117"/>
                  <a:pt x="22117" y="26365"/>
                  <a:pt x="22117" y="31596"/>
                </a:cubicBezTo>
                <a:cubicBezTo>
                  <a:pt x="22117" y="36828"/>
                  <a:pt x="26365" y="41075"/>
                  <a:pt x="31596" y="41075"/>
                </a:cubicBezTo>
                <a:close/>
                <a:moveTo>
                  <a:pt x="63193" y="31596"/>
                </a:moveTo>
                <a:cubicBezTo>
                  <a:pt x="63193" y="44551"/>
                  <a:pt x="55412" y="55689"/>
                  <a:pt x="44235" y="60547"/>
                </a:cubicBezTo>
                <a:lnTo>
                  <a:pt x="44235" y="88470"/>
                </a:lnTo>
                <a:lnTo>
                  <a:pt x="113747" y="88470"/>
                </a:lnTo>
                <a:cubicBezTo>
                  <a:pt x="124213" y="88470"/>
                  <a:pt x="132705" y="79978"/>
                  <a:pt x="132705" y="69512"/>
                </a:cubicBezTo>
                <a:lnTo>
                  <a:pt x="132705" y="60547"/>
                </a:lnTo>
                <a:cubicBezTo>
                  <a:pt x="121528" y="55689"/>
                  <a:pt x="113747" y="44551"/>
                  <a:pt x="113747" y="31596"/>
                </a:cubicBezTo>
                <a:cubicBezTo>
                  <a:pt x="113747" y="14139"/>
                  <a:pt x="127886" y="0"/>
                  <a:pt x="145343" y="0"/>
                </a:cubicBezTo>
                <a:cubicBezTo>
                  <a:pt x="162800" y="0"/>
                  <a:pt x="176940" y="14139"/>
                  <a:pt x="176940" y="31596"/>
                </a:cubicBezTo>
                <a:cubicBezTo>
                  <a:pt x="176940" y="44551"/>
                  <a:pt x="169159" y="55689"/>
                  <a:pt x="157982" y="60547"/>
                </a:cubicBezTo>
                <a:lnTo>
                  <a:pt x="157982" y="69512"/>
                </a:lnTo>
                <a:cubicBezTo>
                  <a:pt x="157982" y="93960"/>
                  <a:pt x="138195" y="113747"/>
                  <a:pt x="113747" y="113747"/>
                </a:cubicBezTo>
                <a:lnTo>
                  <a:pt x="44235" y="113747"/>
                </a:lnTo>
                <a:lnTo>
                  <a:pt x="44235" y="141670"/>
                </a:lnTo>
                <a:cubicBezTo>
                  <a:pt x="55412" y="146528"/>
                  <a:pt x="63193" y="157666"/>
                  <a:pt x="63193" y="170621"/>
                </a:cubicBezTo>
                <a:cubicBezTo>
                  <a:pt x="63193" y="188078"/>
                  <a:pt x="49053" y="202217"/>
                  <a:pt x="31596" y="202217"/>
                </a:cubicBezTo>
                <a:cubicBezTo>
                  <a:pt x="14139" y="202217"/>
                  <a:pt x="0" y="188078"/>
                  <a:pt x="0" y="170621"/>
                </a:cubicBezTo>
                <a:cubicBezTo>
                  <a:pt x="0" y="157666"/>
                  <a:pt x="7781" y="146528"/>
                  <a:pt x="18958" y="141670"/>
                </a:cubicBezTo>
                <a:lnTo>
                  <a:pt x="18958" y="60586"/>
                </a:lnTo>
                <a:cubicBezTo>
                  <a:pt x="7781" y="55689"/>
                  <a:pt x="0" y="44551"/>
                  <a:pt x="0" y="31596"/>
                </a:cubicBezTo>
                <a:cubicBezTo>
                  <a:pt x="0" y="14139"/>
                  <a:pt x="14139" y="0"/>
                  <a:pt x="31596" y="0"/>
                </a:cubicBezTo>
                <a:cubicBezTo>
                  <a:pt x="49053" y="0"/>
                  <a:pt x="63193" y="14139"/>
                  <a:pt x="63193" y="31596"/>
                </a:cubicBezTo>
                <a:close/>
                <a:moveTo>
                  <a:pt x="154822" y="31596"/>
                </a:moveTo>
                <a:cubicBezTo>
                  <a:pt x="154822" y="26365"/>
                  <a:pt x="150575" y="22117"/>
                  <a:pt x="145343" y="22117"/>
                </a:cubicBezTo>
                <a:cubicBezTo>
                  <a:pt x="140112" y="22117"/>
                  <a:pt x="135865" y="26365"/>
                  <a:pt x="135865" y="31596"/>
                </a:cubicBezTo>
                <a:cubicBezTo>
                  <a:pt x="135865" y="36828"/>
                  <a:pt x="140112" y="41075"/>
                  <a:pt x="145343" y="41075"/>
                </a:cubicBezTo>
                <a:cubicBezTo>
                  <a:pt x="150575" y="41075"/>
                  <a:pt x="154822" y="36828"/>
                  <a:pt x="154822" y="31596"/>
                </a:cubicBezTo>
                <a:close/>
                <a:moveTo>
                  <a:pt x="31596" y="180100"/>
                </a:moveTo>
                <a:cubicBezTo>
                  <a:pt x="36828" y="180100"/>
                  <a:pt x="41075" y="175852"/>
                  <a:pt x="41075" y="170621"/>
                </a:cubicBezTo>
                <a:cubicBezTo>
                  <a:pt x="41075" y="165389"/>
                  <a:pt x="36828" y="161142"/>
                  <a:pt x="31596" y="161142"/>
                </a:cubicBezTo>
                <a:cubicBezTo>
                  <a:pt x="26365" y="161142"/>
                  <a:pt x="22117" y="165389"/>
                  <a:pt x="22117" y="170621"/>
                </a:cubicBezTo>
                <a:cubicBezTo>
                  <a:pt x="22117" y="175852"/>
                  <a:pt x="26365" y="180100"/>
                  <a:pt x="31596" y="180100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943679" y="337028"/>
            <a:ext cx="5139682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b="1" spc="46" kern="0" dirty="0">
                <a:solidFill>
                  <a:srgbClr val="38BDF8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3679" y="505543"/>
            <a:ext cx="5282919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85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Working Flow &amp; Algorithm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0399" y="1115564"/>
            <a:ext cx="5651965" cy="5196977"/>
          </a:xfrm>
          <a:custGeom>
            <a:avLst/>
            <a:gdLst/>
            <a:ahLst/>
            <a:cxnLst/>
            <a:rect l="l" t="t" r="r" b="b"/>
            <a:pathLst>
              <a:path w="5651965" h="5196977">
                <a:moveTo>
                  <a:pt x="101133" y="0"/>
                </a:moveTo>
                <a:lnTo>
                  <a:pt x="5550832" y="0"/>
                </a:lnTo>
                <a:cubicBezTo>
                  <a:pt x="5606686" y="0"/>
                  <a:pt x="5651965" y="45279"/>
                  <a:pt x="5651965" y="101133"/>
                </a:cubicBezTo>
                <a:lnTo>
                  <a:pt x="5651965" y="5095844"/>
                </a:lnTo>
                <a:cubicBezTo>
                  <a:pt x="5651965" y="5151698"/>
                  <a:pt x="5606686" y="5196977"/>
                  <a:pt x="5550832" y="5196977"/>
                </a:cubicBezTo>
                <a:lnTo>
                  <a:pt x="101133" y="5196977"/>
                </a:lnTo>
                <a:cubicBezTo>
                  <a:pt x="45279" y="5196977"/>
                  <a:pt x="0" y="5151698"/>
                  <a:pt x="0" y="5095844"/>
                </a:cubicBezTo>
                <a:lnTo>
                  <a:pt x="0" y="101133"/>
                </a:lnTo>
                <a:cubicBezTo>
                  <a:pt x="0" y="45279"/>
                  <a:pt x="45279" y="0"/>
                  <a:pt x="101133" y="0"/>
                </a:cubicBezTo>
                <a:close/>
              </a:path>
            </a:pathLst>
          </a:custGeom>
          <a:solidFill>
            <a:srgbClr val="1F2937"/>
          </a:solidFill>
          <a:ln w="10160">
            <a:solidFill>
              <a:srgbClr val="38BDF8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263" y="1354749"/>
            <a:ext cx="202217" cy="202217"/>
          </a:xfrm>
          <a:custGeom>
            <a:avLst/>
            <a:gdLst/>
            <a:ahLst/>
            <a:cxnLst/>
            <a:rect l="l" t="t" r="r" b="b"/>
            <a:pathLst>
              <a:path w="202217" h="202217">
                <a:moveTo>
                  <a:pt x="0" y="37916"/>
                </a:moveTo>
                <a:cubicBezTo>
                  <a:pt x="0" y="30925"/>
                  <a:pt x="5648" y="25277"/>
                  <a:pt x="12639" y="25277"/>
                </a:cubicBezTo>
                <a:lnTo>
                  <a:pt x="164301" y="25277"/>
                </a:lnTo>
                <a:cubicBezTo>
                  <a:pt x="171292" y="25277"/>
                  <a:pt x="176940" y="30925"/>
                  <a:pt x="176940" y="37916"/>
                </a:cubicBezTo>
                <a:cubicBezTo>
                  <a:pt x="176940" y="44906"/>
                  <a:pt x="171292" y="50554"/>
                  <a:pt x="164301" y="50554"/>
                </a:cubicBezTo>
                <a:lnTo>
                  <a:pt x="12639" y="50554"/>
                </a:lnTo>
                <a:cubicBezTo>
                  <a:pt x="5648" y="50554"/>
                  <a:pt x="0" y="44906"/>
                  <a:pt x="0" y="37916"/>
                </a:cubicBezTo>
                <a:close/>
                <a:moveTo>
                  <a:pt x="25277" y="101109"/>
                </a:moveTo>
                <a:cubicBezTo>
                  <a:pt x="25277" y="94118"/>
                  <a:pt x="30925" y="88470"/>
                  <a:pt x="37916" y="88470"/>
                </a:cubicBezTo>
                <a:lnTo>
                  <a:pt x="189578" y="88470"/>
                </a:lnTo>
                <a:cubicBezTo>
                  <a:pt x="196569" y="88470"/>
                  <a:pt x="202217" y="94118"/>
                  <a:pt x="202217" y="101109"/>
                </a:cubicBezTo>
                <a:cubicBezTo>
                  <a:pt x="202217" y="108099"/>
                  <a:pt x="196569" y="113747"/>
                  <a:pt x="189578" y="113747"/>
                </a:cubicBezTo>
                <a:lnTo>
                  <a:pt x="37916" y="113747"/>
                </a:lnTo>
                <a:cubicBezTo>
                  <a:pt x="30925" y="113747"/>
                  <a:pt x="25277" y="108099"/>
                  <a:pt x="25277" y="101109"/>
                </a:cubicBezTo>
                <a:close/>
                <a:moveTo>
                  <a:pt x="176940" y="164301"/>
                </a:moveTo>
                <a:cubicBezTo>
                  <a:pt x="176940" y="171292"/>
                  <a:pt x="171292" y="176940"/>
                  <a:pt x="164301" y="176940"/>
                </a:cubicBezTo>
                <a:lnTo>
                  <a:pt x="12639" y="176940"/>
                </a:lnTo>
                <a:cubicBezTo>
                  <a:pt x="5648" y="176940"/>
                  <a:pt x="0" y="171292"/>
                  <a:pt x="0" y="164301"/>
                </a:cubicBezTo>
                <a:cubicBezTo>
                  <a:pt x="0" y="157311"/>
                  <a:pt x="5648" y="151663"/>
                  <a:pt x="12639" y="151663"/>
                </a:cubicBezTo>
                <a:lnTo>
                  <a:pt x="164301" y="151663"/>
                </a:lnTo>
                <a:cubicBezTo>
                  <a:pt x="171292" y="151663"/>
                  <a:pt x="176940" y="157311"/>
                  <a:pt x="176940" y="164301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798757" y="1321154"/>
            <a:ext cx="5089128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38BD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Request Processing 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5986" y="1843440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101109" y="0"/>
                </a:moveTo>
                <a:lnTo>
                  <a:pt x="303326" y="0"/>
                </a:lnTo>
                <a:cubicBezTo>
                  <a:pt x="359129" y="0"/>
                  <a:pt x="404434" y="45305"/>
                  <a:pt x="404434" y="101109"/>
                </a:cubicBezTo>
                <a:lnTo>
                  <a:pt x="404434" y="303326"/>
                </a:lnTo>
                <a:cubicBezTo>
                  <a:pt x="404434" y="359166"/>
                  <a:pt x="359166" y="404434"/>
                  <a:pt x="303326" y="404434"/>
                </a:cubicBezTo>
                <a:lnTo>
                  <a:pt x="101109" y="404434"/>
                </a:lnTo>
                <a:cubicBezTo>
                  <a:pt x="45268" y="404434"/>
                  <a:pt x="0" y="359166"/>
                  <a:pt x="0" y="303326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/>
              </a:gs>
              <a:gs pos="100000">
                <a:srgbClr val="2DD4BF"/>
              </a:gs>
            </a:gsLst>
            <a:lin ang="2700000" scaled="1"/>
          </a:gradFill>
          <a:ln/>
        </p:spPr>
      </p:sp>
      <p:sp>
        <p:nvSpPr>
          <p:cNvPr id="10" name="Text 8"/>
          <p:cNvSpPr/>
          <p:nvPr/>
        </p:nvSpPr>
        <p:spPr>
          <a:xfrm>
            <a:off x="701335" y="1927698"/>
            <a:ext cx="176940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1118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02083" y="1759183"/>
            <a:ext cx="4684694" cy="572948"/>
          </a:xfrm>
          <a:custGeom>
            <a:avLst/>
            <a:gdLst/>
            <a:ahLst/>
            <a:cxnLst/>
            <a:rect l="l" t="t" r="r" b="b"/>
            <a:pathLst>
              <a:path w="4684694" h="572948">
                <a:moveTo>
                  <a:pt x="33703" y="0"/>
                </a:moveTo>
                <a:lnTo>
                  <a:pt x="4617286" y="0"/>
                </a:lnTo>
                <a:cubicBezTo>
                  <a:pt x="4654515" y="0"/>
                  <a:pt x="4684694" y="30179"/>
                  <a:pt x="4684694" y="67407"/>
                </a:cubicBezTo>
                <a:lnTo>
                  <a:pt x="4684694" y="505541"/>
                </a:lnTo>
                <a:cubicBezTo>
                  <a:pt x="4684694" y="542769"/>
                  <a:pt x="4654515" y="572948"/>
                  <a:pt x="4617286" y="572948"/>
                </a:cubicBezTo>
                <a:lnTo>
                  <a:pt x="33703" y="572948"/>
                </a:lnTo>
                <a:cubicBezTo>
                  <a:pt x="15089" y="572948"/>
                  <a:pt x="0" y="557859"/>
                  <a:pt x="0" y="539245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2083" y="1759183"/>
            <a:ext cx="33703" cy="572948"/>
          </a:xfrm>
          <a:custGeom>
            <a:avLst/>
            <a:gdLst/>
            <a:ahLst/>
            <a:cxnLst/>
            <a:rect l="l" t="t" r="r" b="b"/>
            <a:pathLst>
              <a:path w="33703" h="572948">
                <a:moveTo>
                  <a:pt x="33703" y="0"/>
                </a:moveTo>
                <a:lnTo>
                  <a:pt x="33703" y="0"/>
                </a:lnTo>
                <a:lnTo>
                  <a:pt x="33703" y="572948"/>
                </a:lnTo>
                <a:lnTo>
                  <a:pt x="33703" y="572948"/>
                </a:lnTo>
                <a:cubicBezTo>
                  <a:pt x="15089" y="572948"/>
                  <a:pt x="0" y="557859"/>
                  <a:pt x="0" y="539245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1220043" y="1860292"/>
            <a:ext cx="4533031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API Request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20043" y="2062509"/>
            <a:ext cx="4524605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Incoming client request to API endpoint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02978" y="2433240"/>
            <a:ext cx="126386" cy="168514"/>
          </a:xfrm>
          <a:custGeom>
            <a:avLst/>
            <a:gdLst/>
            <a:ahLst/>
            <a:cxnLst/>
            <a:rect l="l" t="t" r="r" b="b"/>
            <a:pathLst>
              <a:path w="126386" h="168514">
                <a:moveTo>
                  <a:pt x="55754" y="165420"/>
                </a:moveTo>
                <a:cubicBezTo>
                  <a:pt x="59869" y="169534"/>
                  <a:pt x="66550" y="169534"/>
                  <a:pt x="70664" y="165420"/>
                </a:cubicBezTo>
                <a:lnTo>
                  <a:pt x="123325" y="112760"/>
                </a:lnTo>
                <a:cubicBezTo>
                  <a:pt x="127439" y="108646"/>
                  <a:pt x="127439" y="101964"/>
                  <a:pt x="123325" y="97850"/>
                </a:cubicBezTo>
                <a:cubicBezTo>
                  <a:pt x="119211" y="93736"/>
                  <a:pt x="112529" y="93736"/>
                  <a:pt x="108415" y="97850"/>
                </a:cubicBezTo>
                <a:lnTo>
                  <a:pt x="73725" y="132540"/>
                </a:lnTo>
                <a:lnTo>
                  <a:pt x="73725" y="10532"/>
                </a:lnTo>
                <a:cubicBezTo>
                  <a:pt x="73725" y="4707"/>
                  <a:pt x="69018" y="0"/>
                  <a:pt x="63193" y="0"/>
                </a:cubicBezTo>
                <a:cubicBezTo>
                  <a:pt x="57367" y="0"/>
                  <a:pt x="52661" y="4707"/>
                  <a:pt x="52661" y="10532"/>
                </a:cubicBezTo>
                <a:lnTo>
                  <a:pt x="52661" y="132540"/>
                </a:lnTo>
                <a:lnTo>
                  <a:pt x="17970" y="97850"/>
                </a:lnTo>
                <a:cubicBezTo>
                  <a:pt x="13856" y="93736"/>
                  <a:pt x="7175" y="93736"/>
                  <a:pt x="3061" y="97850"/>
                </a:cubicBezTo>
                <a:cubicBezTo>
                  <a:pt x="-1053" y="101964"/>
                  <a:pt x="-1053" y="108646"/>
                  <a:pt x="3061" y="112760"/>
                </a:cubicBezTo>
                <a:lnTo>
                  <a:pt x="55722" y="165420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5986" y="2787120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101109" y="0"/>
                </a:moveTo>
                <a:lnTo>
                  <a:pt x="303326" y="0"/>
                </a:lnTo>
                <a:cubicBezTo>
                  <a:pt x="359129" y="0"/>
                  <a:pt x="404434" y="45305"/>
                  <a:pt x="404434" y="101109"/>
                </a:cubicBezTo>
                <a:lnTo>
                  <a:pt x="404434" y="303326"/>
                </a:lnTo>
                <a:cubicBezTo>
                  <a:pt x="404434" y="359166"/>
                  <a:pt x="359166" y="404434"/>
                  <a:pt x="303326" y="404434"/>
                </a:cubicBezTo>
                <a:lnTo>
                  <a:pt x="101109" y="404434"/>
                </a:lnTo>
                <a:cubicBezTo>
                  <a:pt x="45268" y="404434"/>
                  <a:pt x="0" y="359166"/>
                  <a:pt x="0" y="303326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gradFill rotWithShape="1" flip="none">
            <a:gsLst>
              <a:gs pos="0">
                <a:srgbClr val="2DD4BF"/>
              </a:gs>
              <a:gs pos="100000">
                <a:srgbClr val="38BDF8"/>
              </a:gs>
            </a:gsLst>
            <a:lin ang="270000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701335" y="2871377"/>
            <a:ext cx="176940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1118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02083" y="2702863"/>
            <a:ext cx="4684694" cy="572948"/>
          </a:xfrm>
          <a:custGeom>
            <a:avLst/>
            <a:gdLst/>
            <a:ahLst/>
            <a:cxnLst/>
            <a:rect l="l" t="t" r="r" b="b"/>
            <a:pathLst>
              <a:path w="4684694" h="572948">
                <a:moveTo>
                  <a:pt x="33703" y="0"/>
                </a:moveTo>
                <a:lnTo>
                  <a:pt x="4617286" y="0"/>
                </a:lnTo>
                <a:cubicBezTo>
                  <a:pt x="4654515" y="0"/>
                  <a:pt x="4684694" y="30179"/>
                  <a:pt x="4684694" y="67407"/>
                </a:cubicBezTo>
                <a:lnTo>
                  <a:pt x="4684694" y="505541"/>
                </a:lnTo>
                <a:cubicBezTo>
                  <a:pt x="4684694" y="542769"/>
                  <a:pt x="4654515" y="572948"/>
                  <a:pt x="4617286" y="572948"/>
                </a:cubicBezTo>
                <a:lnTo>
                  <a:pt x="33703" y="572948"/>
                </a:lnTo>
                <a:cubicBezTo>
                  <a:pt x="15089" y="572948"/>
                  <a:pt x="0" y="557859"/>
                  <a:pt x="0" y="539245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19" name="Shape 17"/>
          <p:cNvSpPr/>
          <p:nvPr/>
        </p:nvSpPr>
        <p:spPr>
          <a:xfrm>
            <a:off x="1102083" y="2702863"/>
            <a:ext cx="33703" cy="572948"/>
          </a:xfrm>
          <a:custGeom>
            <a:avLst/>
            <a:gdLst/>
            <a:ahLst/>
            <a:cxnLst/>
            <a:rect l="l" t="t" r="r" b="b"/>
            <a:pathLst>
              <a:path w="33703" h="572948">
                <a:moveTo>
                  <a:pt x="33703" y="0"/>
                </a:moveTo>
                <a:lnTo>
                  <a:pt x="33703" y="0"/>
                </a:lnTo>
                <a:lnTo>
                  <a:pt x="33703" y="572948"/>
                </a:lnTo>
                <a:lnTo>
                  <a:pt x="33703" y="572948"/>
                </a:lnTo>
                <a:cubicBezTo>
                  <a:pt x="15089" y="572948"/>
                  <a:pt x="0" y="557859"/>
                  <a:pt x="0" y="539245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20" name="Text 18"/>
          <p:cNvSpPr/>
          <p:nvPr/>
        </p:nvSpPr>
        <p:spPr>
          <a:xfrm>
            <a:off x="1220043" y="2803971"/>
            <a:ext cx="4533031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Traffic Pattern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20043" y="3006188"/>
            <a:ext cx="4524605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Analyze current request rate and history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02978" y="3376919"/>
            <a:ext cx="126386" cy="168514"/>
          </a:xfrm>
          <a:custGeom>
            <a:avLst/>
            <a:gdLst/>
            <a:ahLst/>
            <a:cxnLst/>
            <a:rect l="l" t="t" r="r" b="b"/>
            <a:pathLst>
              <a:path w="126386" h="168514">
                <a:moveTo>
                  <a:pt x="55754" y="165420"/>
                </a:moveTo>
                <a:cubicBezTo>
                  <a:pt x="59869" y="169534"/>
                  <a:pt x="66550" y="169534"/>
                  <a:pt x="70664" y="165420"/>
                </a:cubicBezTo>
                <a:lnTo>
                  <a:pt x="123325" y="112760"/>
                </a:lnTo>
                <a:cubicBezTo>
                  <a:pt x="127439" y="108646"/>
                  <a:pt x="127439" y="101964"/>
                  <a:pt x="123325" y="97850"/>
                </a:cubicBezTo>
                <a:cubicBezTo>
                  <a:pt x="119211" y="93736"/>
                  <a:pt x="112529" y="93736"/>
                  <a:pt x="108415" y="97850"/>
                </a:cubicBezTo>
                <a:lnTo>
                  <a:pt x="73725" y="132540"/>
                </a:lnTo>
                <a:lnTo>
                  <a:pt x="73725" y="10532"/>
                </a:lnTo>
                <a:cubicBezTo>
                  <a:pt x="73725" y="4707"/>
                  <a:pt x="69018" y="0"/>
                  <a:pt x="63193" y="0"/>
                </a:cubicBezTo>
                <a:cubicBezTo>
                  <a:pt x="57367" y="0"/>
                  <a:pt x="52661" y="4707"/>
                  <a:pt x="52661" y="10532"/>
                </a:cubicBezTo>
                <a:lnTo>
                  <a:pt x="52661" y="132540"/>
                </a:lnTo>
                <a:lnTo>
                  <a:pt x="17970" y="97850"/>
                </a:lnTo>
                <a:cubicBezTo>
                  <a:pt x="13856" y="93736"/>
                  <a:pt x="7175" y="93736"/>
                  <a:pt x="3061" y="97850"/>
                </a:cubicBezTo>
                <a:cubicBezTo>
                  <a:pt x="-1053" y="101964"/>
                  <a:pt x="-1053" y="108646"/>
                  <a:pt x="3061" y="112760"/>
                </a:cubicBezTo>
                <a:lnTo>
                  <a:pt x="55722" y="165420"/>
                </a:ln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23" name="Shape 21"/>
          <p:cNvSpPr/>
          <p:nvPr/>
        </p:nvSpPr>
        <p:spPr>
          <a:xfrm>
            <a:off x="545986" y="3730799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101109" y="0"/>
                </a:moveTo>
                <a:lnTo>
                  <a:pt x="303326" y="0"/>
                </a:lnTo>
                <a:cubicBezTo>
                  <a:pt x="359129" y="0"/>
                  <a:pt x="404434" y="45305"/>
                  <a:pt x="404434" y="101109"/>
                </a:cubicBezTo>
                <a:lnTo>
                  <a:pt x="404434" y="303326"/>
                </a:lnTo>
                <a:cubicBezTo>
                  <a:pt x="404434" y="359166"/>
                  <a:pt x="359166" y="404434"/>
                  <a:pt x="303326" y="404434"/>
                </a:cubicBezTo>
                <a:lnTo>
                  <a:pt x="101109" y="404434"/>
                </a:lnTo>
                <a:cubicBezTo>
                  <a:pt x="45268" y="404434"/>
                  <a:pt x="0" y="359166"/>
                  <a:pt x="0" y="303326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/>
              </a:gs>
              <a:gs pos="100000">
                <a:srgbClr val="2DD4BF"/>
              </a:gs>
            </a:gsLst>
            <a:lin ang="2700000" scaled="1"/>
          </a:gradFill>
          <a:ln/>
        </p:spPr>
      </p:sp>
      <p:sp>
        <p:nvSpPr>
          <p:cNvPr id="24" name="Text 22"/>
          <p:cNvSpPr/>
          <p:nvPr/>
        </p:nvSpPr>
        <p:spPr>
          <a:xfrm>
            <a:off x="701335" y="3815056"/>
            <a:ext cx="176940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1118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02083" y="3646542"/>
            <a:ext cx="4684694" cy="572948"/>
          </a:xfrm>
          <a:custGeom>
            <a:avLst/>
            <a:gdLst/>
            <a:ahLst/>
            <a:cxnLst/>
            <a:rect l="l" t="t" r="r" b="b"/>
            <a:pathLst>
              <a:path w="4684694" h="572948">
                <a:moveTo>
                  <a:pt x="33703" y="0"/>
                </a:moveTo>
                <a:lnTo>
                  <a:pt x="4617286" y="0"/>
                </a:lnTo>
                <a:cubicBezTo>
                  <a:pt x="4654515" y="0"/>
                  <a:pt x="4684694" y="30179"/>
                  <a:pt x="4684694" y="67407"/>
                </a:cubicBezTo>
                <a:lnTo>
                  <a:pt x="4684694" y="505541"/>
                </a:lnTo>
                <a:cubicBezTo>
                  <a:pt x="4684694" y="542769"/>
                  <a:pt x="4654515" y="572948"/>
                  <a:pt x="4617286" y="572948"/>
                </a:cubicBezTo>
                <a:lnTo>
                  <a:pt x="33703" y="572948"/>
                </a:lnTo>
                <a:cubicBezTo>
                  <a:pt x="15089" y="572948"/>
                  <a:pt x="0" y="557859"/>
                  <a:pt x="0" y="539245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2083" y="3646542"/>
            <a:ext cx="33703" cy="572948"/>
          </a:xfrm>
          <a:custGeom>
            <a:avLst/>
            <a:gdLst/>
            <a:ahLst/>
            <a:cxnLst/>
            <a:rect l="l" t="t" r="r" b="b"/>
            <a:pathLst>
              <a:path w="33703" h="572948">
                <a:moveTo>
                  <a:pt x="33703" y="0"/>
                </a:moveTo>
                <a:lnTo>
                  <a:pt x="33703" y="0"/>
                </a:lnTo>
                <a:lnTo>
                  <a:pt x="33703" y="572948"/>
                </a:lnTo>
                <a:lnTo>
                  <a:pt x="33703" y="572948"/>
                </a:lnTo>
                <a:cubicBezTo>
                  <a:pt x="15089" y="572948"/>
                  <a:pt x="0" y="557859"/>
                  <a:pt x="0" y="539245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1220043" y="3747651"/>
            <a:ext cx="4533031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QIO Calculates Optimal Limit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20043" y="3949868"/>
            <a:ext cx="4524605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Quantum-inspired optimization executes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102978" y="4320599"/>
            <a:ext cx="126386" cy="168514"/>
          </a:xfrm>
          <a:custGeom>
            <a:avLst/>
            <a:gdLst/>
            <a:ahLst/>
            <a:cxnLst/>
            <a:rect l="l" t="t" r="r" b="b"/>
            <a:pathLst>
              <a:path w="126386" h="168514">
                <a:moveTo>
                  <a:pt x="55754" y="165420"/>
                </a:moveTo>
                <a:cubicBezTo>
                  <a:pt x="59869" y="169534"/>
                  <a:pt x="66550" y="169534"/>
                  <a:pt x="70664" y="165420"/>
                </a:cubicBezTo>
                <a:lnTo>
                  <a:pt x="123325" y="112760"/>
                </a:lnTo>
                <a:cubicBezTo>
                  <a:pt x="127439" y="108646"/>
                  <a:pt x="127439" y="101964"/>
                  <a:pt x="123325" y="97850"/>
                </a:cubicBezTo>
                <a:cubicBezTo>
                  <a:pt x="119211" y="93736"/>
                  <a:pt x="112529" y="93736"/>
                  <a:pt x="108415" y="97850"/>
                </a:cubicBezTo>
                <a:lnTo>
                  <a:pt x="73725" y="132540"/>
                </a:lnTo>
                <a:lnTo>
                  <a:pt x="73725" y="10532"/>
                </a:lnTo>
                <a:cubicBezTo>
                  <a:pt x="73725" y="4707"/>
                  <a:pt x="69018" y="0"/>
                  <a:pt x="63193" y="0"/>
                </a:cubicBezTo>
                <a:cubicBezTo>
                  <a:pt x="57367" y="0"/>
                  <a:pt x="52661" y="4707"/>
                  <a:pt x="52661" y="10532"/>
                </a:cubicBezTo>
                <a:lnTo>
                  <a:pt x="52661" y="132540"/>
                </a:lnTo>
                <a:lnTo>
                  <a:pt x="17970" y="97850"/>
                </a:lnTo>
                <a:cubicBezTo>
                  <a:pt x="13856" y="93736"/>
                  <a:pt x="7175" y="93736"/>
                  <a:pt x="3061" y="97850"/>
                </a:cubicBezTo>
                <a:cubicBezTo>
                  <a:pt x="-1053" y="101964"/>
                  <a:pt x="-1053" y="108646"/>
                  <a:pt x="3061" y="112760"/>
                </a:cubicBezTo>
                <a:lnTo>
                  <a:pt x="55722" y="165420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0" name="Shape 28"/>
          <p:cNvSpPr/>
          <p:nvPr/>
        </p:nvSpPr>
        <p:spPr>
          <a:xfrm>
            <a:off x="545986" y="4674479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101109" y="0"/>
                </a:moveTo>
                <a:lnTo>
                  <a:pt x="303326" y="0"/>
                </a:lnTo>
                <a:cubicBezTo>
                  <a:pt x="359129" y="0"/>
                  <a:pt x="404434" y="45305"/>
                  <a:pt x="404434" y="101109"/>
                </a:cubicBezTo>
                <a:lnTo>
                  <a:pt x="404434" y="303326"/>
                </a:lnTo>
                <a:cubicBezTo>
                  <a:pt x="404434" y="359166"/>
                  <a:pt x="359166" y="404434"/>
                  <a:pt x="303326" y="404434"/>
                </a:cubicBezTo>
                <a:lnTo>
                  <a:pt x="101109" y="404434"/>
                </a:lnTo>
                <a:cubicBezTo>
                  <a:pt x="45268" y="404434"/>
                  <a:pt x="0" y="359166"/>
                  <a:pt x="0" y="303326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gradFill rotWithShape="1" flip="none">
            <a:gsLst>
              <a:gs pos="0">
                <a:srgbClr val="2DD4BF"/>
              </a:gs>
              <a:gs pos="100000">
                <a:srgbClr val="38BDF8"/>
              </a:gs>
            </a:gsLst>
            <a:lin ang="2700000" scaled="1"/>
          </a:gradFill>
          <a:ln/>
        </p:spPr>
      </p:sp>
      <p:sp>
        <p:nvSpPr>
          <p:cNvPr id="31" name="Text 29"/>
          <p:cNvSpPr/>
          <p:nvPr/>
        </p:nvSpPr>
        <p:spPr>
          <a:xfrm>
            <a:off x="701335" y="4758736"/>
            <a:ext cx="176940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1118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02083" y="4590221"/>
            <a:ext cx="4684694" cy="572948"/>
          </a:xfrm>
          <a:custGeom>
            <a:avLst/>
            <a:gdLst/>
            <a:ahLst/>
            <a:cxnLst/>
            <a:rect l="l" t="t" r="r" b="b"/>
            <a:pathLst>
              <a:path w="4684694" h="572948">
                <a:moveTo>
                  <a:pt x="33703" y="0"/>
                </a:moveTo>
                <a:lnTo>
                  <a:pt x="4617286" y="0"/>
                </a:lnTo>
                <a:cubicBezTo>
                  <a:pt x="4654515" y="0"/>
                  <a:pt x="4684694" y="30179"/>
                  <a:pt x="4684694" y="67407"/>
                </a:cubicBezTo>
                <a:lnTo>
                  <a:pt x="4684694" y="505541"/>
                </a:lnTo>
                <a:cubicBezTo>
                  <a:pt x="4684694" y="542769"/>
                  <a:pt x="4654515" y="572948"/>
                  <a:pt x="4617286" y="572948"/>
                </a:cubicBezTo>
                <a:lnTo>
                  <a:pt x="33703" y="572948"/>
                </a:lnTo>
                <a:cubicBezTo>
                  <a:pt x="15089" y="572948"/>
                  <a:pt x="0" y="557859"/>
                  <a:pt x="0" y="539245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33" name="Shape 31"/>
          <p:cNvSpPr/>
          <p:nvPr/>
        </p:nvSpPr>
        <p:spPr>
          <a:xfrm>
            <a:off x="1102083" y="4590221"/>
            <a:ext cx="33703" cy="572948"/>
          </a:xfrm>
          <a:custGeom>
            <a:avLst/>
            <a:gdLst/>
            <a:ahLst/>
            <a:cxnLst/>
            <a:rect l="l" t="t" r="r" b="b"/>
            <a:pathLst>
              <a:path w="33703" h="572948">
                <a:moveTo>
                  <a:pt x="33703" y="0"/>
                </a:moveTo>
                <a:lnTo>
                  <a:pt x="33703" y="0"/>
                </a:lnTo>
                <a:lnTo>
                  <a:pt x="33703" y="572948"/>
                </a:lnTo>
                <a:lnTo>
                  <a:pt x="33703" y="572948"/>
                </a:lnTo>
                <a:cubicBezTo>
                  <a:pt x="15089" y="572948"/>
                  <a:pt x="0" y="557859"/>
                  <a:pt x="0" y="539245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34" name="Text 32"/>
          <p:cNvSpPr/>
          <p:nvPr/>
        </p:nvSpPr>
        <p:spPr>
          <a:xfrm>
            <a:off x="1220043" y="4691330"/>
            <a:ext cx="4533031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Rate Limiter Threshold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20043" y="4893547"/>
            <a:ext cx="4524605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Dynamic limit adjustment applied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102978" y="5264278"/>
            <a:ext cx="126386" cy="168514"/>
          </a:xfrm>
          <a:custGeom>
            <a:avLst/>
            <a:gdLst/>
            <a:ahLst/>
            <a:cxnLst/>
            <a:rect l="l" t="t" r="r" b="b"/>
            <a:pathLst>
              <a:path w="126386" h="168514">
                <a:moveTo>
                  <a:pt x="55754" y="165420"/>
                </a:moveTo>
                <a:cubicBezTo>
                  <a:pt x="59869" y="169534"/>
                  <a:pt x="66550" y="169534"/>
                  <a:pt x="70664" y="165420"/>
                </a:cubicBezTo>
                <a:lnTo>
                  <a:pt x="123325" y="112760"/>
                </a:lnTo>
                <a:cubicBezTo>
                  <a:pt x="127439" y="108646"/>
                  <a:pt x="127439" y="101964"/>
                  <a:pt x="123325" y="97850"/>
                </a:cubicBezTo>
                <a:cubicBezTo>
                  <a:pt x="119211" y="93736"/>
                  <a:pt x="112529" y="93736"/>
                  <a:pt x="108415" y="97850"/>
                </a:cubicBezTo>
                <a:lnTo>
                  <a:pt x="73725" y="132540"/>
                </a:lnTo>
                <a:lnTo>
                  <a:pt x="73725" y="10532"/>
                </a:lnTo>
                <a:cubicBezTo>
                  <a:pt x="73725" y="4707"/>
                  <a:pt x="69018" y="0"/>
                  <a:pt x="63193" y="0"/>
                </a:cubicBezTo>
                <a:cubicBezTo>
                  <a:pt x="57367" y="0"/>
                  <a:pt x="52661" y="4707"/>
                  <a:pt x="52661" y="10532"/>
                </a:cubicBezTo>
                <a:lnTo>
                  <a:pt x="52661" y="132540"/>
                </a:lnTo>
                <a:lnTo>
                  <a:pt x="17970" y="97850"/>
                </a:lnTo>
                <a:cubicBezTo>
                  <a:pt x="13856" y="93736"/>
                  <a:pt x="7175" y="93736"/>
                  <a:pt x="3061" y="97850"/>
                </a:cubicBezTo>
                <a:cubicBezTo>
                  <a:pt x="-1053" y="101964"/>
                  <a:pt x="-1053" y="108646"/>
                  <a:pt x="3061" y="112760"/>
                </a:cubicBezTo>
                <a:lnTo>
                  <a:pt x="55722" y="165420"/>
                </a:ln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37" name="Shape 35"/>
          <p:cNvSpPr/>
          <p:nvPr/>
        </p:nvSpPr>
        <p:spPr>
          <a:xfrm>
            <a:off x="545986" y="5618158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101109" y="0"/>
                </a:moveTo>
                <a:lnTo>
                  <a:pt x="303326" y="0"/>
                </a:lnTo>
                <a:cubicBezTo>
                  <a:pt x="359129" y="0"/>
                  <a:pt x="404434" y="45305"/>
                  <a:pt x="404434" y="101109"/>
                </a:cubicBezTo>
                <a:lnTo>
                  <a:pt x="404434" y="303326"/>
                </a:lnTo>
                <a:cubicBezTo>
                  <a:pt x="404434" y="359166"/>
                  <a:pt x="359166" y="404434"/>
                  <a:pt x="303326" y="404434"/>
                </a:cubicBezTo>
                <a:lnTo>
                  <a:pt x="101109" y="404434"/>
                </a:lnTo>
                <a:cubicBezTo>
                  <a:pt x="45268" y="404434"/>
                  <a:pt x="0" y="359166"/>
                  <a:pt x="0" y="303326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/>
              </a:gs>
              <a:gs pos="100000">
                <a:srgbClr val="2DD4BF"/>
              </a:gs>
            </a:gsLst>
            <a:lin ang="2700000" scaled="1"/>
          </a:gradFill>
          <a:ln/>
        </p:spPr>
      </p:sp>
      <p:sp>
        <p:nvSpPr>
          <p:cNvPr id="38" name="Text 36"/>
          <p:cNvSpPr/>
          <p:nvPr/>
        </p:nvSpPr>
        <p:spPr>
          <a:xfrm>
            <a:off x="701335" y="5702415"/>
            <a:ext cx="176940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27" b="1" dirty="0">
                <a:solidFill>
                  <a:srgbClr val="11182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02083" y="5533901"/>
            <a:ext cx="4684694" cy="572948"/>
          </a:xfrm>
          <a:custGeom>
            <a:avLst/>
            <a:gdLst/>
            <a:ahLst/>
            <a:cxnLst/>
            <a:rect l="l" t="t" r="r" b="b"/>
            <a:pathLst>
              <a:path w="4684694" h="572948">
                <a:moveTo>
                  <a:pt x="33703" y="0"/>
                </a:moveTo>
                <a:lnTo>
                  <a:pt x="4617286" y="0"/>
                </a:lnTo>
                <a:cubicBezTo>
                  <a:pt x="4654515" y="0"/>
                  <a:pt x="4684694" y="30179"/>
                  <a:pt x="4684694" y="67407"/>
                </a:cubicBezTo>
                <a:lnTo>
                  <a:pt x="4684694" y="505541"/>
                </a:lnTo>
                <a:cubicBezTo>
                  <a:pt x="4684694" y="542769"/>
                  <a:pt x="4654515" y="572948"/>
                  <a:pt x="4617286" y="572948"/>
                </a:cubicBezTo>
                <a:lnTo>
                  <a:pt x="33703" y="572948"/>
                </a:lnTo>
                <a:cubicBezTo>
                  <a:pt x="15089" y="572948"/>
                  <a:pt x="0" y="557859"/>
                  <a:pt x="0" y="539245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40" name="Shape 38"/>
          <p:cNvSpPr/>
          <p:nvPr/>
        </p:nvSpPr>
        <p:spPr>
          <a:xfrm>
            <a:off x="1102083" y="5533901"/>
            <a:ext cx="33703" cy="572948"/>
          </a:xfrm>
          <a:custGeom>
            <a:avLst/>
            <a:gdLst/>
            <a:ahLst/>
            <a:cxnLst/>
            <a:rect l="l" t="t" r="r" b="b"/>
            <a:pathLst>
              <a:path w="33703" h="572948">
                <a:moveTo>
                  <a:pt x="33703" y="0"/>
                </a:moveTo>
                <a:lnTo>
                  <a:pt x="33703" y="0"/>
                </a:lnTo>
                <a:lnTo>
                  <a:pt x="33703" y="572948"/>
                </a:lnTo>
                <a:lnTo>
                  <a:pt x="33703" y="572948"/>
                </a:lnTo>
                <a:cubicBezTo>
                  <a:pt x="15089" y="572948"/>
                  <a:pt x="0" y="557859"/>
                  <a:pt x="0" y="539245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1" name="Text 39"/>
          <p:cNvSpPr/>
          <p:nvPr/>
        </p:nvSpPr>
        <p:spPr>
          <a:xfrm>
            <a:off x="1220043" y="5635009"/>
            <a:ext cx="4533031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Processes → Response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20043" y="5837226"/>
            <a:ext cx="4524605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Request handled or rejected based on limit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00900" y="1115564"/>
            <a:ext cx="5651965" cy="5196977"/>
          </a:xfrm>
          <a:custGeom>
            <a:avLst/>
            <a:gdLst/>
            <a:ahLst/>
            <a:cxnLst/>
            <a:rect l="l" t="t" r="r" b="b"/>
            <a:pathLst>
              <a:path w="5651965" h="5196977">
                <a:moveTo>
                  <a:pt x="101133" y="0"/>
                </a:moveTo>
                <a:lnTo>
                  <a:pt x="5550832" y="0"/>
                </a:lnTo>
                <a:cubicBezTo>
                  <a:pt x="5606686" y="0"/>
                  <a:pt x="5651965" y="45279"/>
                  <a:pt x="5651965" y="101133"/>
                </a:cubicBezTo>
                <a:lnTo>
                  <a:pt x="5651965" y="5095844"/>
                </a:lnTo>
                <a:cubicBezTo>
                  <a:pt x="5651965" y="5151698"/>
                  <a:pt x="5606686" y="5196977"/>
                  <a:pt x="5550832" y="5196977"/>
                </a:cubicBezTo>
                <a:lnTo>
                  <a:pt x="101133" y="5196977"/>
                </a:lnTo>
                <a:cubicBezTo>
                  <a:pt x="45279" y="5196977"/>
                  <a:pt x="0" y="5151698"/>
                  <a:pt x="0" y="5095844"/>
                </a:cubicBezTo>
                <a:lnTo>
                  <a:pt x="0" y="101133"/>
                </a:lnTo>
                <a:cubicBezTo>
                  <a:pt x="0" y="45279"/>
                  <a:pt x="45279" y="0"/>
                  <a:pt x="101133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>
                  <a:alpha val="20000"/>
                </a:srgbClr>
              </a:gs>
              <a:gs pos="100000">
                <a:srgbClr val="2DD4BF">
                  <a:alpha val="20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6488" y="1321154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101109" y="0"/>
                </a:moveTo>
                <a:lnTo>
                  <a:pt x="303326" y="0"/>
                </a:lnTo>
                <a:cubicBezTo>
                  <a:pt x="359129" y="0"/>
                  <a:pt x="404434" y="45305"/>
                  <a:pt x="404434" y="101109"/>
                </a:cubicBezTo>
                <a:lnTo>
                  <a:pt x="404434" y="303326"/>
                </a:lnTo>
                <a:cubicBezTo>
                  <a:pt x="404434" y="359166"/>
                  <a:pt x="359166" y="404434"/>
                  <a:pt x="303326" y="404434"/>
                </a:cubicBezTo>
                <a:lnTo>
                  <a:pt x="101109" y="404434"/>
                </a:lnTo>
                <a:cubicBezTo>
                  <a:pt x="45268" y="404434"/>
                  <a:pt x="0" y="359166"/>
                  <a:pt x="0" y="303326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solidFill>
            <a:srgbClr val="38BDF8">
              <a:alpha val="3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32873" y="1422262"/>
            <a:ext cx="151663" cy="202217"/>
          </a:xfrm>
          <a:custGeom>
            <a:avLst/>
            <a:gdLst/>
            <a:ahLst/>
            <a:cxnLst/>
            <a:rect l="l" t="t" r="r" b="b"/>
            <a:pathLst>
              <a:path w="151663" h="202217">
                <a:moveTo>
                  <a:pt x="139024" y="0"/>
                </a:moveTo>
                <a:cubicBezTo>
                  <a:pt x="146015" y="0"/>
                  <a:pt x="151663" y="5648"/>
                  <a:pt x="151663" y="12639"/>
                </a:cubicBezTo>
                <a:cubicBezTo>
                  <a:pt x="151663" y="35467"/>
                  <a:pt x="142026" y="54030"/>
                  <a:pt x="128992" y="69710"/>
                </a:cubicBezTo>
                <a:cubicBezTo>
                  <a:pt x="119474" y="81124"/>
                  <a:pt x="107744" y="91472"/>
                  <a:pt x="95974" y="101109"/>
                </a:cubicBezTo>
                <a:cubicBezTo>
                  <a:pt x="107744" y="110785"/>
                  <a:pt x="119474" y="121093"/>
                  <a:pt x="128992" y="132507"/>
                </a:cubicBezTo>
                <a:cubicBezTo>
                  <a:pt x="142026" y="148148"/>
                  <a:pt x="151663" y="166750"/>
                  <a:pt x="151663" y="189578"/>
                </a:cubicBezTo>
                <a:cubicBezTo>
                  <a:pt x="151663" y="196569"/>
                  <a:pt x="146015" y="202217"/>
                  <a:pt x="139024" y="202217"/>
                </a:cubicBezTo>
                <a:cubicBezTo>
                  <a:pt x="132033" y="202217"/>
                  <a:pt x="126386" y="196569"/>
                  <a:pt x="126386" y="189578"/>
                </a:cubicBezTo>
                <a:lnTo>
                  <a:pt x="25277" y="189578"/>
                </a:lnTo>
                <a:cubicBezTo>
                  <a:pt x="25277" y="196569"/>
                  <a:pt x="19629" y="202217"/>
                  <a:pt x="12639" y="202217"/>
                </a:cubicBezTo>
                <a:cubicBezTo>
                  <a:pt x="5648" y="202217"/>
                  <a:pt x="0" y="196569"/>
                  <a:pt x="0" y="189578"/>
                </a:cubicBezTo>
                <a:cubicBezTo>
                  <a:pt x="0" y="166750"/>
                  <a:pt x="9637" y="148187"/>
                  <a:pt x="22670" y="132507"/>
                </a:cubicBezTo>
                <a:cubicBezTo>
                  <a:pt x="32189" y="121093"/>
                  <a:pt x="43919" y="110785"/>
                  <a:pt x="55689" y="101109"/>
                </a:cubicBezTo>
                <a:cubicBezTo>
                  <a:pt x="43919" y="91432"/>
                  <a:pt x="32189" y="81124"/>
                  <a:pt x="22670" y="69710"/>
                </a:cubicBezTo>
                <a:cubicBezTo>
                  <a:pt x="9637" y="54030"/>
                  <a:pt x="0" y="35467"/>
                  <a:pt x="0" y="12639"/>
                </a:cubicBezTo>
                <a:cubicBezTo>
                  <a:pt x="0" y="5648"/>
                  <a:pt x="5648" y="0"/>
                  <a:pt x="12639" y="0"/>
                </a:cubicBezTo>
                <a:cubicBezTo>
                  <a:pt x="19629" y="0"/>
                  <a:pt x="25277" y="5648"/>
                  <a:pt x="25277" y="12639"/>
                </a:cubicBezTo>
                <a:lnTo>
                  <a:pt x="126386" y="12639"/>
                </a:lnTo>
                <a:cubicBezTo>
                  <a:pt x="126386" y="5648"/>
                  <a:pt x="132033" y="0"/>
                  <a:pt x="139024" y="0"/>
                </a:cubicBezTo>
                <a:close/>
                <a:moveTo>
                  <a:pt x="111970" y="151663"/>
                </a:moveTo>
                <a:lnTo>
                  <a:pt x="39732" y="151663"/>
                </a:lnTo>
                <a:cubicBezTo>
                  <a:pt x="36494" y="155810"/>
                  <a:pt x="33769" y="159996"/>
                  <a:pt x="31596" y="164301"/>
                </a:cubicBezTo>
                <a:lnTo>
                  <a:pt x="120145" y="164301"/>
                </a:lnTo>
                <a:cubicBezTo>
                  <a:pt x="117934" y="159996"/>
                  <a:pt x="115208" y="155810"/>
                  <a:pt x="112009" y="151663"/>
                </a:cubicBezTo>
                <a:close/>
                <a:moveTo>
                  <a:pt x="93999" y="132705"/>
                </a:moveTo>
                <a:cubicBezTo>
                  <a:pt x="88351" y="127570"/>
                  <a:pt x="82230" y="122515"/>
                  <a:pt x="75831" y="117302"/>
                </a:cubicBezTo>
                <a:cubicBezTo>
                  <a:pt x="69433" y="122476"/>
                  <a:pt x="63311" y="127570"/>
                  <a:pt x="57663" y="132705"/>
                </a:cubicBezTo>
                <a:lnTo>
                  <a:pt x="93999" y="132705"/>
                </a:lnTo>
                <a:close/>
                <a:moveTo>
                  <a:pt x="39693" y="50554"/>
                </a:moveTo>
                <a:lnTo>
                  <a:pt x="111930" y="50554"/>
                </a:lnTo>
                <a:cubicBezTo>
                  <a:pt x="115169" y="46407"/>
                  <a:pt x="117894" y="42221"/>
                  <a:pt x="120066" y="37916"/>
                </a:cubicBezTo>
                <a:lnTo>
                  <a:pt x="31557" y="37916"/>
                </a:lnTo>
                <a:cubicBezTo>
                  <a:pt x="33769" y="42221"/>
                  <a:pt x="36494" y="46407"/>
                  <a:pt x="39693" y="50554"/>
                </a:cubicBezTo>
                <a:close/>
                <a:moveTo>
                  <a:pt x="57663" y="69512"/>
                </a:moveTo>
                <a:cubicBezTo>
                  <a:pt x="63311" y="74647"/>
                  <a:pt x="69433" y="79702"/>
                  <a:pt x="75831" y="84915"/>
                </a:cubicBezTo>
                <a:cubicBezTo>
                  <a:pt x="82230" y="79741"/>
                  <a:pt x="88351" y="74647"/>
                  <a:pt x="93999" y="69512"/>
                </a:cubicBezTo>
                <a:lnTo>
                  <a:pt x="57663" y="69512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6" name="Text 44"/>
          <p:cNvSpPr/>
          <p:nvPr/>
        </p:nvSpPr>
        <p:spPr>
          <a:xfrm>
            <a:off x="6912030" y="1388559"/>
            <a:ext cx="1626162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QIGA Algorithm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06488" y="1894102"/>
            <a:ext cx="5308196" cy="4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2" b="1" dirty="0">
                <a:solidFill>
                  <a:srgbClr val="38BDF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Quantum-Inspired Genetic Algorithm (QIGA)</a:t>
            </a:r>
            <a:pPr>
              <a:lnSpc>
                <a:spcPct val="140000"/>
              </a:lnSpc>
            </a:pPr>
            <a:r>
              <a:rPr lang="en-US" sz="1062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Combines quantum computing principles with evolutionary optimization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23339" y="2500753"/>
            <a:ext cx="5223939" cy="775165"/>
          </a:xfrm>
          <a:custGeom>
            <a:avLst/>
            <a:gdLst/>
            <a:ahLst/>
            <a:cxnLst/>
            <a:rect l="l" t="t" r="r" b="b"/>
            <a:pathLst>
              <a:path w="5223939" h="775165">
                <a:moveTo>
                  <a:pt x="33703" y="0"/>
                </a:moveTo>
                <a:lnTo>
                  <a:pt x="5156531" y="0"/>
                </a:lnTo>
                <a:cubicBezTo>
                  <a:pt x="5193759" y="0"/>
                  <a:pt x="5223939" y="30180"/>
                  <a:pt x="5223939" y="67408"/>
                </a:cubicBezTo>
                <a:lnTo>
                  <a:pt x="5223939" y="707757"/>
                </a:lnTo>
                <a:cubicBezTo>
                  <a:pt x="5223939" y="744985"/>
                  <a:pt x="5193759" y="775165"/>
                  <a:pt x="5156531" y="775165"/>
                </a:cubicBezTo>
                <a:lnTo>
                  <a:pt x="33703" y="775165"/>
                </a:lnTo>
                <a:cubicBezTo>
                  <a:pt x="15089" y="775165"/>
                  <a:pt x="0" y="760076"/>
                  <a:pt x="0" y="741462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111827">
              <a:alpha val="6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23339" y="2500753"/>
            <a:ext cx="33703" cy="775165"/>
          </a:xfrm>
          <a:custGeom>
            <a:avLst/>
            <a:gdLst/>
            <a:ahLst/>
            <a:cxnLst/>
            <a:rect l="l" t="t" r="r" b="b"/>
            <a:pathLst>
              <a:path w="33703" h="775165">
                <a:moveTo>
                  <a:pt x="33703" y="0"/>
                </a:moveTo>
                <a:lnTo>
                  <a:pt x="33703" y="0"/>
                </a:lnTo>
                <a:lnTo>
                  <a:pt x="33703" y="775165"/>
                </a:lnTo>
                <a:lnTo>
                  <a:pt x="33703" y="775165"/>
                </a:lnTo>
                <a:cubicBezTo>
                  <a:pt x="15089" y="775165"/>
                  <a:pt x="0" y="760076"/>
                  <a:pt x="0" y="741462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50" name="Shape 48"/>
          <p:cNvSpPr/>
          <p:nvPr/>
        </p:nvSpPr>
        <p:spPr>
          <a:xfrm>
            <a:off x="6575002" y="2635564"/>
            <a:ext cx="269623" cy="269623"/>
          </a:xfrm>
          <a:custGeom>
            <a:avLst/>
            <a:gdLst/>
            <a:ahLst/>
            <a:cxnLst/>
            <a:rect l="l" t="t" r="r" b="b"/>
            <a:pathLst>
              <a:path w="269623" h="269623">
                <a:moveTo>
                  <a:pt x="67406" y="0"/>
                </a:moveTo>
                <a:lnTo>
                  <a:pt x="202217" y="0"/>
                </a:lnTo>
                <a:cubicBezTo>
                  <a:pt x="239419" y="0"/>
                  <a:pt x="269623" y="30203"/>
                  <a:pt x="269623" y="67406"/>
                </a:cubicBezTo>
                <a:lnTo>
                  <a:pt x="269623" y="202217"/>
                </a:lnTo>
                <a:cubicBezTo>
                  <a:pt x="269623" y="239419"/>
                  <a:pt x="239419" y="269623"/>
                  <a:pt x="202217" y="269623"/>
                </a:cubicBezTo>
                <a:lnTo>
                  <a:pt x="67406" y="269623"/>
                </a:lnTo>
                <a:cubicBezTo>
                  <a:pt x="30203" y="269623"/>
                  <a:pt x="0" y="239419"/>
                  <a:pt x="0" y="202217"/>
                </a:cubicBezTo>
                <a:lnTo>
                  <a:pt x="0" y="67406"/>
                </a:lnTo>
                <a:cubicBezTo>
                  <a:pt x="0" y="30203"/>
                  <a:pt x="30203" y="0"/>
                  <a:pt x="67406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660312" y="2711395"/>
            <a:ext cx="103215" cy="117960"/>
          </a:xfrm>
          <a:custGeom>
            <a:avLst/>
            <a:gdLst/>
            <a:ahLst/>
            <a:cxnLst/>
            <a:rect l="l" t="t" r="r" b="b"/>
            <a:pathLst>
              <a:path w="103215" h="117960">
                <a:moveTo>
                  <a:pt x="21012" y="8501"/>
                </a:moveTo>
                <a:cubicBezTo>
                  <a:pt x="18155" y="6935"/>
                  <a:pt x="14699" y="7004"/>
                  <a:pt x="11888" y="8663"/>
                </a:cubicBezTo>
                <a:cubicBezTo>
                  <a:pt x="9077" y="10321"/>
                  <a:pt x="7372" y="13340"/>
                  <a:pt x="7372" y="16588"/>
                </a:cubicBezTo>
                <a:lnTo>
                  <a:pt x="7372" y="101372"/>
                </a:lnTo>
                <a:cubicBezTo>
                  <a:pt x="7372" y="104620"/>
                  <a:pt x="9100" y="107638"/>
                  <a:pt x="11888" y="109297"/>
                </a:cubicBezTo>
                <a:cubicBezTo>
                  <a:pt x="14676" y="110956"/>
                  <a:pt x="18155" y="111025"/>
                  <a:pt x="21012" y="109459"/>
                </a:cubicBezTo>
                <a:lnTo>
                  <a:pt x="98423" y="67067"/>
                </a:lnTo>
                <a:cubicBezTo>
                  <a:pt x="101372" y="65454"/>
                  <a:pt x="103215" y="62344"/>
                  <a:pt x="103215" y="58980"/>
                </a:cubicBezTo>
                <a:cubicBezTo>
                  <a:pt x="103215" y="55616"/>
                  <a:pt x="101372" y="52506"/>
                  <a:pt x="98423" y="50893"/>
                </a:cubicBezTo>
                <a:lnTo>
                  <a:pt x="21012" y="8501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52" name="Text 50"/>
          <p:cNvSpPr/>
          <p:nvPr/>
        </p:nvSpPr>
        <p:spPr>
          <a:xfrm>
            <a:off x="6945733" y="2669267"/>
            <a:ext cx="2064299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Initialize Probability Population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45733" y="2972592"/>
            <a:ext cx="4625714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quantum probability vectors representing potential rate limit configurations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23339" y="3410729"/>
            <a:ext cx="5223939" cy="943679"/>
          </a:xfrm>
          <a:custGeom>
            <a:avLst/>
            <a:gdLst/>
            <a:ahLst/>
            <a:cxnLst/>
            <a:rect l="l" t="t" r="r" b="b"/>
            <a:pathLst>
              <a:path w="5223939" h="943679">
                <a:moveTo>
                  <a:pt x="33703" y="0"/>
                </a:moveTo>
                <a:lnTo>
                  <a:pt x="5156532" y="0"/>
                </a:lnTo>
                <a:cubicBezTo>
                  <a:pt x="5193760" y="0"/>
                  <a:pt x="5223939" y="30179"/>
                  <a:pt x="5223939" y="67407"/>
                </a:cubicBezTo>
                <a:lnTo>
                  <a:pt x="5223939" y="876272"/>
                </a:lnTo>
                <a:cubicBezTo>
                  <a:pt x="5223939" y="913475"/>
                  <a:pt x="5193735" y="943679"/>
                  <a:pt x="5156532" y="943679"/>
                </a:cubicBezTo>
                <a:lnTo>
                  <a:pt x="33703" y="943679"/>
                </a:lnTo>
                <a:cubicBezTo>
                  <a:pt x="15089" y="943679"/>
                  <a:pt x="0" y="928590"/>
                  <a:pt x="0" y="909977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111827">
              <a:alpha val="6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23339" y="3410729"/>
            <a:ext cx="33703" cy="943679"/>
          </a:xfrm>
          <a:custGeom>
            <a:avLst/>
            <a:gdLst/>
            <a:ahLst/>
            <a:cxnLst/>
            <a:rect l="l" t="t" r="r" b="b"/>
            <a:pathLst>
              <a:path w="33703" h="943679">
                <a:moveTo>
                  <a:pt x="33703" y="0"/>
                </a:moveTo>
                <a:lnTo>
                  <a:pt x="33703" y="0"/>
                </a:lnTo>
                <a:lnTo>
                  <a:pt x="33703" y="943679"/>
                </a:lnTo>
                <a:lnTo>
                  <a:pt x="33703" y="943679"/>
                </a:lnTo>
                <a:cubicBezTo>
                  <a:pt x="15089" y="943679"/>
                  <a:pt x="0" y="928590"/>
                  <a:pt x="0" y="909977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56" name="Shape 54"/>
          <p:cNvSpPr/>
          <p:nvPr/>
        </p:nvSpPr>
        <p:spPr>
          <a:xfrm>
            <a:off x="6575002" y="3545541"/>
            <a:ext cx="269623" cy="269623"/>
          </a:xfrm>
          <a:custGeom>
            <a:avLst/>
            <a:gdLst/>
            <a:ahLst/>
            <a:cxnLst/>
            <a:rect l="l" t="t" r="r" b="b"/>
            <a:pathLst>
              <a:path w="269623" h="269623">
                <a:moveTo>
                  <a:pt x="67406" y="0"/>
                </a:moveTo>
                <a:lnTo>
                  <a:pt x="202217" y="0"/>
                </a:lnTo>
                <a:cubicBezTo>
                  <a:pt x="239419" y="0"/>
                  <a:pt x="269623" y="30203"/>
                  <a:pt x="269623" y="67406"/>
                </a:cubicBezTo>
                <a:lnTo>
                  <a:pt x="269623" y="202217"/>
                </a:lnTo>
                <a:cubicBezTo>
                  <a:pt x="269623" y="239419"/>
                  <a:pt x="239419" y="269623"/>
                  <a:pt x="202217" y="269623"/>
                </a:cubicBezTo>
                <a:lnTo>
                  <a:pt x="67406" y="269623"/>
                </a:lnTo>
                <a:cubicBezTo>
                  <a:pt x="30203" y="269623"/>
                  <a:pt x="0" y="239419"/>
                  <a:pt x="0" y="202217"/>
                </a:cubicBezTo>
                <a:lnTo>
                  <a:pt x="0" y="67406"/>
                </a:lnTo>
                <a:cubicBezTo>
                  <a:pt x="0" y="30203"/>
                  <a:pt x="30203" y="0"/>
                  <a:pt x="67406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652940" y="3621372"/>
            <a:ext cx="117960" cy="117960"/>
          </a:xfrm>
          <a:custGeom>
            <a:avLst/>
            <a:gdLst/>
            <a:ahLst/>
            <a:cxnLst/>
            <a:rect l="l" t="t" r="r" b="b"/>
            <a:pathLst>
              <a:path w="117960" h="117960">
                <a:moveTo>
                  <a:pt x="14745" y="14745"/>
                </a:moveTo>
                <a:cubicBezTo>
                  <a:pt x="14745" y="10667"/>
                  <a:pt x="11450" y="7372"/>
                  <a:pt x="7372" y="7372"/>
                </a:cubicBezTo>
                <a:cubicBezTo>
                  <a:pt x="3295" y="7372"/>
                  <a:pt x="0" y="10667"/>
                  <a:pt x="0" y="14745"/>
                </a:cubicBezTo>
                <a:lnTo>
                  <a:pt x="0" y="92156"/>
                </a:lnTo>
                <a:cubicBezTo>
                  <a:pt x="0" y="102339"/>
                  <a:pt x="8248" y="110587"/>
                  <a:pt x="18431" y="110587"/>
                </a:cubicBezTo>
                <a:lnTo>
                  <a:pt x="110587" y="110587"/>
                </a:lnTo>
                <a:cubicBezTo>
                  <a:pt x="114665" y="110587"/>
                  <a:pt x="117960" y="107293"/>
                  <a:pt x="117960" y="103215"/>
                </a:cubicBezTo>
                <a:cubicBezTo>
                  <a:pt x="117960" y="99137"/>
                  <a:pt x="114665" y="95842"/>
                  <a:pt x="110587" y="95842"/>
                </a:cubicBezTo>
                <a:lnTo>
                  <a:pt x="18431" y="95842"/>
                </a:lnTo>
                <a:cubicBezTo>
                  <a:pt x="16404" y="95842"/>
                  <a:pt x="14745" y="94184"/>
                  <a:pt x="14745" y="92156"/>
                </a:cubicBezTo>
                <a:lnTo>
                  <a:pt x="14745" y="14745"/>
                </a:lnTo>
                <a:close/>
                <a:moveTo>
                  <a:pt x="108422" y="34697"/>
                </a:moveTo>
                <a:cubicBezTo>
                  <a:pt x="111302" y="31817"/>
                  <a:pt x="111302" y="27140"/>
                  <a:pt x="108422" y="24260"/>
                </a:cubicBezTo>
                <a:cubicBezTo>
                  <a:pt x="105542" y="21380"/>
                  <a:pt x="100865" y="21380"/>
                  <a:pt x="97985" y="24260"/>
                </a:cubicBezTo>
                <a:lnTo>
                  <a:pt x="73725" y="48543"/>
                </a:lnTo>
                <a:lnTo>
                  <a:pt x="60501" y="35342"/>
                </a:lnTo>
                <a:cubicBezTo>
                  <a:pt x="57621" y="32462"/>
                  <a:pt x="52944" y="32462"/>
                  <a:pt x="50064" y="35342"/>
                </a:cubicBezTo>
                <a:lnTo>
                  <a:pt x="27946" y="57459"/>
                </a:lnTo>
                <a:cubicBezTo>
                  <a:pt x="25066" y="60339"/>
                  <a:pt x="25066" y="65016"/>
                  <a:pt x="27946" y="67896"/>
                </a:cubicBezTo>
                <a:cubicBezTo>
                  <a:pt x="30826" y="70776"/>
                  <a:pt x="35503" y="70776"/>
                  <a:pt x="38383" y="67896"/>
                </a:cubicBezTo>
                <a:lnTo>
                  <a:pt x="55294" y="50985"/>
                </a:lnTo>
                <a:lnTo>
                  <a:pt x="68518" y="64210"/>
                </a:lnTo>
                <a:cubicBezTo>
                  <a:pt x="71398" y="67090"/>
                  <a:pt x="76075" y="67090"/>
                  <a:pt x="78955" y="64210"/>
                </a:cubicBezTo>
                <a:lnTo>
                  <a:pt x="108445" y="34720"/>
                </a:ln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58" name="Text 56"/>
          <p:cNvSpPr/>
          <p:nvPr/>
        </p:nvSpPr>
        <p:spPr>
          <a:xfrm>
            <a:off x="6945733" y="3579243"/>
            <a:ext cx="1482925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 Performance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945733" y="3882569"/>
            <a:ext cx="4625714" cy="33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 fitness of each configuration based on throughput, rejection rate, and server load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23339" y="4489220"/>
            <a:ext cx="5223939" cy="775165"/>
          </a:xfrm>
          <a:custGeom>
            <a:avLst/>
            <a:gdLst/>
            <a:ahLst/>
            <a:cxnLst/>
            <a:rect l="l" t="t" r="r" b="b"/>
            <a:pathLst>
              <a:path w="5223939" h="775165">
                <a:moveTo>
                  <a:pt x="33703" y="0"/>
                </a:moveTo>
                <a:lnTo>
                  <a:pt x="5156531" y="0"/>
                </a:lnTo>
                <a:cubicBezTo>
                  <a:pt x="5193759" y="0"/>
                  <a:pt x="5223939" y="30180"/>
                  <a:pt x="5223939" y="67408"/>
                </a:cubicBezTo>
                <a:lnTo>
                  <a:pt x="5223939" y="707757"/>
                </a:lnTo>
                <a:cubicBezTo>
                  <a:pt x="5223939" y="744985"/>
                  <a:pt x="5193759" y="775165"/>
                  <a:pt x="5156531" y="775165"/>
                </a:cubicBezTo>
                <a:lnTo>
                  <a:pt x="33703" y="775165"/>
                </a:lnTo>
                <a:cubicBezTo>
                  <a:pt x="15089" y="775165"/>
                  <a:pt x="0" y="760076"/>
                  <a:pt x="0" y="741462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111827">
              <a:alpha val="6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23339" y="4489220"/>
            <a:ext cx="33703" cy="775165"/>
          </a:xfrm>
          <a:custGeom>
            <a:avLst/>
            <a:gdLst/>
            <a:ahLst/>
            <a:cxnLst/>
            <a:rect l="l" t="t" r="r" b="b"/>
            <a:pathLst>
              <a:path w="33703" h="775165">
                <a:moveTo>
                  <a:pt x="33703" y="0"/>
                </a:moveTo>
                <a:lnTo>
                  <a:pt x="33703" y="0"/>
                </a:lnTo>
                <a:lnTo>
                  <a:pt x="33703" y="775165"/>
                </a:lnTo>
                <a:lnTo>
                  <a:pt x="33703" y="775165"/>
                </a:lnTo>
                <a:cubicBezTo>
                  <a:pt x="15089" y="775165"/>
                  <a:pt x="0" y="760076"/>
                  <a:pt x="0" y="741462"/>
                </a:cubicBezTo>
                <a:lnTo>
                  <a:pt x="0" y="33703"/>
                </a:lnTo>
                <a:cubicBezTo>
                  <a:pt x="0" y="15102"/>
                  <a:pt x="15102" y="0"/>
                  <a:pt x="33703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62" name="Shape 60"/>
          <p:cNvSpPr/>
          <p:nvPr/>
        </p:nvSpPr>
        <p:spPr>
          <a:xfrm>
            <a:off x="6575002" y="4624031"/>
            <a:ext cx="269623" cy="269623"/>
          </a:xfrm>
          <a:custGeom>
            <a:avLst/>
            <a:gdLst/>
            <a:ahLst/>
            <a:cxnLst/>
            <a:rect l="l" t="t" r="r" b="b"/>
            <a:pathLst>
              <a:path w="269623" h="269623">
                <a:moveTo>
                  <a:pt x="67406" y="0"/>
                </a:moveTo>
                <a:lnTo>
                  <a:pt x="202217" y="0"/>
                </a:lnTo>
                <a:cubicBezTo>
                  <a:pt x="239419" y="0"/>
                  <a:pt x="269623" y="30203"/>
                  <a:pt x="269623" y="67406"/>
                </a:cubicBezTo>
                <a:lnTo>
                  <a:pt x="269623" y="202217"/>
                </a:lnTo>
                <a:cubicBezTo>
                  <a:pt x="269623" y="239419"/>
                  <a:pt x="239419" y="269623"/>
                  <a:pt x="202217" y="269623"/>
                </a:cubicBezTo>
                <a:lnTo>
                  <a:pt x="67406" y="269623"/>
                </a:lnTo>
                <a:cubicBezTo>
                  <a:pt x="30203" y="269623"/>
                  <a:pt x="0" y="239419"/>
                  <a:pt x="0" y="202217"/>
                </a:cubicBezTo>
                <a:lnTo>
                  <a:pt x="0" y="67406"/>
                </a:lnTo>
                <a:cubicBezTo>
                  <a:pt x="0" y="30203"/>
                  <a:pt x="30203" y="0"/>
                  <a:pt x="67406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652940" y="4699863"/>
            <a:ext cx="117960" cy="117960"/>
          </a:xfrm>
          <a:custGeom>
            <a:avLst/>
            <a:gdLst/>
            <a:ahLst/>
            <a:cxnLst/>
            <a:rect l="l" t="t" r="r" b="b"/>
            <a:pathLst>
              <a:path w="117960" h="117960">
                <a:moveTo>
                  <a:pt x="15183" y="52644"/>
                </a:moveTo>
                <a:cubicBezTo>
                  <a:pt x="18247" y="31218"/>
                  <a:pt x="36701" y="14745"/>
                  <a:pt x="58980" y="14745"/>
                </a:cubicBezTo>
                <a:cubicBezTo>
                  <a:pt x="71191" y="14745"/>
                  <a:pt x="82249" y="19698"/>
                  <a:pt x="90267" y="27693"/>
                </a:cubicBezTo>
                <a:cubicBezTo>
                  <a:pt x="90313" y="27739"/>
                  <a:pt x="90359" y="27785"/>
                  <a:pt x="90405" y="27831"/>
                </a:cubicBezTo>
                <a:lnTo>
                  <a:pt x="92156" y="29490"/>
                </a:lnTo>
                <a:lnTo>
                  <a:pt x="81120" y="29490"/>
                </a:lnTo>
                <a:cubicBezTo>
                  <a:pt x="77043" y="29490"/>
                  <a:pt x="73748" y="32785"/>
                  <a:pt x="73748" y="36862"/>
                </a:cubicBezTo>
                <a:cubicBezTo>
                  <a:pt x="73748" y="40940"/>
                  <a:pt x="77043" y="44235"/>
                  <a:pt x="81120" y="44235"/>
                </a:cubicBezTo>
                <a:lnTo>
                  <a:pt x="110610" y="44235"/>
                </a:lnTo>
                <a:cubicBezTo>
                  <a:pt x="114688" y="44235"/>
                  <a:pt x="117983" y="40940"/>
                  <a:pt x="117983" y="36862"/>
                </a:cubicBezTo>
                <a:lnTo>
                  <a:pt x="117983" y="7372"/>
                </a:lnTo>
                <a:cubicBezTo>
                  <a:pt x="117983" y="3295"/>
                  <a:pt x="114688" y="0"/>
                  <a:pt x="110610" y="0"/>
                </a:cubicBezTo>
                <a:cubicBezTo>
                  <a:pt x="106533" y="0"/>
                  <a:pt x="103238" y="3295"/>
                  <a:pt x="103238" y="7372"/>
                </a:cubicBezTo>
                <a:lnTo>
                  <a:pt x="103238" y="19675"/>
                </a:lnTo>
                <a:lnTo>
                  <a:pt x="100635" y="17210"/>
                </a:lnTo>
                <a:cubicBezTo>
                  <a:pt x="89967" y="6589"/>
                  <a:pt x="75222" y="0"/>
                  <a:pt x="58980" y="0"/>
                </a:cubicBezTo>
                <a:cubicBezTo>
                  <a:pt x="29260" y="0"/>
                  <a:pt x="4677" y="21979"/>
                  <a:pt x="599" y="50571"/>
                </a:cubicBezTo>
                <a:cubicBezTo>
                  <a:pt x="23" y="54603"/>
                  <a:pt x="2811" y="58335"/>
                  <a:pt x="6843" y="58911"/>
                </a:cubicBezTo>
                <a:cubicBezTo>
                  <a:pt x="10874" y="59487"/>
                  <a:pt x="14607" y="56676"/>
                  <a:pt x="15183" y="52667"/>
                </a:cubicBezTo>
                <a:close/>
                <a:moveTo>
                  <a:pt x="117361" y="67389"/>
                </a:moveTo>
                <a:cubicBezTo>
                  <a:pt x="117937" y="63357"/>
                  <a:pt x="115126" y="59625"/>
                  <a:pt x="111117" y="59049"/>
                </a:cubicBezTo>
                <a:cubicBezTo>
                  <a:pt x="107109" y="58473"/>
                  <a:pt x="103353" y="61284"/>
                  <a:pt x="102777" y="65293"/>
                </a:cubicBezTo>
                <a:cubicBezTo>
                  <a:pt x="99713" y="86719"/>
                  <a:pt x="81259" y="103192"/>
                  <a:pt x="58980" y="103192"/>
                </a:cubicBezTo>
                <a:cubicBezTo>
                  <a:pt x="46769" y="103192"/>
                  <a:pt x="35711" y="98238"/>
                  <a:pt x="27693" y="90244"/>
                </a:cubicBezTo>
                <a:cubicBezTo>
                  <a:pt x="27647" y="90198"/>
                  <a:pt x="27601" y="90152"/>
                  <a:pt x="27555" y="90106"/>
                </a:cubicBezTo>
                <a:lnTo>
                  <a:pt x="25804" y="88447"/>
                </a:lnTo>
                <a:lnTo>
                  <a:pt x="36839" y="88447"/>
                </a:lnTo>
                <a:cubicBezTo>
                  <a:pt x="40917" y="88447"/>
                  <a:pt x="44212" y="85152"/>
                  <a:pt x="44212" y="81074"/>
                </a:cubicBezTo>
                <a:cubicBezTo>
                  <a:pt x="44212" y="76996"/>
                  <a:pt x="40917" y="73702"/>
                  <a:pt x="36839" y="73702"/>
                </a:cubicBezTo>
                <a:lnTo>
                  <a:pt x="7372" y="73725"/>
                </a:lnTo>
                <a:cubicBezTo>
                  <a:pt x="5414" y="73725"/>
                  <a:pt x="3525" y="74508"/>
                  <a:pt x="2143" y="75914"/>
                </a:cubicBezTo>
                <a:cubicBezTo>
                  <a:pt x="760" y="77319"/>
                  <a:pt x="-23" y="79185"/>
                  <a:pt x="0" y="81167"/>
                </a:cubicBezTo>
                <a:lnTo>
                  <a:pt x="230" y="110426"/>
                </a:lnTo>
                <a:cubicBezTo>
                  <a:pt x="253" y="114504"/>
                  <a:pt x="3594" y="117776"/>
                  <a:pt x="7672" y="117730"/>
                </a:cubicBezTo>
                <a:cubicBezTo>
                  <a:pt x="11750" y="117683"/>
                  <a:pt x="15021" y="114366"/>
                  <a:pt x="14975" y="110288"/>
                </a:cubicBezTo>
                <a:lnTo>
                  <a:pt x="14883" y="98423"/>
                </a:lnTo>
                <a:lnTo>
                  <a:pt x="17348" y="100750"/>
                </a:lnTo>
                <a:cubicBezTo>
                  <a:pt x="28015" y="111371"/>
                  <a:pt x="42737" y="117960"/>
                  <a:pt x="58980" y="117960"/>
                </a:cubicBezTo>
                <a:cubicBezTo>
                  <a:pt x="88700" y="117960"/>
                  <a:pt x="113283" y="95981"/>
                  <a:pt x="117361" y="67389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64" name="Text 62"/>
          <p:cNvSpPr/>
          <p:nvPr/>
        </p:nvSpPr>
        <p:spPr>
          <a:xfrm>
            <a:off x="6945733" y="4657734"/>
            <a:ext cx="1423945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&amp; Select Best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945733" y="4961060"/>
            <a:ext cx="4625714" cy="168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9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quantum rotation gates and evolutionary operators to converge on optimal limits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3129" y="429099"/>
            <a:ext cx="522381" cy="522381"/>
          </a:xfrm>
          <a:custGeom>
            <a:avLst/>
            <a:gdLst/>
            <a:ahLst/>
            <a:cxnLst/>
            <a:rect l="l" t="t" r="r" b="b"/>
            <a:pathLst>
              <a:path w="522381" h="522381">
                <a:moveTo>
                  <a:pt x="111941" y="0"/>
                </a:moveTo>
                <a:lnTo>
                  <a:pt x="410440" y="0"/>
                </a:lnTo>
                <a:cubicBezTo>
                  <a:pt x="472263" y="0"/>
                  <a:pt x="522381" y="50118"/>
                  <a:pt x="522381" y="111941"/>
                </a:cubicBezTo>
                <a:lnTo>
                  <a:pt x="522381" y="410440"/>
                </a:lnTo>
                <a:cubicBezTo>
                  <a:pt x="522381" y="472263"/>
                  <a:pt x="472263" y="522381"/>
                  <a:pt x="410440" y="522381"/>
                </a:cubicBezTo>
                <a:lnTo>
                  <a:pt x="111941" y="522381"/>
                </a:lnTo>
                <a:cubicBezTo>
                  <a:pt x="50118" y="522381"/>
                  <a:pt x="0" y="472263"/>
                  <a:pt x="0" y="410440"/>
                </a:cubicBezTo>
                <a:lnTo>
                  <a:pt x="0" y="111941"/>
                </a:lnTo>
                <a:cubicBezTo>
                  <a:pt x="0" y="50118"/>
                  <a:pt x="50118" y="0"/>
                  <a:pt x="111941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/>
              </a:gs>
              <a:gs pos="100000">
                <a:srgbClr val="2DD4BF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22381" y="578350"/>
            <a:ext cx="223878" cy="223878"/>
          </a:xfrm>
          <a:custGeom>
            <a:avLst/>
            <a:gdLst/>
            <a:ahLst/>
            <a:cxnLst/>
            <a:rect l="l" t="t" r="r" b="b"/>
            <a:pathLst>
              <a:path w="223878" h="223878">
                <a:moveTo>
                  <a:pt x="13992" y="13992"/>
                </a:moveTo>
                <a:cubicBezTo>
                  <a:pt x="21732" y="13992"/>
                  <a:pt x="27985" y="20245"/>
                  <a:pt x="27985" y="27985"/>
                </a:cubicBezTo>
                <a:lnTo>
                  <a:pt x="27985" y="174904"/>
                </a:lnTo>
                <a:cubicBezTo>
                  <a:pt x="27985" y="178752"/>
                  <a:pt x="31133" y="181901"/>
                  <a:pt x="34981" y="181901"/>
                </a:cubicBezTo>
                <a:lnTo>
                  <a:pt x="209885" y="181901"/>
                </a:lnTo>
                <a:cubicBezTo>
                  <a:pt x="217625" y="181901"/>
                  <a:pt x="223878" y="188153"/>
                  <a:pt x="223878" y="195893"/>
                </a:cubicBezTo>
                <a:cubicBezTo>
                  <a:pt x="223878" y="203632"/>
                  <a:pt x="217625" y="209885"/>
                  <a:pt x="209885" y="209885"/>
                </a:cubicBezTo>
                <a:lnTo>
                  <a:pt x="34981" y="209885"/>
                </a:lnTo>
                <a:cubicBezTo>
                  <a:pt x="15654" y="209885"/>
                  <a:pt x="0" y="194231"/>
                  <a:pt x="0" y="174904"/>
                </a:cubicBezTo>
                <a:lnTo>
                  <a:pt x="0" y="27985"/>
                </a:lnTo>
                <a:cubicBezTo>
                  <a:pt x="0" y="20245"/>
                  <a:pt x="6253" y="13992"/>
                  <a:pt x="13992" y="13992"/>
                </a:cubicBezTo>
                <a:close/>
                <a:moveTo>
                  <a:pt x="55969" y="41977"/>
                </a:moveTo>
                <a:cubicBezTo>
                  <a:pt x="55969" y="34238"/>
                  <a:pt x="62222" y="27985"/>
                  <a:pt x="69962" y="27985"/>
                </a:cubicBezTo>
                <a:lnTo>
                  <a:pt x="153916" y="27985"/>
                </a:lnTo>
                <a:cubicBezTo>
                  <a:pt x="161655" y="27985"/>
                  <a:pt x="167908" y="34238"/>
                  <a:pt x="167908" y="41977"/>
                </a:cubicBezTo>
                <a:cubicBezTo>
                  <a:pt x="167908" y="49717"/>
                  <a:pt x="161655" y="55969"/>
                  <a:pt x="153916" y="55969"/>
                </a:cubicBezTo>
                <a:lnTo>
                  <a:pt x="69962" y="55969"/>
                </a:lnTo>
                <a:cubicBezTo>
                  <a:pt x="62222" y="55969"/>
                  <a:pt x="55969" y="49717"/>
                  <a:pt x="55969" y="41977"/>
                </a:cubicBezTo>
                <a:close/>
                <a:moveTo>
                  <a:pt x="69962" y="76958"/>
                </a:moveTo>
                <a:lnTo>
                  <a:pt x="125931" y="76958"/>
                </a:lnTo>
                <a:cubicBezTo>
                  <a:pt x="133671" y="76958"/>
                  <a:pt x="139923" y="83211"/>
                  <a:pt x="139923" y="90950"/>
                </a:cubicBezTo>
                <a:cubicBezTo>
                  <a:pt x="139923" y="98690"/>
                  <a:pt x="133671" y="104943"/>
                  <a:pt x="125931" y="104943"/>
                </a:cubicBezTo>
                <a:lnTo>
                  <a:pt x="69962" y="104943"/>
                </a:lnTo>
                <a:cubicBezTo>
                  <a:pt x="62222" y="104943"/>
                  <a:pt x="55969" y="98690"/>
                  <a:pt x="55969" y="90950"/>
                </a:cubicBezTo>
                <a:cubicBezTo>
                  <a:pt x="55969" y="83211"/>
                  <a:pt x="62222" y="76958"/>
                  <a:pt x="69962" y="76958"/>
                </a:cubicBezTo>
                <a:close/>
                <a:moveTo>
                  <a:pt x="69962" y="125931"/>
                </a:moveTo>
                <a:lnTo>
                  <a:pt x="181901" y="125931"/>
                </a:lnTo>
                <a:cubicBezTo>
                  <a:pt x="189640" y="125931"/>
                  <a:pt x="195893" y="132184"/>
                  <a:pt x="195893" y="139923"/>
                </a:cubicBezTo>
                <a:cubicBezTo>
                  <a:pt x="195893" y="147663"/>
                  <a:pt x="189640" y="153916"/>
                  <a:pt x="181901" y="153916"/>
                </a:cubicBezTo>
                <a:lnTo>
                  <a:pt x="69962" y="153916"/>
                </a:lnTo>
                <a:cubicBezTo>
                  <a:pt x="62222" y="153916"/>
                  <a:pt x="55969" y="147663"/>
                  <a:pt x="55969" y="139923"/>
                </a:cubicBezTo>
                <a:cubicBezTo>
                  <a:pt x="55969" y="132184"/>
                  <a:pt x="62222" y="125931"/>
                  <a:pt x="69962" y="125931"/>
                </a:cubicBez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1044762" y="373129"/>
            <a:ext cx="3796591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b="1" spc="51" kern="0" dirty="0">
                <a:solidFill>
                  <a:srgbClr val="38BDF8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4762" y="559694"/>
            <a:ext cx="3955171" cy="447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6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Expected Results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6861" y="1235058"/>
            <a:ext cx="2740635" cy="1910422"/>
          </a:xfrm>
          <a:custGeom>
            <a:avLst/>
            <a:gdLst/>
            <a:ahLst/>
            <a:cxnLst/>
            <a:rect l="l" t="t" r="r" b="b"/>
            <a:pathLst>
              <a:path w="2740635" h="1910422">
                <a:moveTo>
                  <a:pt x="111932" y="0"/>
                </a:moveTo>
                <a:lnTo>
                  <a:pt x="2628703" y="0"/>
                </a:lnTo>
                <a:cubicBezTo>
                  <a:pt x="2690521" y="0"/>
                  <a:pt x="2740635" y="50113"/>
                  <a:pt x="2740635" y="111932"/>
                </a:cubicBezTo>
                <a:lnTo>
                  <a:pt x="2740635" y="1798490"/>
                </a:lnTo>
                <a:cubicBezTo>
                  <a:pt x="2740635" y="1860309"/>
                  <a:pt x="2690521" y="1910422"/>
                  <a:pt x="2628703" y="1910422"/>
                </a:cubicBezTo>
                <a:lnTo>
                  <a:pt x="111932" y="1910422"/>
                </a:lnTo>
                <a:cubicBezTo>
                  <a:pt x="50113" y="1910422"/>
                  <a:pt x="0" y="1860309"/>
                  <a:pt x="0" y="1798490"/>
                </a:cubicBezTo>
                <a:lnTo>
                  <a:pt x="0" y="111932"/>
                </a:lnTo>
                <a:cubicBezTo>
                  <a:pt x="0" y="50155"/>
                  <a:pt x="50155" y="0"/>
                  <a:pt x="111932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>
                  <a:alpha val="20000"/>
                </a:srgbClr>
              </a:gs>
              <a:gs pos="100000">
                <a:srgbClr val="2DD4BF">
                  <a:alpha val="20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86221" y="1425357"/>
            <a:ext cx="522381" cy="522381"/>
          </a:xfrm>
          <a:custGeom>
            <a:avLst/>
            <a:gdLst/>
            <a:ahLst/>
            <a:cxnLst/>
            <a:rect l="l" t="t" r="r" b="b"/>
            <a:pathLst>
              <a:path w="522381" h="522381">
                <a:moveTo>
                  <a:pt x="111941" y="0"/>
                </a:moveTo>
                <a:lnTo>
                  <a:pt x="410440" y="0"/>
                </a:lnTo>
                <a:cubicBezTo>
                  <a:pt x="472263" y="0"/>
                  <a:pt x="522381" y="50118"/>
                  <a:pt x="522381" y="111941"/>
                </a:cubicBezTo>
                <a:lnTo>
                  <a:pt x="522381" y="410440"/>
                </a:lnTo>
                <a:cubicBezTo>
                  <a:pt x="522381" y="472263"/>
                  <a:pt x="472263" y="522381"/>
                  <a:pt x="410440" y="522381"/>
                </a:cubicBezTo>
                <a:lnTo>
                  <a:pt x="111941" y="522381"/>
                </a:lnTo>
                <a:cubicBezTo>
                  <a:pt x="50118" y="522381"/>
                  <a:pt x="0" y="472263"/>
                  <a:pt x="0" y="410440"/>
                </a:cubicBezTo>
                <a:lnTo>
                  <a:pt x="0" y="111941"/>
                </a:lnTo>
                <a:cubicBezTo>
                  <a:pt x="0" y="50118"/>
                  <a:pt x="50118" y="0"/>
                  <a:pt x="111941" y="0"/>
                </a:cubicBezTo>
                <a:close/>
              </a:path>
            </a:pathLst>
          </a:custGeom>
          <a:solidFill>
            <a:srgbClr val="38BDF8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35472" y="1574608"/>
            <a:ext cx="223878" cy="223878"/>
          </a:xfrm>
          <a:custGeom>
            <a:avLst/>
            <a:gdLst/>
            <a:ahLst/>
            <a:cxnLst/>
            <a:rect l="l" t="t" r="r" b="b"/>
            <a:pathLst>
              <a:path w="223878" h="223878">
                <a:moveTo>
                  <a:pt x="27985" y="27985"/>
                </a:moveTo>
                <a:cubicBezTo>
                  <a:pt x="27985" y="20245"/>
                  <a:pt x="21732" y="13992"/>
                  <a:pt x="13992" y="13992"/>
                </a:cubicBezTo>
                <a:cubicBezTo>
                  <a:pt x="6253" y="13992"/>
                  <a:pt x="0" y="20245"/>
                  <a:pt x="0" y="27985"/>
                </a:cubicBezTo>
                <a:lnTo>
                  <a:pt x="0" y="174904"/>
                </a:lnTo>
                <a:cubicBezTo>
                  <a:pt x="0" y="194231"/>
                  <a:pt x="15654" y="209885"/>
                  <a:pt x="34981" y="209885"/>
                </a:cubicBezTo>
                <a:lnTo>
                  <a:pt x="209885" y="209885"/>
                </a:lnTo>
                <a:cubicBezTo>
                  <a:pt x="217625" y="209885"/>
                  <a:pt x="223878" y="203632"/>
                  <a:pt x="223878" y="195893"/>
                </a:cubicBezTo>
                <a:cubicBezTo>
                  <a:pt x="223878" y="188153"/>
                  <a:pt x="217625" y="181901"/>
                  <a:pt x="209885" y="181901"/>
                </a:cubicBezTo>
                <a:lnTo>
                  <a:pt x="34981" y="181901"/>
                </a:lnTo>
                <a:cubicBezTo>
                  <a:pt x="31133" y="181901"/>
                  <a:pt x="27985" y="178752"/>
                  <a:pt x="27985" y="174904"/>
                </a:cubicBezTo>
                <a:lnTo>
                  <a:pt x="27985" y="27985"/>
                </a:lnTo>
                <a:close/>
                <a:moveTo>
                  <a:pt x="205775" y="65851"/>
                </a:moveTo>
                <a:cubicBezTo>
                  <a:pt x="211241" y="60386"/>
                  <a:pt x="211241" y="51509"/>
                  <a:pt x="205775" y="46044"/>
                </a:cubicBezTo>
                <a:cubicBezTo>
                  <a:pt x="200309" y="40578"/>
                  <a:pt x="191433" y="40578"/>
                  <a:pt x="185967" y="46044"/>
                </a:cubicBezTo>
                <a:lnTo>
                  <a:pt x="139923" y="92131"/>
                </a:lnTo>
                <a:lnTo>
                  <a:pt x="114825" y="67076"/>
                </a:lnTo>
                <a:cubicBezTo>
                  <a:pt x="109359" y="61610"/>
                  <a:pt x="100483" y="61610"/>
                  <a:pt x="95017" y="67076"/>
                </a:cubicBezTo>
                <a:lnTo>
                  <a:pt x="53040" y="109053"/>
                </a:lnTo>
                <a:cubicBezTo>
                  <a:pt x="47574" y="114519"/>
                  <a:pt x="47574" y="123395"/>
                  <a:pt x="53040" y="128861"/>
                </a:cubicBezTo>
                <a:cubicBezTo>
                  <a:pt x="58506" y="134327"/>
                  <a:pt x="67382" y="134327"/>
                  <a:pt x="72848" y="128861"/>
                </a:cubicBezTo>
                <a:lnTo>
                  <a:pt x="104943" y="96766"/>
                </a:lnTo>
                <a:lnTo>
                  <a:pt x="130041" y="121865"/>
                </a:lnTo>
                <a:cubicBezTo>
                  <a:pt x="135507" y="127330"/>
                  <a:pt x="144384" y="127330"/>
                  <a:pt x="149849" y="121865"/>
                </a:cubicBezTo>
                <a:lnTo>
                  <a:pt x="205819" y="65895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483202" y="2059676"/>
            <a:ext cx="2527951" cy="37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44" b="1" dirty="0">
                <a:solidFill>
                  <a:srgbClr val="38BD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25-40%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9844" y="2507432"/>
            <a:ext cx="2434669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5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Load Handling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508" y="2768622"/>
            <a:ext cx="2425340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Improved throughput vs static methods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74793" y="1235058"/>
            <a:ext cx="2740635" cy="1910422"/>
          </a:xfrm>
          <a:custGeom>
            <a:avLst/>
            <a:gdLst/>
            <a:ahLst/>
            <a:cxnLst/>
            <a:rect l="l" t="t" r="r" b="b"/>
            <a:pathLst>
              <a:path w="2740635" h="1910422">
                <a:moveTo>
                  <a:pt x="111932" y="0"/>
                </a:moveTo>
                <a:lnTo>
                  <a:pt x="2628703" y="0"/>
                </a:lnTo>
                <a:cubicBezTo>
                  <a:pt x="2690521" y="0"/>
                  <a:pt x="2740635" y="50113"/>
                  <a:pt x="2740635" y="111932"/>
                </a:cubicBezTo>
                <a:lnTo>
                  <a:pt x="2740635" y="1798490"/>
                </a:lnTo>
                <a:cubicBezTo>
                  <a:pt x="2740635" y="1860309"/>
                  <a:pt x="2690521" y="1910422"/>
                  <a:pt x="2628703" y="1910422"/>
                </a:cubicBezTo>
                <a:lnTo>
                  <a:pt x="111932" y="1910422"/>
                </a:lnTo>
                <a:cubicBezTo>
                  <a:pt x="50113" y="1910422"/>
                  <a:pt x="0" y="1860309"/>
                  <a:pt x="0" y="1798490"/>
                </a:cubicBezTo>
                <a:lnTo>
                  <a:pt x="0" y="111932"/>
                </a:lnTo>
                <a:cubicBezTo>
                  <a:pt x="0" y="50155"/>
                  <a:pt x="50155" y="0"/>
                  <a:pt x="111932" y="0"/>
                </a:cubicBezTo>
                <a:close/>
              </a:path>
            </a:pathLst>
          </a:custGeom>
          <a:gradFill rotWithShape="1" flip="none">
            <a:gsLst>
              <a:gs pos="0">
                <a:srgbClr val="2DD4BF">
                  <a:alpha val="20000"/>
                </a:srgbClr>
              </a:gs>
              <a:gs pos="100000">
                <a:srgbClr val="38BDF8">
                  <a:alpha val="20000"/>
                </a:srgbClr>
              </a:gs>
            </a:gsLst>
            <a:lin ang="2700000" scaled="1"/>
          </a:gradFill>
          <a:ln w="1016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4153" y="1425357"/>
            <a:ext cx="522381" cy="522381"/>
          </a:xfrm>
          <a:custGeom>
            <a:avLst/>
            <a:gdLst/>
            <a:ahLst/>
            <a:cxnLst/>
            <a:rect l="l" t="t" r="r" b="b"/>
            <a:pathLst>
              <a:path w="522381" h="522381">
                <a:moveTo>
                  <a:pt x="111941" y="0"/>
                </a:moveTo>
                <a:lnTo>
                  <a:pt x="410440" y="0"/>
                </a:lnTo>
                <a:cubicBezTo>
                  <a:pt x="472263" y="0"/>
                  <a:pt x="522381" y="50118"/>
                  <a:pt x="522381" y="111941"/>
                </a:cubicBezTo>
                <a:lnTo>
                  <a:pt x="522381" y="410440"/>
                </a:lnTo>
                <a:cubicBezTo>
                  <a:pt x="522381" y="472263"/>
                  <a:pt x="472263" y="522381"/>
                  <a:pt x="410440" y="522381"/>
                </a:cubicBezTo>
                <a:lnTo>
                  <a:pt x="111941" y="522381"/>
                </a:lnTo>
                <a:cubicBezTo>
                  <a:pt x="50118" y="522381"/>
                  <a:pt x="0" y="472263"/>
                  <a:pt x="0" y="410440"/>
                </a:cubicBezTo>
                <a:lnTo>
                  <a:pt x="0" y="111941"/>
                </a:lnTo>
                <a:cubicBezTo>
                  <a:pt x="0" y="50118"/>
                  <a:pt x="50118" y="0"/>
                  <a:pt x="111941" y="0"/>
                </a:cubicBezTo>
                <a:close/>
              </a:path>
            </a:pathLst>
          </a:custGeom>
          <a:solidFill>
            <a:srgbClr val="2DD4BF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61389" y="1574608"/>
            <a:ext cx="167908" cy="223878"/>
          </a:xfrm>
          <a:custGeom>
            <a:avLst/>
            <a:gdLst/>
            <a:ahLst/>
            <a:cxnLst/>
            <a:rect l="l" t="t" r="r" b="b"/>
            <a:pathLst>
              <a:path w="167908" h="223878">
                <a:moveTo>
                  <a:pt x="74072" y="219767"/>
                </a:moveTo>
                <a:cubicBezTo>
                  <a:pt x="79538" y="225233"/>
                  <a:pt x="88414" y="225233"/>
                  <a:pt x="93880" y="219767"/>
                </a:cubicBezTo>
                <a:lnTo>
                  <a:pt x="163842" y="149806"/>
                </a:lnTo>
                <a:cubicBezTo>
                  <a:pt x="169307" y="144340"/>
                  <a:pt x="169307" y="135463"/>
                  <a:pt x="163842" y="129998"/>
                </a:cubicBezTo>
                <a:cubicBezTo>
                  <a:pt x="158376" y="124532"/>
                  <a:pt x="149500" y="124532"/>
                  <a:pt x="144034" y="129998"/>
                </a:cubicBezTo>
                <a:lnTo>
                  <a:pt x="97946" y="176085"/>
                </a:lnTo>
                <a:lnTo>
                  <a:pt x="97946" y="13992"/>
                </a:lnTo>
                <a:cubicBezTo>
                  <a:pt x="97946" y="6253"/>
                  <a:pt x="91694" y="0"/>
                  <a:pt x="83954" y="0"/>
                </a:cubicBezTo>
                <a:cubicBezTo>
                  <a:pt x="76215" y="0"/>
                  <a:pt x="69962" y="6253"/>
                  <a:pt x="69962" y="13992"/>
                </a:cubicBezTo>
                <a:lnTo>
                  <a:pt x="69962" y="176085"/>
                </a:lnTo>
                <a:lnTo>
                  <a:pt x="23874" y="129998"/>
                </a:lnTo>
                <a:cubicBezTo>
                  <a:pt x="18409" y="124532"/>
                  <a:pt x="9532" y="124532"/>
                  <a:pt x="4067" y="129998"/>
                </a:cubicBezTo>
                <a:cubicBezTo>
                  <a:pt x="-1399" y="135463"/>
                  <a:pt x="-1399" y="144340"/>
                  <a:pt x="4067" y="149806"/>
                </a:cubicBezTo>
                <a:lnTo>
                  <a:pt x="74028" y="219767"/>
                </a:ln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3381134" y="2059676"/>
            <a:ext cx="2527951" cy="37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44" b="1" dirty="0">
                <a:solidFill>
                  <a:srgbClr val="2DD4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↓30%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7776" y="2507432"/>
            <a:ext cx="2434669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5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Drops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32440" y="2768622"/>
            <a:ext cx="2425340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Fewer rejected requests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725" y="1235058"/>
            <a:ext cx="2740635" cy="1910422"/>
          </a:xfrm>
          <a:custGeom>
            <a:avLst/>
            <a:gdLst/>
            <a:ahLst/>
            <a:cxnLst/>
            <a:rect l="l" t="t" r="r" b="b"/>
            <a:pathLst>
              <a:path w="2740635" h="1910422">
                <a:moveTo>
                  <a:pt x="111932" y="0"/>
                </a:moveTo>
                <a:lnTo>
                  <a:pt x="2628703" y="0"/>
                </a:lnTo>
                <a:cubicBezTo>
                  <a:pt x="2690521" y="0"/>
                  <a:pt x="2740635" y="50113"/>
                  <a:pt x="2740635" y="111932"/>
                </a:cubicBezTo>
                <a:lnTo>
                  <a:pt x="2740635" y="1798490"/>
                </a:lnTo>
                <a:cubicBezTo>
                  <a:pt x="2740635" y="1860309"/>
                  <a:pt x="2690521" y="1910422"/>
                  <a:pt x="2628703" y="1910422"/>
                </a:cubicBezTo>
                <a:lnTo>
                  <a:pt x="111932" y="1910422"/>
                </a:lnTo>
                <a:cubicBezTo>
                  <a:pt x="50113" y="1910422"/>
                  <a:pt x="0" y="1860309"/>
                  <a:pt x="0" y="1798490"/>
                </a:cubicBezTo>
                <a:lnTo>
                  <a:pt x="0" y="111932"/>
                </a:lnTo>
                <a:cubicBezTo>
                  <a:pt x="0" y="50155"/>
                  <a:pt x="50155" y="0"/>
                  <a:pt x="111932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>
                  <a:alpha val="20000"/>
                </a:srgbClr>
              </a:gs>
              <a:gs pos="100000">
                <a:srgbClr val="2DD4BF">
                  <a:alpha val="20000"/>
                </a:srgbClr>
              </a:gs>
            </a:gsLst>
            <a:lin ang="270000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82085" y="1425357"/>
            <a:ext cx="522381" cy="522381"/>
          </a:xfrm>
          <a:custGeom>
            <a:avLst/>
            <a:gdLst/>
            <a:ahLst/>
            <a:cxnLst/>
            <a:rect l="l" t="t" r="r" b="b"/>
            <a:pathLst>
              <a:path w="522381" h="522381">
                <a:moveTo>
                  <a:pt x="111941" y="0"/>
                </a:moveTo>
                <a:lnTo>
                  <a:pt x="410440" y="0"/>
                </a:lnTo>
                <a:cubicBezTo>
                  <a:pt x="472263" y="0"/>
                  <a:pt x="522381" y="50118"/>
                  <a:pt x="522381" y="111941"/>
                </a:cubicBezTo>
                <a:lnTo>
                  <a:pt x="522381" y="410440"/>
                </a:lnTo>
                <a:cubicBezTo>
                  <a:pt x="522381" y="472263"/>
                  <a:pt x="472263" y="522381"/>
                  <a:pt x="410440" y="522381"/>
                </a:cubicBezTo>
                <a:lnTo>
                  <a:pt x="111941" y="522381"/>
                </a:lnTo>
                <a:cubicBezTo>
                  <a:pt x="50118" y="522381"/>
                  <a:pt x="0" y="472263"/>
                  <a:pt x="0" y="410440"/>
                </a:cubicBezTo>
                <a:lnTo>
                  <a:pt x="0" y="111941"/>
                </a:lnTo>
                <a:cubicBezTo>
                  <a:pt x="0" y="50118"/>
                  <a:pt x="50118" y="0"/>
                  <a:pt x="111941" y="0"/>
                </a:cubicBezTo>
                <a:close/>
              </a:path>
            </a:pathLst>
          </a:custGeom>
          <a:solidFill>
            <a:srgbClr val="38BDF8">
              <a:alpha val="3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31337" y="1574608"/>
            <a:ext cx="223878" cy="223878"/>
          </a:xfrm>
          <a:custGeom>
            <a:avLst/>
            <a:gdLst/>
            <a:ahLst/>
            <a:cxnLst/>
            <a:rect l="l" t="t" r="r" b="b"/>
            <a:pathLst>
              <a:path w="223878" h="223878">
                <a:moveTo>
                  <a:pt x="111939" y="0"/>
                </a:moveTo>
                <a:cubicBezTo>
                  <a:pt x="113950" y="0"/>
                  <a:pt x="115962" y="437"/>
                  <a:pt x="117798" y="1268"/>
                </a:cubicBezTo>
                <a:lnTo>
                  <a:pt x="200178" y="36205"/>
                </a:lnTo>
                <a:cubicBezTo>
                  <a:pt x="209798" y="40272"/>
                  <a:pt x="216969" y="49760"/>
                  <a:pt x="216925" y="61217"/>
                </a:cubicBezTo>
                <a:cubicBezTo>
                  <a:pt x="216707" y="104593"/>
                  <a:pt x="198866" y="183956"/>
                  <a:pt x="123526" y="220030"/>
                </a:cubicBezTo>
                <a:cubicBezTo>
                  <a:pt x="116224" y="223528"/>
                  <a:pt x="107741" y="223528"/>
                  <a:pt x="100439" y="220030"/>
                </a:cubicBezTo>
                <a:cubicBezTo>
                  <a:pt x="25055" y="183956"/>
                  <a:pt x="7259" y="104593"/>
                  <a:pt x="7040" y="61217"/>
                </a:cubicBezTo>
                <a:cubicBezTo>
                  <a:pt x="6996" y="49760"/>
                  <a:pt x="14167" y="40272"/>
                  <a:pt x="23787" y="36205"/>
                </a:cubicBezTo>
                <a:lnTo>
                  <a:pt x="106123" y="1268"/>
                </a:lnTo>
                <a:cubicBezTo>
                  <a:pt x="107960" y="437"/>
                  <a:pt x="109927" y="0"/>
                  <a:pt x="111939" y="0"/>
                </a:cubicBezTo>
                <a:close/>
                <a:moveTo>
                  <a:pt x="111939" y="29209"/>
                </a:moveTo>
                <a:lnTo>
                  <a:pt x="111939" y="194537"/>
                </a:lnTo>
                <a:cubicBezTo>
                  <a:pt x="172281" y="165328"/>
                  <a:pt x="188503" y="100614"/>
                  <a:pt x="188897" y="61872"/>
                </a:cubicBezTo>
                <a:lnTo>
                  <a:pt x="111939" y="29253"/>
                </a:lnTo>
                <a:lnTo>
                  <a:pt x="111939" y="29253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6279067" y="2059676"/>
            <a:ext cx="2527951" cy="37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44" b="1" dirty="0">
                <a:solidFill>
                  <a:srgbClr val="38BD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Stable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25708" y="2507432"/>
            <a:ext cx="2434669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5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Performance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30372" y="2768622"/>
            <a:ext cx="2425340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No overload during peaks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70657" y="1235058"/>
            <a:ext cx="2740635" cy="1910422"/>
          </a:xfrm>
          <a:custGeom>
            <a:avLst/>
            <a:gdLst/>
            <a:ahLst/>
            <a:cxnLst/>
            <a:rect l="l" t="t" r="r" b="b"/>
            <a:pathLst>
              <a:path w="2740635" h="1910422">
                <a:moveTo>
                  <a:pt x="111932" y="0"/>
                </a:moveTo>
                <a:lnTo>
                  <a:pt x="2628703" y="0"/>
                </a:lnTo>
                <a:cubicBezTo>
                  <a:pt x="2690521" y="0"/>
                  <a:pt x="2740635" y="50113"/>
                  <a:pt x="2740635" y="111932"/>
                </a:cubicBezTo>
                <a:lnTo>
                  <a:pt x="2740635" y="1798490"/>
                </a:lnTo>
                <a:cubicBezTo>
                  <a:pt x="2740635" y="1860309"/>
                  <a:pt x="2690521" y="1910422"/>
                  <a:pt x="2628703" y="1910422"/>
                </a:cubicBezTo>
                <a:lnTo>
                  <a:pt x="111932" y="1910422"/>
                </a:lnTo>
                <a:cubicBezTo>
                  <a:pt x="50113" y="1910422"/>
                  <a:pt x="0" y="1860309"/>
                  <a:pt x="0" y="1798490"/>
                </a:cubicBezTo>
                <a:lnTo>
                  <a:pt x="0" y="111932"/>
                </a:lnTo>
                <a:cubicBezTo>
                  <a:pt x="0" y="50155"/>
                  <a:pt x="50155" y="0"/>
                  <a:pt x="111932" y="0"/>
                </a:cubicBezTo>
                <a:close/>
              </a:path>
            </a:pathLst>
          </a:custGeom>
          <a:gradFill rotWithShape="1" flip="none">
            <a:gsLst>
              <a:gs pos="0">
                <a:srgbClr val="2DD4BF">
                  <a:alpha val="20000"/>
                </a:srgbClr>
              </a:gs>
              <a:gs pos="100000">
                <a:srgbClr val="38BDF8">
                  <a:alpha val="20000"/>
                </a:srgbClr>
              </a:gs>
            </a:gsLst>
            <a:lin ang="2700000" scaled="1"/>
          </a:gradFill>
          <a:ln w="1016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80134" y="1425357"/>
            <a:ext cx="522381" cy="522381"/>
          </a:xfrm>
          <a:custGeom>
            <a:avLst/>
            <a:gdLst/>
            <a:ahLst/>
            <a:cxnLst/>
            <a:rect l="l" t="t" r="r" b="b"/>
            <a:pathLst>
              <a:path w="522381" h="522381">
                <a:moveTo>
                  <a:pt x="111941" y="0"/>
                </a:moveTo>
                <a:lnTo>
                  <a:pt x="410440" y="0"/>
                </a:lnTo>
                <a:cubicBezTo>
                  <a:pt x="472263" y="0"/>
                  <a:pt x="522381" y="50118"/>
                  <a:pt x="522381" y="111941"/>
                </a:cubicBezTo>
                <a:lnTo>
                  <a:pt x="522381" y="410440"/>
                </a:lnTo>
                <a:cubicBezTo>
                  <a:pt x="522381" y="472263"/>
                  <a:pt x="472263" y="522381"/>
                  <a:pt x="410440" y="522381"/>
                </a:cubicBezTo>
                <a:lnTo>
                  <a:pt x="111941" y="522381"/>
                </a:lnTo>
                <a:cubicBezTo>
                  <a:pt x="50118" y="522381"/>
                  <a:pt x="0" y="472263"/>
                  <a:pt x="0" y="410440"/>
                </a:cubicBezTo>
                <a:lnTo>
                  <a:pt x="0" y="111941"/>
                </a:lnTo>
                <a:cubicBezTo>
                  <a:pt x="0" y="50118"/>
                  <a:pt x="50118" y="0"/>
                  <a:pt x="111941" y="0"/>
                </a:cubicBezTo>
                <a:close/>
              </a:path>
            </a:pathLst>
          </a:custGeom>
          <a:solidFill>
            <a:srgbClr val="2DD4BF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343378" y="1574608"/>
            <a:ext cx="195893" cy="223878"/>
          </a:xfrm>
          <a:custGeom>
            <a:avLst/>
            <a:gdLst/>
            <a:ahLst/>
            <a:cxnLst/>
            <a:rect l="l" t="t" r="r" b="b"/>
            <a:pathLst>
              <a:path w="195893" h="223878">
                <a:moveTo>
                  <a:pt x="148144" y="-4329"/>
                </a:moveTo>
                <a:cubicBezTo>
                  <a:pt x="153347" y="-568"/>
                  <a:pt x="155271" y="6253"/>
                  <a:pt x="152910" y="12200"/>
                </a:cubicBezTo>
                <a:lnTo>
                  <a:pt x="118629" y="97946"/>
                </a:lnTo>
                <a:lnTo>
                  <a:pt x="181901" y="97946"/>
                </a:lnTo>
                <a:cubicBezTo>
                  <a:pt x="187804" y="97946"/>
                  <a:pt x="193051" y="101619"/>
                  <a:pt x="195062" y="107173"/>
                </a:cubicBezTo>
                <a:cubicBezTo>
                  <a:pt x="197073" y="112726"/>
                  <a:pt x="195368" y="118935"/>
                  <a:pt x="190864" y="122695"/>
                </a:cubicBezTo>
                <a:lnTo>
                  <a:pt x="64933" y="227638"/>
                </a:lnTo>
                <a:cubicBezTo>
                  <a:pt x="59992" y="231748"/>
                  <a:pt x="52952" y="231967"/>
                  <a:pt x="47749" y="228206"/>
                </a:cubicBezTo>
                <a:cubicBezTo>
                  <a:pt x="42545" y="224446"/>
                  <a:pt x="40622" y="217625"/>
                  <a:pt x="42983" y="211678"/>
                </a:cubicBezTo>
                <a:lnTo>
                  <a:pt x="77264" y="125931"/>
                </a:lnTo>
                <a:lnTo>
                  <a:pt x="13992" y="125931"/>
                </a:lnTo>
                <a:cubicBezTo>
                  <a:pt x="8089" y="125931"/>
                  <a:pt x="2842" y="122258"/>
                  <a:pt x="831" y="116705"/>
                </a:cubicBezTo>
                <a:cubicBezTo>
                  <a:pt x="-1181" y="111152"/>
                  <a:pt x="525" y="104943"/>
                  <a:pt x="5029" y="101182"/>
                </a:cubicBezTo>
                <a:lnTo>
                  <a:pt x="130960" y="-3760"/>
                </a:lnTo>
                <a:cubicBezTo>
                  <a:pt x="135901" y="-7871"/>
                  <a:pt x="142941" y="-8089"/>
                  <a:pt x="148144" y="-4329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27" name="Text 25"/>
          <p:cNvSpPr/>
          <p:nvPr/>
        </p:nvSpPr>
        <p:spPr>
          <a:xfrm>
            <a:off x="9176999" y="2059676"/>
            <a:ext cx="2527951" cy="37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44" b="1" dirty="0">
                <a:solidFill>
                  <a:srgbClr val="2DD4B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&lt;100ms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23640" y="2507432"/>
            <a:ext cx="2434669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5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Adaptation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28304" y="2768622"/>
            <a:ext cx="2425340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Sub-second optimization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6861" y="3376821"/>
            <a:ext cx="11434548" cy="3104436"/>
          </a:xfrm>
          <a:custGeom>
            <a:avLst/>
            <a:gdLst/>
            <a:ahLst/>
            <a:cxnLst/>
            <a:rect l="l" t="t" r="r" b="b"/>
            <a:pathLst>
              <a:path w="11434548" h="3104436">
                <a:moveTo>
                  <a:pt x="111946" y="0"/>
                </a:moveTo>
                <a:lnTo>
                  <a:pt x="11322602" y="0"/>
                </a:lnTo>
                <a:cubicBezTo>
                  <a:pt x="11384428" y="0"/>
                  <a:pt x="11434548" y="50120"/>
                  <a:pt x="11434548" y="111946"/>
                </a:cubicBezTo>
                <a:lnTo>
                  <a:pt x="11434548" y="2992490"/>
                </a:lnTo>
                <a:cubicBezTo>
                  <a:pt x="11434548" y="3054275"/>
                  <a:pt x="11384386" y="3104436"/>
                  <a:pt x="11322602" y="3104436"/>
                </a:cubicBezTo>
                <a:lnTo>
                  <a:pt x="111946" y="3104436"/>
                </a:lnTo>
                <a:cubicBezTo>
                  <a:pt x="50120" y="3104436"/>
                  <a:pt x="0" y="3054316"/>
                  <a:pt x="0" y="2992490"/>
                </a:cubicBezTo>
                <a:lnTo>
                  <a:pt x="0" y="111946"/>
                </a:lnTo>
                <a:cubicBezTo>
                  <a:pt x="0" y="50161"/>
                  <a:pt x="50161" y="0"/>
                  <a:pt x="111946" y="0"/>
                </a:cubicBezTo>
                <a:close/>
              </a:path>
            </a:pathLst>
          </a:custGeom>
          <a:solidFill>
            <a:srgbClr val="1F2937"/>
          </a:solidFill>
          <a:ln w="10160">
            <a:solidFill>
              <a:srgbClr val="4B5563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2454" y="3641627"/>
            <a:ext cx="223878" cy="223878"/>
          </a:xfrm>
          <a:custGeom>
            <a:avLst/>
            <a:gdLst/>
            <a:ahLst/>
            <a:cxnLst/>
            <a:rect l="l" t="t" r="r" b="b"/>
            <a:pathLst>
              <a:path w="223878" h="223878">
                <a:moveTo>
                  <a:pt x="13992" y="13992"/>
                </a:moveTo>
                <a:cubicBezTo>
                  <a:pt x="21732" y="13992"/>
                  <a:pt x="27985" y="20245"/>
                  <a:pt x="27985" y="27985"/>
                </a:cubicBezTo>
                <a:lnTo>
                  <a:pt x="27985" y="174904"/>
                </a:lnTo>
                <a:cubicBezTo>
                  <a:pt x="27985" y="178752"/>
                  <a:pt x="31133" y="181901"/>
                  <a:pt x="34981" y="181901"/>
                </a:cubicBezTo>
                <a:lnTo>
                  <a:pt x="209885" y="181901"/>
                </a:lnTo>
                <a:cubicBezTo>
                  <a:pt x="217625" y="181901"/>
                  <a:pt x="223878" y="188153"/>
                  <a:pt x="223878" y="195893"/>
                </a:cubicBezTo>
                <a:cubicBezTo>
                  <a:pt x="223878" y="203632"/>
                  <a:pt x="217625" y="209885"/>
                  <a:pt x="209885" y="209885"/>
                </a:cubicBezTo>
                <a:lnTo>
                  <a:pt x="34981" y="209885"/>
                </a:lnTo>
                <a:cubicBezTo>
                  <a:pt x="15654" y="209885"/>
                  <a:pt x="0" y="194231"/>
                  <a:pt x="0" y="174904"/>
                </a:cubicBezTo>
                <a:lnTo>
                  <a:pt x="0" y="27985"/>
                </a:lnTo>
                <a:cubicBezTo>
                  <a:pt x="0" y="20245"/>
                  <a:pt x="6253" y="13992"/>
                  <a:pt x="13992" y="13992"/>
                </a:cubicBezTo>
                <a:close/>
                <a:moveTo>
                  <a:pt x="104943" y="41977"/>
                </a:moveTo>
                <a:cubicBezTo>
                  <a:pt x="107872" y="41977"/>
                  <a:pt x="110671" y="43201"/>
                  <a:pt x="112682" y="45388"/>
                </a:cubicBezTo>
                <a:lnTo>
                  <a:pt x="143771" y="79275"/>
                </a:lnTo>
                <a:lnTo>
                  <a:pt x="163973" y="59030"/>
                </a:lnTo>
                <a:cubicBezTo>
                  <a:pt x="168083" y="54920"/>
                  <a:pt x="174729" y="54920"/>
                  <a:pt x="178796" y="59030"/>
                </a:cubicBezTo>
                <a:lnTo>
                  <a:pt x="206781" y="87015"/>
                </a:lnTo>
                <a:cubicBezTo>
                  <a:pt x="208748" y="88983"/>
                  <a:pt x="209842" y="91650"/>
                  <a:pt x="209842" y="94448"/>
                </a:cubicBezTo>
                <a:lnTo>
                  <a:pt x="209842" y="143422"/>
                </a:lnTo>
                <a:cubicBezTo>
                  <a:pt x="209842" y="149237"/>
                  <a:pt x="205163" y="153916"/>
                  <a:pt x="199347" y="153916"/>
                </a:cubicBezTo>
                <a:lnTo>
                  <a:pt x="66420" y="153916"/>
                </a:lnTo>
                <a:cubicBezTo>
                  <a:pt x="60604" y="153916"/>
                  <a:pt x="55926" y="149237"/>
                  <a:pt x="55926" y="143422"/>
                </a:cubicBezTo>
                <a:lnTo>
                  <a:pt x="55926" y="94448"/>
                </a:lnTo>
                <a:cubicBezTo>
                  <a:pt x="55926" y="91825"/>
                  <a:pt x="56931" y="89289"/>
                  <a:pt x="58680" y="87365"/>
                </a:cubicBezTo>
                <a:lnTo>
                  <a:pt x="97159" y="45388"/>
                </a:lnTo>
                <a:cubicBezTo>
                  <a:pt x="99127" y="43201"/>
                  <a:pt x="101969" y="41977"/>
                  <a:pt x="104899" y="41977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884316" y="3604428"/>
            <a:ext cx="10811422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3" b="1" dirty="0">
                <a:solidFill>
                  <a:srgbClr val="38BDF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Performance Visualization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67157" y="4052069"/>
            <a:ext cx="5457016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5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Handling Comparison</a:t>
            </a:r>
            <a:endParaRPr lang="en-US" sz="1600" dirty="0"/>
          </a:p>
        </p:txBody>
      </p:sp>
      <p:pic>
        <p:nvPicPr>
          <p:cNvPr id="34" name="Image 0" descr="https://kimi-img.moonshot.cn/pub/slides/26-02-18-02:52:48-d6abi0701qm0ghmckbdg.png">    </p:cNvPr>
          <p:cNvPicPr>
            <a:picLocks noChangeAspect="1"/>
          </p:cNvPicPr>
          <p:nvPr/>
        </p:nvPicPr>
        <p:blipFill>
          <a:blip r:embed="rId1"/>
          <a:srcRect l="0" r="0" t="53" b="53"/>
          <a:stretch/>
        </p:blipFill>
        <p:spPr>
          <a:xfrm>
            <a:off x="604470" y="4387886"/>
            <a:ext cx="5251795" cy="1865647"/>
          </a:xfrm>
          <a:prstGeom prst="roundRect">
            <a:avLst>
              <a:gd name="adj" fmla="val 0"/>
            </a:avLst>
          </a:prstGeom>
        </p:spPr>
      </p:pic>
      <p:sp>
        <p:nvSpPr>
          <p:cNvPr id="35" name="Text 32"/>
          <p:cNvSpPr/>
          <p:nvPr/>
        </p:nvSpPr>
        <p:spPr>
          <a:xfrm>
            <a:off x="6168994" y="4052069"/>
            <a:ext cx="5457016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5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Drop Rate</a:t>
            </a:r>
            <a:endParaRPr lang="en-US" sz="1600" dirty="0"/>
          </a:p>
        </p:txBody>
      </p:sp>
      <p:pic>
        <p:nvPicPr>
          <p:cNvPr id="36" name="Image 1" descr="https://kimi-img.moonshot.cn/pub/slides/26-02-18-02:52:53-d6abi18i2d89g2d5vs0g.png">    </p:cNvPr>
          <p:cNvPicPr>
            <a:picLocks noChangeAspect="1"/>
          </p:cNvPicPr>
          <p:nvPr/>
        </p:nvPicPr>
        <p:blipFill>
          <a:blip r:embed="rId2"/>
          <a:srcRect l="0" r="0" t="53" b="53"/>
          <a:stretch/>
        </p:blipFill>
        <p:spPr>
          <a:xfrm>
            <a:off x="6206306" y="4387886"/>
            <a:ext cx="5251795" cy="1865647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fv2mod2rwjnue/tech_architecture_bg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11827">
                  <a:alpha val="95000"/>
                </a:srgbClr>
              </a:gs>
              <a:gs pos="50000">
                <a:srgbClr val="11182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4381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/>
              </a:gs>
              <a:gs pos="100000">
                <a:srgbClr val="2DD4BF"/>
              </a:gs>
            </a:gsLst>
            <a:lin ang="2700000" scaled="1"/>
          </a:gradFill>
          <a:ln/>
        </p:spPr>
      </p:sp>
      <p:sp>
        <p:nvSpPr>
          <p:cNvPr id="5" name="Shape 2"/>
          <p:cNvSpPr/>
          <p:nvPr/>
        </p:nvSpPr>
        <p:spPr>
          <a:xfrm>
            <a:off x="547688" y="5905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4288" y="0"/>
                </a:moveTo>
                <a:cubicBezTo>
                  <a:pt x="22190" y="0"/>
                  <a:pt x="28575" y="6385"/>
                  <a:pt x="28575" y="14288"/>
                </a:cubicBezTo>
                <a:lnTo>
                  <a:pt x="28575" y="21431"/>
                </a:lnTo>
                <a:lnTo>
                  <a:pt x="59382" y="13752"/>
                </a:lnTo>
                <a:cubicBezTo>
                  <a:pt x="76393" y="9510"/>
                  <a:pt x="94342" y="11475"/>
                  <a:pt x="110058" y="19333"/>
                </a:cubicBezTo>
                <a:cubicBezTo>
                  <a:pt x="130731" y="29691"/>
                  <a:pt x="155064" y="29691"/>
                  <a:pt x="175736" y="19333"/>
                </a:cubicBezTo>
                <a:lnTo>
                  <a:pt x="180023" y="17190"/>
                </a:lnTo>
                <a:cubicBezTo>
                  <a:pt x="189220" y="12546"/>
                  <a:pt x="200025" y="19243"/>
                  <a:pt x="200025" y="29513"/>
                </a:cubicBezTo>
                <a:lnTo>
                  <a:pt x="200025" y="154394"/>
                </a:lnTo>
                <a:cubicBezTo>
                  <a:pt x="200025" y="160333"/>
                  <a:pt x="196319" y="165690"/>
                  <a:pt x="190738" y="167789"/>
                </a:cubicBezTo>
                <a:lnTo>
                  <a:pt x="175245" y="173593"/>
                </a:lnTo>
                <a:cubicBezTo>
                  <a:pt x="154618" y="181317"/>
                  <a:pt x="131668" y="180112"/>
                  <a:pt x="111978" y="170289"/>
                </a:cubicBezTo>
                <a:cubicBezTo>
                  <a:pt x="95057" y="161806"/>
                  <a:pt x="75634" y="159707"/>
                  <a:pt x="57284" y="164306"/>
                </a:cubicBezTo>
                <a:lnTo>
                  <a:pt x="28575" y="171450"/>
                </a:lnTo>
                <a:lnTo>
                  <a:pt x="28575" y="214313"/>
                </a:lnTo>
                <a:cubicBezTo>
                  <a:pt x="28575" y="222215"/>
                  <a:pt x="22190" y="228600"/>
                  <a:pt x="14288" y="228600"/>
                </a:cubicBezTo>
                <a:cubicBezTo>
                  <a:pt x="6385" y="228600"/>
                  <a:pt x="0" y="222215"/>
                  <a:pt x="0" y="214313"/>
                </a:cubicBezTo>
                <a:lnTo>
                  <a:pt x="0" y="14288"/>
                </a:lnTo>
                <a:cubicBezTo>
                  <a:pt x="0" y="6385"/>
                  <a:pt x="6385" y="0"/>
                  <a:pt x="14288" y="0"/>
                </a:cubicBezTo>
                <a:close/>
                <a:moveTo>
                  <a:pt x="28575" y="83537"/>
                </a:moveTo>
                <a:lnTo>
                  <a:pt x="57150" y="77331"/>
                </a:lnTo>
                <a:lnTo>
                  <a:pt x="57150" y="106576"/>
                </a:lnTo>
                <a:lnTo>
                  <a:pt x="28575" y="112782"/>
                </a:lnTo>
                <a:lnTo>
                  <a:pt x="28575" y="142027"/>
                </a:lnTo>
                <a:lnTo>
                  <a:pt x="50363" y="136580"/>
                </a:lnTo>
                <a:cubicBezTo>
                  <a:pt x="52641" y="135999"/>
                  <a:pt x="54873" y="135508"/>
                  <a:pt x="57150" y="135106"/>
                </a:cubicBezTo>
                <a:lnTo>
                  <a:pt x="57150" y="106576"/>
                </a:lnTo>
                <a:lnTo>
                  <a:pt x="74518" y="102825"/>
                </a:lnTo>
                <a:cubicBezTo>
                  <a:pt x="78224" y="102022"/>
                  <a:pt x="81975" y="101709"/>
                  <a:pt x="85725" y="101888"/>
                </a:cubicBezTo>
                <a:lnTo>
                  <a:pt x="85725" y="73313"/>
                </a:lnTo>
                <a:cubicBezTo>
                  <a:pt x="91797" y="73491"/>
                  <a:pt x="97869" y="74474"/>
                  <a:pt x="103763" y="76170"/>
                </a:cubicBezTo>
                <a:lnTo>
                  <a:pt x="114300" y="79251"/>
                </a:lnTo>
                <a:lnTo>
                  <a:pt x="114300" y="109031"/>
                </a:lnTo>
                <a:lnTo>
                  <a:pt x="95682" y="103540"/>
                </a:lnTo>
                <a:cubicBezTo>
                  <a:pt x="92422" y="102602"/>
                  <a:pt x="89074" y="102022"/>
                  <a:pt x="85725" y="101843"/>
                </a:cubicBezTo>
                <a:lnTo>
                  <a:pt x="85725" y="133722"/>
                </a:lnTo>
                <a:cubicBezTo>
                  <a:pt x="95458" y="134570"/>
                  <a:pt x="105058" y="136714"/>
                  <a:pt x="114300" y="140151"/>
                </a:cubicBezTo>
                <a:lnTo>
                  <a:pt x="114300" y="108987"/>
                </a:lnTo>
                <a:lnTo>
                  <a:pt x="124435" y="111978"/>
                </a:lnTo>
                <a:cubicBezTo>
                  <a:pt x="130463" y="113764"/>
                  <a:pt x="136624" y="114836"/>
                  <a:pt x="142875" y="115282"/>
                </a:cubicBezTo>
                <a:lnTo>
                  <a:pt x="142875" y="86618"/>
                </a:lnTo>
                <a:cubicBezTo>
                  <a:pt x="139392" y="86261"/>
                  <a:pt x="135910" y="85591"/>
                  <a:pt x="132517" y="84609"/>
                </a:cubicBezTo>
                <a:lnTo>
                  <a:pt x="114300" y="79251"/>
                </a:lnTo>
                <a:lnTo>
                  <a:pt x="114300" y="51569"/>
                </a:lnTo>
                <a:cubicBezTo>
                  <a:pt x="108496" y="49872"/>
                  <a:pt x="102781" y="47640"/>
                  <a:pt x="97244" y="44872"/>
                </a:cubicBezTo>
                <a:cubicBezTo>
                  <a:pt x="93583" y="43041"/>
                  <a:pt x="89699" y="41746"/>
                  <a:pt x="85725" y="40943"/>
                </a:cubicBezTo>
                <a:lnTo>
                  <a:pt x="85725" y="73268"/>
                </a:lnTo>
                <a:cubicBezTo>
                  <a:pt x="79921" y="73089"/>
                  <a:pt x="74116" y="73625"/>
                  <a:pt x="68446" y="74875"/>
                </a:cubicBezTo>
                <a:lnTo>
                  <a:pt x="57150" y="77331"/>
                </a:lnTo>
                <a:lnTo>
                  <a:pt x="57150" y="43755"/>
                </a:lnTo>
                <a:lnTo>
                  <a:pt x="28575" y="50899"/>
                </a:lnTo>
                <a:lnTo>
                  <a:pt x="28575" y="83537"/>
                </a:lnTo>
                <a:close/>
                <a:moveTo>
                  <a:pt x="142875" y="149885"/>
                </a:moveTo>
                <a:cubicBezTo>
                  <a:pt x="150376" y="150555"/>
                  <a:pt x="158011" y="149572"/>
                  <a:pt x="165199" y="146849"/>
                </a:cubicBezTo>
                <a:lnTo>
                  <a:pt x="171450" y="144527"/>
                </a:lnTo>
                <a:lnTo>
                  <a:pt x="171450" y="112514"/>
                </a:lnTo>
                <a:lnTo>
                  <a:pt x="167923" y="113318"/>
                </a:lnTo>
                <a:cubicBezTo>
                  <a:pt x="159707" y="115238"/>
                  <a:pt x="151269" y="115863"/>
                  <a:pt x="142875" y="115327"/>
                </a:cubicBezTo>
                <a:lnTo>
                  <a:pt x="142875" y="149885"/>
                </a:lnTo>
                <a:close/>
                <a:moveTo>
                  <a:pt x="171450" y="83180"/>
                </a:moveTo>
                <a:lnTo>
                  <a:pt x="171450" y="51569"/>
                </a:lnTo>
                <a:cubicBezTo>
                  <a:pt x="162118" y="54292"/>
                  <a:pt x="152519" y="55632"/>
                  <a:pt x="142875" y="55632"/>
                </a:cubicBezTo>
                <a:lnTo>
                  <a:pt x="142875" y="86618"/>
                </a:lnTo>
                <a:cubicBezTo>
                  <a:pt x="149081" y="87243"/>
                  <a:pt x="155377" y="86841"/>
                  <a:pt x="161493" y="85457"/>
                </a:cubicBezTo>
                <a:lnTo>
                  <a:pt x="171450" y="83135"/>
                </a:lnTo>
                <a:close/>
              </a:path>
            </a:pathLst>
          </a:custGeom>
          <a:solidFill>
            <a:srgbClr val="111827"/>
          </a:solidFill>
          <a:ln/>
        </p:spPr>
      </p:sp>
      <p:sp>
        <p:nvSpPr>
          <p:cNvPr id="6" name="Text 3"/>
          <p:cNvSpPr/>
          <p:nvPr/>
        </p:nvSpPr>
        <p:spPr>
          <a:xfrm>
            <a:off x="1066800" y="381000"/>
            <a:ext cx="2552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38BDF8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Summary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66800" y="571500"/>
            <a:ext cx="2714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4810" y="1261110"/>
            <a:ext cx="5589270" cy="4160520"/>
          </a:xfrm>
          <a:custGeom>
            <a:avLst/>
            <a:gdLst/>
            <a:ahLst/>
            <a:cxnLst/>
            <a:rect l="l" t="t" r="r" b="b"/>
            <a:pathLst>
              <a:path w="5589270" h="4160520">
                <a:moveTo>
                  <a:pt x="114289" y="0"/>
                </a:moveTo>
                <a:lnTo>
                  <a:pt x="5474981" y="0"/>
                </a:lnTo>
                <a:cubicBezTo>
                  <a:pt x="5538101" y="0"/>
                  <a:pt x="5589270" y="51169"/>
                  <a:pt x="5589270" y="114289"/>
                </a:cubicBezTo>
                <a:lnTo>
                  <a:pt x="5589270" y="4046231"/>
                </a:lnTo>
                <a:cubicBezTo>
                  <a:pt x="5589270" y="4109351"/>
                  <a:pt x="5538101" y="4160520"/>
                  <a:pt x="5474981" y="4160520"/>
                </a:cubicBezTo>
                <a:lnTo>
                  <a:pt x="114289" y="4160520"/>
                </a:lnTo>
                <a:cubicBezTo>
                  <a:pt x="51169" y="4160520"/>
                  <a:pt x="0" y="4109351"/>
                  <a:pt x="0" y="4046231"/>
                </a:cubicBezTo>
                <a:lnTo>
                  <a:pt x="0" y="114289"/>
                </a:lnTo>
                <a:cubicBezTo>
                  <a:pt x="0" y="51211"/>
                  <a:pt x="51211" y="0"/>
                  <a:pt x="114289" y="0"/>
                </a:cubicBezTo>
                <a:close/>
              </a:path>
            </a:pathLst>
          </a:custGeom>
          <a:solidFill>
            <a:srgbClr val="1F2937">
              <a:alpha val="80000"/>
            </a:srgbClr>
          </a:soli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7220" y="14935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8BDF8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16078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1550673"/>
            <a:ext cx="2686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7220" y="21793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713661" y="22650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4" name="Text 11"/>
          <p:cNvSpPr/>
          <p:nvPr/>
        </p:nvSpPr>
        <p:spPr>
          <a:xfrm>
            <a:off x="1036320" y="2141223"/>
            <a:ext cx="479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API Rate Limiter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36320" y="2446023"/>
            <a:ext cx="4781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built a dynamic rate limiting system that responds to real-time traffic conditions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17220" y="30937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13661" y="31794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18" name="Text 15"/>
          <p:cNvSpPr/>
          <p:nvPr/>
        </p:nvSpPr>
        <p:spPr>
          <a:xfrm>
            <a:off x="1036320" y="3055623"/>
            <a:ext cx="479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QIO Integration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36320" y="3360423"/>
            <a:ext cx="4781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quantum-inspired optimization for intelligent threshold calculation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7220" y="40081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13661" y="40938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2" name="Text 19"/>
          <p:cNvSpPr/>
          <p:nvPr/>
        </p:nvSpPr>
        <p:spPr>
          <a:xfrm>
            <a:off x="1036320" y="3970023"/>
            <a:ext cx="460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Superior Performance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36320" y="4274823"/>
            <a:ext cx="459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Demonstrated 25-40% improvement over traditional static methods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7220" y="46939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13661" y="47796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26" name="Text 23"/>
          <p:cNvSpPr/>
          <p:nvPr/>
        </p:nvSpPr>
        <p:spPr>
          <a:xfrm>
            <a:off x="1036320" y="4655823"/>
            <a:ext cx="4391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 Foundation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036320" y="4960623"/>
            <a:ext cx="438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modular architecture for easy deployment and scaling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214110" y="1261110"/>
            <a:ext cx="5589270" cy="4160520"/>
          </a:xfrm>
          <a:custGeom>
            <a:avLst/>
            <a:gdLst/>
            <a:ahLst/>
            <a:cxnLst/>
            <a:rect l="l" t="t" r="r" b="b"/>
            <a:pathLst>
              <a:path w="5589270" h="4160520">
                <a:moveTo>
                  <a:pt x="114289" y="0"/>
                </a:moveTo>
                <a:lnTo>
                  <a:pt x="5474981" y="0"/>
                </a:lnTo>
                <a:cubicBezTo>
                  <a:pt x="5538101" y="0"/>
                  <a:pt x="5589270" y="51169"/>
                  <a:pt x="5589270" y="114289"/>
                </a:cubicBezTo>
                <a:lnTo>
                  <a:pt x="5589270" y="4046231"/>
                </a:lnTo>
                <a:cubicBezTo>
                  <a:pt x="5589270" y="4109351"/>
                  <a:pt x="5538101" y="4160520"/>
                  <a:pt x="5474981" y="4160520"/>
                </a:cubicBezTo>
                <a:lnTo>
                  <a:pt x="114289" y="4160520"/>
                </a:lnTo>
                <a:cubicBezTo>
                  <a:pt x="51169" y="4160520"/>
                  <a:pt x="0" y="4109351"/>
                  <a:pt x="0" y="4046231"/>
                </a:cubicBezTo>
                <a:lnTo>
                  <a:pt x="0" y="114289"/>
                </a:lnTo>
                <a:cubicBezTo>
                  <a:pt x="0" y="51211"/>
                  <a:pt x="51211" y="0"/>
                  <a:pt x="114289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>
                  <a:alpha val="20000"/>
                </a:srgbClr>
              </a:gs>
              <a:gs pos="100000">
                <a:srgbClr val="2DD4BF">
                  <a:alpha val="20000"/>
                </a:srgbClr>
              </a:gs>
            </a:gsLst>
            <a:lin ang="2700000" scaled="1"/>
          </a:gradFill>
          <a:ln w="10160">
            <a:solidFill>
              <a:srgbClr val="2DD4BF">
                <a:alpha val="4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46520" y="14935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DD4BF">
              <a:alpha val="30196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560820" y="16078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31" name="Text 28"/>
          <p:cNvSpPr/>
          <p:nvPr/>
        </p:nvSpPr>
        <p:spPr>
          <a:xfrm>
            <a:off x="7018020" y="1550673"/>
            <a:ext cx="1971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465570" y="2141223"/>
            <a:ext cx="5105400" cy="1733550"/>
          </a:xfrm>
          <a:custGeom>
            <a:avLst/>
            <a:gdLst/>
            <a:ahLst/>
            <a:cxnLst/>
            <a:rect l="l" t="t" r="r" b="b"/>
            <a:pathLst>
              <a:path w="5105400" h="1733550">
                <a:moveTo>
                  <a:pt x="38100" y="0"/>
                </a:moveTo>
                <a:lnTo>
                  <a:pt x="4991107" y="0"/>
                </a:lnTo>
                <a:cubicBezTo>
                  <a:pt x="5054229" y="0"/>
                  <a:pt x="5105400" y="51171"/>
                  <a:pt x="5105400" y="114293"/>
                </a:cubicBezTo>
                <a:lnTo>
                  <a:pt x="5105400" y="1619257"/>
                </a:lnTo>
                <a:cubicBezTo>
                  <a:pt x="5105400" y="1682379"/>
                  <a:pt x="5054229" y="1733550"/>
                  <a:pt x="4991107" y="1733550"/>
                </a:cubicBezTo>
                <a:lnTo>
                  <a:pt x="38100" y="1733550"/>
                </a:lnTo>
                <a:cubicBezTo>
                  <a:pt x="17072" y="1733550"/>
                  <a:pt x="0" y="1716478"/>
                  <a:pt x="0" y="1695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11827">
              <a:alpha val="6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6465570" y="2141223"/>
            <a:ext cx="38100" cy="1733550"/>
          </a:xfrm>
          <a:custGeom>
            <a:avLst/>
            <a:gdLst/>
            <a:ahLst/>
            <a:cxnLst/>
            <a:rect l="l" t="t" r="r" b="b"/>
            <a:pathLst>
              <a:path w="38100" h="1733550">
                <a:moveTo>
                  <a:pt x="38100" y="0"/>
                </a:moveTo>
                <a:lnTo>
                  <a:pt x="38100" y="0"/>
                </a:lnTo>
                <a:lnTo>
                  <a:pt x="38100" y="1733550"/>
                </a:lnTo>
                <a:lnTo>
                  <a:pt x="38100" y="1733550"/>
                </a:lnTo>
                <a:cubicBezTo>
                  <a:pt x="17072" y="1733550"/>
                  <a:pt x="0" y="1716478"/>
                  <a:pt x="0" y="1695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34" name="Shape 31"/>
          <p:cNvSpPr/>
          <p:nvPr/>
        </p:nvSpPr>
        <p:spPr>
          <a:xfrm>
            <a:off x="6731079" y="243649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222572"/>
                </a:moveTo>
                <a:cubicBezTo>
                  <a:pt x="118430" y="225419"/>
                  <a:pt x="111956" y="227986"/>
                  <a:pt x="105538" y="230107"/>
                </a:cubicBezTo>
                <a:cubicBezTo>
                  <a:pt x="114858" y="248971"/>
                  <a:pt x="122839" y="250031"/>
                  <a:pt x="125016" y="250031"/>
                </a:cubicBezTo>
                <a:cubicBezTo>
                  <a:pt x="127192" y="250031"/>
                  <a:pt x="135117" y="248971"/>
                  <a:pt x="144494" y="230107"/>
                </a:cubicBezTo>
                <a:cubicBezTo>
                  <a:pt x="138131" y="227930"/>
                  <a:pt x="131601" y="225419"/>
                  <a:pt x="125016" y="222572"/>
                </a:cubicBezTo>
                <a:close/>
                <a:moveTo>
                  <a:pt x="231056" y="142875"/>
                </a:moveTo>
                <a:cubicBezTo>
                  <a:pt x="249473" y="168101"/>
                  <a:pt x="255780" y="193607"/>
                  <a:pt x="244227" y="214313"/>
                </a:cubicBezTo>
                <a:cubicBezTo>
                  <a:pt x="232953" y="234572"/>
                  <a:pt x="209345" y="241827"/>
                  <a:pt x="179933" y="238423"/>
                </a:cubicBezTo>
                <a:cubicBezTo>
                  <a:pt x="167655" y="267500"/>
                  <a:pt x="148847" y="285750"/>
                  <a:pt x="125016" y="285750"/>
                </a:cubicBezTo>
                <a:cubicBezTo>
                  <a:pt x="101185" y="285750"/>
                  <a:pt x="82376" y="267500"/>
                  <a:pt x="70098" y="238423"/>
                </a:cubicBezTo>
                <a:cubicBezTo>
                  <a:pt x="40686" y="241827"/>
                  <a:pt x="17078" y="234572"/>
                  <a:pt x="5804" y="214313"/>
                </a:cubicBezTo>
                <a:cubicBezTo>
                  <a:pt x="-5748" y="193607"/>
                  <a:pt x="558" y="168101"/>
                  <a:pt x="18976" y="142875"/>
                </a:cubicBezTo>
                <a:cubicBezTo>
                  <a:pt x="558" y="117649"/>
                  <a:pt x="-5748" y="92143"/>
                  <a:pt x="5804" y="71438"/>
                </a:cubicBezTo>
                <a:cubicBezTo>
                  <a:pt x="17078" y="51178"/>
                  <a:pt x="40686" y="43923"/>
                  <a:pt x="70098" y="47327"/>
                </a:cubicBezTo>
                <a:cubicBezTo>
                  <a:pt x="82376" y="18250"/>
                  <a:pt x="101129" y="0"/>
                  <a:pt x="125016" y="0"/>
                </a:cubicBezTo>
                <a:cubicBezTo>
                  <a:pt x="148903" y="0"/>
                  <a:pt x="167655" y="18250"/>
                  <a:pt x="179933" y="47327"/>
                </a:cubicBezTo>
                <a:cubicBezTo>
                  <a:pt x="209345" y="43923"/>
                  <a:pt x="232953" y="51122"/>
                  <a:pt x="244227" y="71438"/>
                </a:cubicBezTo>
                <a:cubicBezTo>
                  <a:pt x="255780" y="92143"/>
                  <a:pt x="249473" y="117649"/>
                  <a:pt x="231056" y="142875"/>
                </a:cubicBezTo>
                <a:close/>
                <a:moveTo>
                  <a:pt x="194332" y="180491"/>
                </a:moveTo>
                <a:cubicBezTo>
                  <a:pt x="193384" y="188416"/>
                  <a:pt x="192156" y="196118"/>
                  <a:pt x="190593" y="203485"/>
                </a:cubicBezTo>
                <a:cubicBezTo>
                  <a:pt x="208341" y="204267"/>
                  <a:pt x="212136" y="198630"/>
                  <a:pt x="213029" y="196955"/>
                </a:cubicBezTo>
                <a:cubicBezTo>
                  <a:pt x="214313" y="194611"/>
                  <a:pt x="216936" y="186965"/>
                  <a:pt x="206387" y="170111"/>
                </a:cubicBezTo>
                <a:cubicBezTo>
                  <a:pt x="202592" y="173627"/>
                  <a:pt x="198574" y="177087"/>
                  <a:pt x="194332" y="180491"/>
                </a:cubicBezTo>
                <a:close/>
                <a:moveTo>
                  <a:pt x="190593" y="82321"/>
                </a:moveTo>
                <a:cubicBezTo>
                  <a:pt x="192156" y="89632"/>
                  <a:pt x="193384" y="97334"/>
                  <a:pt x="194332" y="105315"/>
                </a:cubicBezTo>
                <a:cubicBezTo>
                  <a:pt x="198574" y="108719"/>
                  <a:pt x="202592" y="112179"/>
                  <a:pt x="206387" y="115695"/>
                </a:cubicBezTo>
                <a:cubicBezTo>
                  <a:pt x="216936" y="98840"/>
                  <a:pt x="214313" y="91139"/>
                  <a:pt x="213029" y="88850"/>
                </a:cubicBezTo>
                <a:cubicBezTo>
                  <a:pt x="212136" y="87232"/>
                  <a:pt x="208341" y="81595"/>
                  <a:pt x="190593" y="82321"/>
                </a:cubicBezTo>
                <a:close/>
                <a:moveTo>
                  <a:pt x="144494" y="55643"/>
                </a:moveTo>
                <a:cubicBezTo>
                  <a:pt x="135117" y="36779"/>
                  <a:pt x="127192" y="35719"/>
                  <a:pt x="125016" y="35719"/>
                </a:cubicBezTo>
                <a:cubicBezTo>
                  <a:pt x="122839" y="35719"/>
                  <a:pt x="114914" y="36779"/>
                  <a:pt x="105538" y="55643"/>
                </a:cubicBezTo>
                <a:cubicBezTo>
                  <a:pt x="111900" y="57820"/>
                  <a:pt x="118430" y="60331"/>
                  <a:pt x="125016" y="63178"/>
                </a:cubicBezTo>
                <a:cubicBezTo>
                  <a:pt x="131601" y="60331"/>
                  <a:pt x="138075" y="57764"/>
                  <a:pt x="144494" y="55643"/>
                </a:cubicBezTo>
                <a:close/>
                <a:moveTo>
                  <a:pt x="55755" y="105259"/>
                </a:moveTo>
                <a:cubicBezTo>
                  <a:pt x="56704" y="97278"/>
                  <a:pt x="57931" y="89632"/>
                  <a:pt x="59494" y="82265"/>
                </a:cubicBezTo>
                <a:cubicBezTo>
                  <a:pt x="41746" y="81483"/>
                  <a:pt x="37951" y="87120"/>
                  <a:pt x="37058" y="88795"/>
                </a:cubicBezTo>
                <a:cubicBezTo>
                  <a:pt x="35775" y="91139"/>
                  <a:pt x="33151" y="98785"/>
                  <a:pt x="43700" y="115639"/>
                </a:cubicBezTo>
                <a:cubicBezTo>
                  <a:pt x="47495" y="112123"/>
                  <a:pt x="51513" y="108663"/>
                  <a:pt x="55755" y="105259"/>
                </a:cubicBezTo>
                <a:close/>
                <a:moveTo>
                  <a:pt x="43644" y="170111"/>
                </a:moveTo>
                <a:cubicBezTo>
                  <a:pt x="33096" y="186965"/>
                  <a:pt x="35719" y="194667"/>
                  <a:pt x="37002" y="196955"/>
                </a:cubicBezTo>
                <a:cubicBezTo>
                  <a:pt x="37895" y="198574"/>
                  <a:pt x="41690" y="204211"/>
                  <a:pt x="59438" y="203485"/>
                </a:cubicBezTo>
                <a:cubicBezTo>
                  <a:pt x="57876" y="196174"/>
                  <a:pt x="56648" y="188472"/>
                  <a:pt x="55699" y="180491"/>
                </a:cubicBezTo>
                <a:cubicBezTo>
                  <a:pt x="51457" y="177087"/>
                  <a:pt x="47439" y="173627"/>
                  <a:pt x="43644" y="170111"/>
                </a:cubicBezTo>
                <a:close/>
                <a:moveTo>
                  <a:pt x="169664" y="142875"/>
                </a:moveTo>
                <a:cubicBezTo>
                  <a:pt x="169664" y="118233"/>
                  <a:pt x="149658" y="98227"/>
                  <a:pt x="125016" y="98227"/>
                </a:cubicBezTo>
                <a:cubicBezTo>
                  <a:pt x="100373" y="98227"/>
                  <a:pt x="80367" y="118233"/>
                  <a:pt x="80367" y="142875"/>
                </a:cubicBezTo>
                <a:cubicBezTo>
                  <a:pt x="80367" y="167517"/>
                  <a:pt x="100373" y="187523"/>
                  <a:pt x="125016" y="187523"/>
                </a:cubicBezTo>
                <a:cubicBezTo>
                  <a:pt x="149658" y="187523"/>
                  <a:pt x="169664" y="167517"/>
                  <a:pt x="169664" y="142875"/>
                </a:cubicBezTo>
                <a:close/>
                <a:moveTo>
                  <a:pt x="125016" y="125016"/>
                </a:moveTo>
                <a:cubicBezTo>
                  <a:pt x="134872" y="125016"/>
                  <a:pt x="142875" y="133018"/>
                  <a:pt x="142875" y="142875"/>
                </a:cubicBezTo>
                <a:cubicBezTo>
                  <a:pt x="142875" y="152732"/>
                  <a:pt x="134872" y="160734"/>
                  <a:pt x="125016" y="160734"/>
                </a:cubicBezTo>
                <a:cubicBezTo>
                  <a:pt x="115159" y="160734"/>
                  <a:pt x="107156" y="152732"/>
                  <a:pt x="107156" y="142875"/>
                </a:cubicBezTo>
                <a:cubicBezTo>
                  <a:pt x="107156" y="133018"/>
                  <a:pt x="115159" y="125016"/>
                  <a:pt x="125016" y="125016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35" name="Text 32"/>
          <p:cNvSpPr/>
          <p:nvPr/>
        </p:nvSpPr>
        <p:spPr>
          <a:xfrm>
            <a:off x="7146607" y="2331723"/>
            <a:ext cx="230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Real Quantum Hardware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146607" y="2598423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Next Evolution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675120" y="2941323"/>
            <a:ext cx="47815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Integration with actual quantum processors (IBM Q, Rigetti) for exponential optimization speedup when quantum advantage becomes practical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446520" y="4065273"/>
            <a:ext cx="2486025" cy="1028700"/>
          </a:xfrm>
          <a:custGeom>
            <a:avLst/>
            <a:gdLst/>
            <a:ahLst/>
            <a:cxnLst/>
            <a:rect l="l" t="t" r="r" b="b"/>
            <a:pathLst>
              <a:path w="2486025" h="1028700">
                <a:moveTo>
                  <a:pt x="76196" y="0"/>
                </a:moveTo>
                <a:lnTo>
                  <a:pt x="2409829" y="0"/>
                </a:lnTo>
                <a:cubicBezTo>
                  <a:pt x="2451911" y="0"/>
                  <a:pt x="2486025" y="34114"/>
                  <a:pt x="2486025" y="76196"/>
                </a:cubicBezTo>
                <a:lnTo>
                  <a:pt x="2486025" y="952504"/>
                </a:lnTo>
                <a:cubicBezTo>
                  <a:pt x="2486025" y="994586"/>
                  <a:pt x="2451911" y="1028700"/>
                  <a:pt x="24098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111827">
              <a:alpha val="4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7576185" y="42176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0" name="Text 37"/>
          <p:cNvSpPr/>
          <p:nvPr/>
        </p:nvSpPr>
        <p:spPr>
          <a:xfrm>
            <a:off x="6560820" y="4522473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Integration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565582" y="4751073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Hybrid AI-quantum models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9086850" y="4065273"/>
            <a:ext cx="2486025" cy="1028700"/>
          </a:xfrm>
          <a:custGeom>
            <a:avLst/>
            <a:gdLst/>
            <a:ahLst/>
            <a:cxnLst/>
            <a:rect l="l" t="t" r="r" b="b"/>
            <a:pathLst>
              <a:path w="2486025" h="1028700">
                <a:moveTo>
                  <a:pt x="76196" y="0"/>
                </a:moveTo>
                <a:lnTo>
                  <a:pt x="2409829" y="0"/>
                </a:lnTo>
                <a:cubicBezTo>
                  <a:pt x="2451911" y="0"/>
                  <a:pt x="2486025" y="34114"/>
                  <a:pt x="2486025" y="76196"/>
                </a:cubicBezTo>
                <a:lnTo>
                  <a:pt x="2486025" y="952504"/>
                </a:lnTo>
                <a:cubicBezTo>
                  <a:pt x="2486025" y="994586"/>
                  <a:pt x="2451911" y="1028700"/>
                  <a:pt x="24098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111827">
              <a:alpha val="40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10202227" y="421767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150019"/>
                </a:moveTo>
                <a:cubicBezTo>
                  <a:pt x="0" y="185514"/>
                  <a:pt x="28798" y="214313"/>
                  <a:pt x="64294" y="214313"/>
                </a:cubicBezTo>
                <a:lnTo>
                  <a:pt x="200025" y="214313"/>
                </a:lnTo>
                <a:cubicBezTo>
                  <a:pt x="231591" y="214313"/>
                  <a:pt x="257175" y="188729"/>
                  <a:pt x="257175" y="157163"/>
                </a:cubicBezTo>
                <a:cubicBezTo>
                  <a:pt x="257175" y="134124"/>
                  <a:pt x="243557" y="114255"/>
                  <a:pt x="223912" y="105236"/>
                </a:cubicBezTo>
                <a:cubicBezTo>
                  <a:pt x="226903" y="99387"/>
                  <a:pt x="228600" y="92735"/>
                  <a:pt x="228600" y="85725"/>
                </a:cubicBezTo>
                <a:cubicBezTo>
                  <a:pt x="228600" y="62061"/>
                  <a:pt x="209401" y="42863"/>
                  <a:pt x="185738" y="42863"/>
                </a:cubicBezTo>
                <a:cubicBezTo>
                  <a:pt x="177835" y="42863"/>
                  <a:pt x="170468" y="45006"/>
                  <a:pt x="164128" y="48711"/>
                </a:cubicBezTo>
                <a:cubicBezTo>
                  <a:pt x="153367" y="28262"/>
                  <a:pt x="131891" y="14288"/>
                  <a:pt x="107156" y="14288"/>
                </a:cubicBezTo>
                <a:cubicBezTo>
                  <a:pt x="71661" y="14288"/>
                  <a:pt x="42863" y="43086"/>
                  <a:pt x="42863" y="78581"/>
                </a:cubicBezTo>
                <a:cubicBezTo>
                  <a:pt x="42863" y="82153"/>
                  <a:pt x="43175" y="85680"/>
                  <a:pt x="43711" y="89074"/>
                </a:cubicBezTo>
                <a:cubicBezTo>
                  <a:pt x="18306" y="97646"/>
                  <a:pt x="0" y="121712"/>
                  <a:pt x="0" y="150019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44" name="Text 41"/>
          <p:cNvSpPr/>
          <p:nvPr/>
        </p:nvSpPr>
        <p:spPr>
          <a:xfrm>
            <a:off x="9201150" y="4522473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Native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9205913" y="4751073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Kubernetes operator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384810" y="5657851"/>
            <a:ext cx="11418570" cy="998220"/>
          </a:xfrm>
          <a:custGeom>
            <a:avLst/>
            <a:gdLst/>
            <a:ahLst/>
            <a:cxnLst/>
            <a:rect l="l" t="t" r="r" b="b"/>
            <a:pathLst>
              <a:path w="11418570" h="998220">
                <a:moveTo>
                  <a:pt x="114296" y="0"/>
                </a:moveTo>
                <a:lnTo>
                  <a:pt x="11304274" y="0"/>
                </a:lnTo>
                <a:cubicBezTo>
                  <a:pt x="11367398" y="0"/>
                  <a:pt x="11418570" y="51172"/>
                  <a:pt x="11418570" y="114296"/>
                </a:cubicBezTo>
                <a:lnTo>
                  <a:pt x="11418570" y="883924"/>
                </a:lnTo>
                <a:cubicBezTo>
                  <a:pt x="11418570" y="947048"/>
                  <a:pt x="11367398" y="998220"/>
                  <a:pt x="11304274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>
                  <a:alpha val="20000"/>
                </a:srgbClr>
              </a:gs>
              <a:gs pos="100000">
                <a:srgbClr val="2DD4BF">
                  <a:alpha val="20000"/>
                </a:srgbClr>
              </a:gs>
            </a:gsLst>
            <a:lin ang="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07695" y="604254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48" name="Text 45"/>
          <p:cNvSpPr/>
          <p:nvPr/>
        </p:nvSpPr>
        <p:spPr>
          <a:xfrm>
            <a:off x="929759" y="5852159"/>
            <a:ext cx="103346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Quantum-inspired optimization delivers </a:t>
            </a:r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8BDF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intelligent, adaptive</a:t>
            </a:r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 API rate limiting for </a:t>
            </a:r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DD4B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next-generation</a:t>
            </a:r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9FAFB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 systems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1386067" y="604254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132159"/>
                </a:moveTo>
                <a:cubicBezTo>
                  <a:pt x="200025" y="161761"/>
                  <a:pt x="176049" y="185738"/>
                  <a:pt x="146447" y="185738"/>
                </a:cubicBezTo>
                <a:lnTo>
                  <a:pt x="142875" y="185738"/>
                </a:lnTo>
                <a:cubicBezTo>
                  <a:pt x="134972" y="185738"/>
                  <a:pt x="128588" y="179353"/>
                  <a:pt x="128588" y="171450"/>
                </a:cubicBezTo>
                <a:cubicBezTo>
                  <a:pt x="128588" y="163547"/>
                  <a:pt x="134972" y="157163"/>
                  <a:pt x="142875" y="157163"/>
                </a:cubicBezTo>
                <a:lnTo>
                  <a:pt x="146447" y="157163"/>
                </a:lnTo>
                <a:cubicBezTo>
                  <a:pt x="160243" y="157163"/>
                  <a:pt x="171450" y="145956"/>
                  <a:pt x="171450" y="132159"/>
                </a:cubicBezTo>
                <a:lnTo>
                  <a:pt x="171450" y="128588"/>
                </a:lnTo>
                <a:lnTo>
                  <a:pt x="142875" y="128588"/>
                </a:lnTo>
                <a:cubicBezTo>
                  <a:pt x="127114" y="128588"/>
                  <a:pt x="114300" y="115773"/>
                  <a:pt x="114300" y="100013"/>
                </a:cubicBezTo>
                <a:lnTo>
                  <a:pt x="114300" y="71438"/>
                </a:lnTo>
                <a:cubicBezTo>
                  <a:pt x="114300" y="55677"/>
                  <a:pt x="127114" y="42863"/>
                  <a:pt x="142875" y="42863"/>
                </a:cubicBezTo>
                <a:lnTo>
                  <a:pt x="171450" y="42863"/>
                </a:lnTo>
                <a:cubicBezTo>
                  <a:pt x="187211" y="42863"/>
                  <a:pt x="200025" y="55677"/>
                  <a:pt x="200025" y="71438"/>
                </a:cubicBezTo>
                <a:lnTo>
                  <a:pt x="200025" y="132159"/>
                </a:lnTo>
                <a:close/>
                <a:moveTo>
                  <a:pt x="85725" y="132159"/>
                </a:moveTo>
                <a:cubicBezTo>
                  <a:pt x="85725" y="161761"/>
                  <a:pt x="61749" y="185738"/>
                  <a:pt x="32147" y="185738"/>
                </a:cubicBezTo>
                <a:lnTo>
                  <a:pt x="28575" y="185738"/>
                </a:lnTo>
                <a:cubicBezTo>
                  <a:pt x="20672" y="185738"/>
                  <a:pt x="14288" y="179353"/>
                  <a:pt x="14288" y="171450"/>
                </a:cubicBezTo>
                <a:cubicBezTo>
                  <a:pt x="14288" y="163547"/>
                  <a:pt x="20672" y="157163"/>
                  <a:pt x="28575" y="157163"/>
                </a:cubicBezTo>
                <a:lnTo>
                  <a:pt x="32147" y="157163"/>
                </a:lnTo>
                <a:cubicBezTo>
                  <a:pt x="45943" y="157163"/>
                  <a:pt x="57150" y="145956"/>
                  <a:pt x="57150" y="132159"/>
                </a:cubicBezTo>
                <a:lnTo>
                  <a:pt x="57150" y="128588"/>
                </a:lnTo>
                <a:lnTo>
                  <a:pt x="28575" y="128588"/>
                </a:lnTo>
                <a:cubicBezTo>
                  <a:pt x="12814" y="128588"/>
                  <a:pt x="0" y="115773"/>
                  <a:pt x="0" y="100013"/>
                </a:cubicBezTo>
                <a:lnTo>
                  <a:pt x="0" y="71438"/>
                </a:lnTo>
                <a:cubicBezTo>
                  <a:pt x="0" y="55677"/>
                  <a:pt x="12814" y="42863"/>
                  <a:pt x="28575" y="42863"/>
                </a:cubicBezTo>
                <a:lnTo>
                  <a:pt x="57150" y="42863"/>
                </a:lnTo>
                <a:cubicBezTo>
                  <a:pt x="72911" y="42863"/>
                  <a:pt x="85725" y="55677"/>
                  <a:pt x="85725" y="71438"/>
                </a:cubicBezTo>
                <a:lnTo>
                  <a:pt x="85725" y="132159"/>
                </a:lnTo>
                <a:close/>
              </a:path>
            </a:pathLst>
          </a:custGeom>
          <a:solidFill>
            <a:srgbClr val="2DD4BF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fv2mod2rwjnue/traffic_flow_visual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77" b="777"/>
          <a:stretch/>
        </p:blipFill>
        <p:spPr>
          <a:xfrm>
            <a:off x="0" y="0"/>
            <a:ext cx="12192000" cy="6858551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551"/>
          </a:xfrm>
          <a:custGeom>
            <a:avLst/>
            <a:gdLst/>
            <a:ahLst/>
            <a:cxnLst/>
            <a:rect l="l" t="t" r="r" b="b"/>
            <a:pathLst>
              <a:path w="12192000" h="6858551">
                <a:moveTo>
                  <a:pt x="0" y="0"/>
                </a:moveTo>
                <a:lnTo>
                  <a:pt x="12192000" y="0"/>
                </a:lnTo>
                <a:lnTo>
                  <a:pt x="12192000" y="6858551"/>
                </a:lnTo>
                <a:lnTo>
                  <a:pt x="0" y="685855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11827">
                  <a:alpha val="95000"/>
                </a:srgbClr>
              </a:gs>
              <a:gs pos="50000">
                <a:srgbClr val="111827">
                  <a:alpha val="90000"/>
                </a:srgbClr>
              </a:gs>
              <a:gs pos="100000">
                <a:srgbClr val="111827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90922" y="352625"/>
            <a:ext cx="811037" cy="705249"/>
          </a:xfrm>
          <a:custGeom>
            <a:avLst/>
            <a:gdLst/>
            <a:ahLst/>
            <a:cxnLst/>
            <a:rect l="l" t="t" r="r" b="b"/>
            <a:pathLst>
              <a:path w="811037" h="705249">
                <a:moveTo>
                  <a:pt x="141050" y="0"/>
                </a:moveTo>
                <a:lnTo>
                  <a:pt x="669987" y="0"/>
                </a:lnTo>
                <a:cubicBezTo>
                  <a:pt x="747887" y="0"/>
                  <a:pt x="811037" y="63150"/>
                  <a:pt x="811037" y="141050"/>
                </a:cubicBezTo>
                <a:lnTo>
                  <a:pt x="811037" y="564200"/>
                </a:lnTo>
                <a:cubicBezTo>
                  <a:pt x="811037" y="642099"/>
                  <a:pt x="747887" y="705249"/>
                  <a:pt x="669987" y="705249"/>
                </a:cubicBezTo>
                <a:lnTo>
                  <a:pt x="141050" y="705249"/>
                </a:lnTo>
                <a:cubicBezTo>
                  <a:pt x="63150" y="705249"/>
                  <a:pt x="0" y="642099"/>
                  <a:pt x="0" y="564200"/>
                </a:cubicBezTo>
                <a:lnTo>
                  <a:pt x="0" y="141050"/>
                </a:lnTo>
                <a:cubicBezTo>
                  <a:pt x="0" y="63202"/>
                  <a:pt x="63202" y="0"/>
                  <a:pt x="1410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>
                  <a:alpha val="30000"/>
                </a:srgbClr>
              </a:gs>
              <a:gs pos="100000">
                <a:srgbClr val="2DD4B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5" name="Shape 2"/>
          <p:cNvSpPr/>
          <p:nvPr/>
        </p:nvSpPr>
        <p:spPr>
          <a:xfrm>
            <a:off x="5884866" y="493675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211575" y="116779"/>
                </a:moveTo>
                <a:lnTo>
                  <a:pt x="211575" y="372405"/>
                </a:lnTo>
                <a:lnTo>
                  <a:pt x="211988" y="372239"/>
                </a:lnTo>
                <a:cubicBezTo>
                  <a:pt x="257113" y="353479"/>
                  <a:pt x="305544" y="343809"/>
                  <a:pt x="354388" y="343809"/>
                </a:cubicBezTo>
                <a:lnTo>
                  <a:pt x="370256" y="343809"/>
                </a:lnTo>
                <a:lnTo>
                  <a:pt x="370256" y="79341"/>
                </a:lnTo>
                <a:lnTo>
                  <a:pt x="354388" y="79341"/>
                </a:lnTo>
                <a:cubicBezTo>
                  <a:pt x="319511" y="79341"/>
                  <a:pt x="284882" y="86283"/>
                  <a:pt x="252650" y="99672"/>
                </a:cubicBezTo>
                <a:cubicBezTo>
                  <a:pt x="238766" y="105457"/>
                  <a:pt x="225046" y="111159"/>
                  <a:pt x="211575" y="116779"/>
                </a:cubicBezTo>
                <a:close/>
                <a:moveTo>
                  <a:pt x="190831" y="50828"/>
                </a:moveTo>
                <a:lnTo>
                  <a:pt x="211575" y="59505"/>
                </a:lnTo>
                <a:lnTo>
                  <a:pt x="232319" y="50828"/>
                </a:lnTo>
                <a:cubicBezTo>
                  <a:pt x="270998" y="34711"/>
                  <a:pt x="312486" y="26447"/>
                  <a:pt x="354388" y="26447"/>
                </a:cubicBezTo>
                <a:lnTo>
                  <a:pt x="383479" y="26447"/>
                </a:lnTo>
                <a:cubicBezTo>
                  <a:pt x="405381" y="26447"/>
                  <a:pt x="423150" y="44216"/>
                  <a:pt x="423150" y="66117"/>
                </a:cubicBezTo>
                <a:lnTo>
                  <a:pt x="423150" y="357033"/>
                </a:lnTo>
                <a:cubicBezTo>
                  <a:pt x="423150" y="378934"/>
                  <a:pt x="405381" y="396703"/>
                  <a:pt x="383479" y="396703"/>
                </a:cubicBezTo>
                <a:lnTo>
                  <a:pt x="354388" y="396703"/>
                </a:lnTo>
                <a:cubicBezTo>
                  <a:pt x="312486" y="396703"/>
                  <a:pt x="270998" y="404967"/>
                  <a:pt x="232319" y="421084"/>
                </a:cubicBezTo>
                <a:lnTo>
                  <a:pt x="221740" y="425464"/>
                </a:lnTo>
                <a:cubicBezTo>
                  <a:pt x="215211" y="428191"/>
                  <a:pt x="207938" y="428191"/>
                  <a:pt x="201409" y="425464"/>
                </a:cubicBezTo>
                <a:lnTo>
                  <a:pt x="190831" y="421084"/>
                </a:lnTo>
                <a:cubicBezTo>
                  <a:pt x="152152" y="404967"/>
                  <a:pt x="110664" y="396703"/>
                  <a:pt x="68762" y="396703"/>
                </a:cubicBezTo>
                <a:lnTo>
                  <a:pt x="39670" y="396703"/>
                </a:lnTo>
                <a:cubicBezTo>
                  <a:pt x="17769" y="396703"/>
                  <a:pt x="0" y="378934"/>
                  <a:pt x="0" y="357033"/>
                </a:cubicBezTo>
                <a:lnTo>
                  <a:pt x="0" y="66117"/>
                </a:lnTo>
                <a:cubicBezTo>
                  <a:pt x="0" y="44216"/>
                  <a:pt x="17769" y="26447"/>
                  <a:pt x="39670" y="26447"/>
                </a:cubicBezTo>
                <a:lnTo>
                  <a:pt x="68762" y="26447"/>
                </a:lnTo>
                <a:cubicBezTo>
                  <a:pt x="110664" y="26447"/>
                  <a:pt x="152152" y="34711"/>
                  <a:pt x="190831" y="50828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6" name="Text 3"/>
          <p:cNvSpPr/>
          <p:nvPr/>
        </p:nvSpPr>
        <p:spPr>
          <a:xfrm>
            <a:off x="220390" y="1269449"/>
            <a:ext cx="11751219" cy="528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165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32241" y="1939436"/>
            <a:ext cx="1128399" cy="35262"/>
          </a:xfrm>
          <a:custGeom>
            <a:avLst/>
            <a:gdLst/>
            <a:ahLst/>
            <a:cxnLst/>
            <a:rect l="l" t="t" r="r" b="b"/>
            <a:pathLst>
              <a:path w="1128399" h="35262">
                <a:moveTo>
                  <a:pt x="0" y="0"/>
                </a:moveTo>
                <a:lnTo>
                  <a:pt x="1128399" y="0"/>
                </a:lnTo>
                <a:lnTo>
                  <a:pt x="1128399" y="35262"/>
                </a:lnTo>
                <a:lnTo>
                  <a:pt x="0" y="35262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8BDF8"/>
              </a:gs>
              <a:gs pos="100000">
                <a:srgbClr val="2DD4BF"/>
              </a:gs>
            </a:gsLst>
            <a:lin ang="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2164675" y="2256798"/>
            <a:ext cx="7881163" cy="846299"/>
          </a:xfrm>
          <a:custGeom>
            <a:avLst/>
            <a:gdLst/>
            <a:ahLst/>
            <a:cxnLst/>
            <a:rect l="l" t="t" r="r" b="b"/>
            <a:pathLst>
              <a:path w="7881163" h="846299">
                <a:moveTo>
                  <a:pt x="35262" y="0"/>
                </a:moveTo>
                <a:lnTo>
                  <a:pt x="7775375" y="0"/>
                </a:lnTo>
                <a:cubicBezTo>
                  <a:pt x="7833800" y="0"/>
                  <a:pt x="7881163" y="47363"/>
                  <a:pt x="7881163" y="105787"/>
                </a:cubicBezTo>
                <a:lnTo>
                  <a:pt x="7881163" y="740512"/>
                </a:lnTo>
                <a:cubicBezTo>
                  <a:pt x="7881163" y="798937"/>
                  <a:pt x="7833800" y="846299"/>
                  <a:pt x="7775375" y="846299"/>
                </a:cubicBezTo>
                <a:lnTo>
                  <a:pt x="35262" y="846299"/>
                </a:lnTo>
                <a:cubicBezTo>
                  <a:pt x="15788" y="846299"/>
                  <a:pt x="0" y="830512"/>
                  <a:pt x="0" y="81103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F2937">
              <a:alpha val="8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164675" y="2256798"/>
            <a:ext cx="35262" cy="846299"/>
          </a:xfrm>
          <a:custGeom>
            <a:avLst/>
            <a:gdLst/>
            <a:ahLst/>
            <a:cxnLst/>
            <a:rect l="l" t="t" r="r" b="b"/>
            <a:pathLst>
              <a:path w="35262" h="846299">
                <a:moveTo>
                  <a:pt x="35262" y="0"/>
                </a:moveTo>
                <a:lnTo>
                  <a:pt x="35262" y="0"/>
                </a:lnTo>
                <a:lnTo>
                  <a:pt x="35262" y="846299"/>
                </a:lnTo>
                <a:lnTo>
                  <a:pt x="35262" y="846299"/>
                </a:lnTo>
                <a:cubicBezTo>
                  <a:pt x="15788" y="846299"/>
                  <a:pt x="0" y="830512"/>
                  <a:pt x="0" y="81103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0" name="Shape 7"/>
          <p:cNvSpPr/>
          <p:nvPr/>
        </p:nvSpPr>
        <p:spPr>
          <a:xfrm>
            <a:off x="2358619" y="2468373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105787" y="0"/>
                </a:moveTo>
                <a:lnTo>
                  <a:pt x="317362" y="0"/>
                </a:lnTo>
                <a:cubicBezTo>
                  <a:pt x="375787" y="0"/>
                  <a:pt x="423150" y="47363"/>
                  <a:pt x="423150" y="105787"/>
                </a:cubicBezTo>
                <a:lnTo>
                  <a:pt x="423150" y="317362"/>
                </a:lnTo>
                <a:cubicBezTo>
                  <a:pt x="423150" y="375787"/>
                  <a:pt x="375787" y="423150"/>
                  <a:pt x="317362" y="423150"/>
                </a:cubicBezTo>
                <a:lnTo>
                  <a:pt x="105787" y="423150"/>
                </a:lnTo>
                <a:cubicBezTo>
                  <a:pt x="47363" y="423150"/>
                  <a:pt x="0" y="375787"/>
                  <a:pt x="0" y="317362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504077" y="2591792"/>
            <a:ext cx="132234" cy="176312"/>
          </a:xfrm>
          <a:custGeom>
            <a:avLst/>
            <a:gdLst/>
            <a:ahLst/>
            <a:cxnLst/>
            <a:rect l="l" t="t" r="r" b="b"/>
            <a:pathLst>
              <a:path w="132234" h="176312">
                <a:moveTo>
                  <a:pt x="0" y="22039"/>
                </a:moveTo>
                <a:cubicBezTo>
                  <a:pt x="0" y="9883"/>
                  <a:pt x="9883" y="0"/>
                  <a:pt x="22039" y="0"/>
                </a:cubicBezTo>
                <a:lnTo>
                  <a:pt x="73521" y="0"/>
                </a:lnTo>
                <a:cubicBezTo>
                  <a:pt x="79375" y="0"/>
                  <a:pt x="84988" y="2307"/>
                  <a:pt x="89120" y="6440"/>
                </a:cubicBezTo>
                <a:lnTo>
                  <a:pt x="125795" y="43148"/>
                </a:lnTo>
                <a:cubicBezTo>
                  <a:pt x="129927" y="47281"/>
                  <a:pt x="132234" y="52894"/>
                  <a:pt x="132234" y="58748"/>
                </a:cubicBezTo>
                <a:lnTo>
                  <a:pt x="132234" y="154273"/>
                </a:lnTo>
                <a:cubicBezTo>
                  <a:pt x="132234" y="166429"/>
                  <a:pt x="122351" y="176312"/>
                  <a:pt x="110195" y="176312"/>
                </a:cubicBezTo>
                <a:lnTo>
                  <a:pt x="22039" y="176312"/>
                </a:lnTo>
                <a:cubicBezTo>
                  <a:pt x="9883" y="176312"/>
                  <a:pt x="0" y="166429"/>
                  <a:pt x="0" y="154273"/>
                </a:cubicBezTo>
                <a:lnTo>
                  <a:pt x="0" y="22039"/>
                </a:lnTo>
                <a:close/>
                <a:moveTo>
                  <a:pt x="71627" y="20145"/>
                </a:moveTo>
                <a:lnTo>
                  <a:pt x="71627" y="52343"/>
                </a:lnTo>
                <a:cubicBezTo>
                  <a:pt x="71627" y="56923"/>
                  <a:pt x="75312" y="60607"/>
                  <a:pt x="79892" y="60607"/>
                </a:cubicBezTo>
                <a:lnTo>
                  <a:pt x="112089" y="60607"/>
                </a:lnTo>
                <a:lnTo>
                  <a:pt x="71627" y="20145"/>
                </a:lnTo>
                <a:close/>
                <a:moveTo>
                  <a:pt x="41323" y="88156"/>
                </a:moveTo>
                <a:cubicBezTo>
                  <a:pt x="36743" y="88156"/>
                  <a:pt x="33059" y="91841"/>
                  <a:pt x="33059" y="96421"/>
                </a:cubicBezTo>
                <a:cubicBezTo>
                  <a:pt x="33059" y="101001"/>
                  <a:pt x="36743" y="104685"/>
                  <a:pt x="41323" y="104685"/>
                </a:cubicBezTo>
                <a:lnTo>
                  <a:pt x="90911" y="104685"/>
                </a:lnTo>
                <a:cubicBezTo>
                  <a:pt x="95491" y="104685"/>
                  <a:pt x="99176" y="101001"/>
                  <a:pt x="99176" y="96421"/>
                </a:cubicBezTo>
                <a:cubicBezTo>
                  <a:pt x="99176" y="91841"/>
                  <a:pt x="95491" y="88156"/>
                  <a:pt x="90911" y="88156"/>
                </a:cubicBezTo>
                <a:lnTo>
                  <a:pt x="41323" y="88156"/>
                </a:lnTo>
                <a:close/>
                <a:moveTo>
                  <a:pt x="41323" y="121215"/>
                </a:moveTo>
                <a:cubicBezTo>
                  <a:pt x="36743" y="121215"/>
                  <a:pt x="33059" y="124899"/>
                  <a:pt x="33059" y="129479"/>
                </a:cubicBezTo>
                <a:cubicBezTo>
                  <a:pt x="33059" y="134059"/>
                  <a:pt x="36743" y="137744"/>
                  <a:pt x="41323" y="137744"/>
                </a:cubicBezTo>
                <a:lnTo>
                  <a:pt x="90911" y="137744"/>
                </a:lnTo>
                <a:cubicBezTo>
                  <a:pt x="95491" y="137744"/>
                  <a:pt x="99176" y="134059"/>
                  <a:pt x="99176" y="129479"/>
                </a:cubicBezTo>
                <a:cubicBezTo>
                  <a:pt x="99176" y="124899"/>
                  <a:pt x="95491" y="121215"/>
                  <a:pt x="90911" y="121215"/>
                </a:cubicBezTo>
                <a:lnTo>
                  <a:pt x="41323" y="121215"/>
                </a:ln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12" name="Text 9"/>
          <p:cNvSpPr/>
          <p:nvPr/>
        </p:nvSpPr>
        <p:spPr>
          <a:xfrm>
            <a:off x="2922818" y="2433111"/>
            <a:ext cx="410807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API Rate Limiting Research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922818" y="2715210"/>
            <a:ext cx="4099262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IEEE, ACM papers on distributed systems and API management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164675" y="3244148"/>
            <a:ext cx="7881163" cy="846299"/>
          </a:xfrm>
          <a:custGeom>
            <a:avLst/>
            <a:gdLst/>
            <a:ahLst/>
            <a:cxnLst/>
            <a:rect l="l" t="t" r="r" b="b"/>
            <a:pathLst>
              <a:path w="7881163" h="846299">
                <a:moveTo>
                  <a:pt x="35262" y="0"/>
                </a:moveTo>
                <a:lnTo>
                  <a:pt x="7775375" y="0"/>
                </a:lnTo>
                <a:cubicBezTo>
                  <a:pt x="7833800" y="0"/>
                  <a:pt x="7881163" y="47363"/>
                  <a:pt x="7881163" y="105787"/>
                </a:cubicBezTo>
                <a:lnTo>
                  <a:pt x="7881163" y="740512"/>
                </a:lnTo>
                <a:cubicBezTo>
                  <a:pt x="7881163" y="798937"/>
                  <a:pt x="7833800" y="846299"/>
                  <a:pt x="7775375" y="846299"/>
                </a:cubicBezTo>
                <a:lnTo>
                  <a:pt x="35262" y="846299"/>
                </a:lnTo>
                <a:cubicBezTo>
                  <a:pt x="15788" y="846299"/>
                  <a:pt x="0" y="830512"/>
                  <a:pt x="0" y="81103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F2937">
              <a:alpha val="8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2164675" y="3244148"/>
            <a:ext cx="35262" cy="846299"/>
          </a:xfrm>
          <a:custGeom>
            <a:avLst/>
            <a:gdLst/>
            <a:ahLst/>
            <a:cxnLst/>
            <a:rect l="l" t="t" r="r" b="b"/>
            <a:pathLst>
              <a:path w="35262" h="846299">
                <a:moveTo>
                  <a:pt x="35262" y="0"/>
                </a:moveTo>
                <a:lnTo>
                  <a:pt x="35262" y="0"/>
                </a:lnTo>
                <a:lnTo>
                  <a:pt x="35262" y="846299"/>
                </a:lnTo>
                <a:lnTo>
                  <a:pt x="35262" y="846299"/>
                </a:lnTo>
                <a:cubicBezTo>
                  <a:pt x="15788" y="846299"/>
                  <a:pt x="0" y="830512"/>
                  <a:pt x="0" y="81103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16" name="Shape 13"/>
          <p:cNvSpPr/>
          <p:nvPr/>
        </p:nvSpPr>
        <p:spPr>
          <a:xfrm>
            <a:off x="2358619" y="3455722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105787" y="0"/>
                </a:moveTo>
                <a:lnTo>
                  <a:pt x="317362" y="0"/>
                </a:lnTo>
                <a:cubicBezTo>
                  <a:pt x="375787" y="0"/>
                  <a:pt x="423150" y="47363"/>
                  <a:pt x="423150" y="105787"/>
                </a:cubicBezTo>
                <a:lnTo>
                  <a:pt x="423150" y="317362"/>
                </a:lnTo>
                <a:cubicBezTo>
                  <a:pt x="423150" y="375787"/>
                  <a:pt x="375787" y="423150"/>
                  <a:pt x="317362" y="423150"/>
                </a:cubicBezTo>
                <a:lnTo>
                  <a:pt x="105787" y="423150"/>
                </a:lnTo>
                <a:cubicBezTo>
                  <a:pt x="47363" y="423150"/>
                  <a:pt x="0" y="375787"/>
                  <a:pt x="0" y="317362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2493057" y="3579141"/>
            <a:ext cx="154273" cy="176312"/>
          </a:xfrm>
          <a:custGeom>
            <a:avLst/>
            <a:gdLst/>
            <a:ahLst/>
            <a:cxnLst/>
            <a:rect l="l" t="t" r="r" b="b"/>
            <a:pathLst>
              <a:path w="154273" h="176312">
                <a:moveTo>
                  <a:pt x="77137" y="137331"/>
                </a:moveTo>
                <a:cubicBezTo>
                  <a:pt x="73073" y="139087"/>
                  <a:pt x="69079" y="140671"/>
                  <a:pt x="65118" y="141980"/>
                </a:cubicBezTo>
                <a:cubicBezTo>
                  <a:pt x="70869" y="153619"/>
                  <a:pt x="75794" y="154273"/>
                  <a:pt x="77137" y="154273"/>
                </a:cubicBezTo>
                <a:cubicBezTo>
                  <a:pt x="78480" y="154273"/>
                  <a:pt x="83370" y="153619"/>
                  <a:pt x="89155" y="141980"/>
                </a:cubicBezTo>
                <a:cubicBezTo>
                  <a:pt x="85229" y="140637"/>
                  <a:pt x="81200" y="139087"/>
                  <a:pt x="77137" y="137331"/>
                </a:cubicBezTo>
                <a:close/>
                <a:moveTo>
                  <a:pt x="142565" y="88156"/>
                </a:moveTo>
                <a:cubicBezTo>
                  <a:pt x="153929" y="103721"/>
                  <a:pt x="157820" y="119459"/>
                  <a:pt x="150692" y="132234"/>
                </a:cubicBezTo>
                <a:cubicBezTo>
                  <a:pt x="143736" y="144735"/>
                  <a:pt x="129169" y="149211"/>
                  <a:pt x="111022" y="147111"/>
                </a:cubicBezTo>
                <a:cubicBezTo>
                  <a:pt x="103446" y="165052"/>
                  <a:pt x="91841" y="176312"/>
                  <a:pt x="77137" y="176312"/>
                </a:cubicBezTo>
                <a:cubicBezTo>
                  <a:pt x="62432" y="176312"/>
                  <a:pt x="50828" y="165052"/>
                  <a:pt x="43252" y="147111"/>
                </a:cubicBezTo>
                <a:cubicBezTo>
                  <a:pt x="25104" y="149211"/>
                  <a:pt x="10537" y="144735"/>
                  <a:pt x="3581" y="132234"/>
                </a:cubicBezTo>
                <a:cubicBezTo>
                  <a:pt x="-3547" y="119459"/>
                  <a:pt x="344" y="103721"/>
                  <a:pt x="11708" y="88156"/>
                </a:cubicBezTo>
                <a:cubicBezTo>
                  <a:pt x="344" y="72591"/>
                  <a:pt x="-3547" y="56854"/>
                  <a:pt x="3581" y="44078"/>
                </a:cubicBezTo>
                <a:cubicBezTo>
                  <a:pt x="10537" y="31578"/>
                  <a:pt x="25104" y="27101"/>
                  <a:pt x="43252" y="29202"/>
                </a:cubicBezTo>
                <a:cubicBezTo>
                  <a:pt x="50828" y="11261"/>
                  <a:pt x="62398" y="0"/>
                  <a:pt x="77137" y="0"/>
                </a:cubicBezTo>
                <a:cubicBezTo>
                  <a:pt x="91875" y="0"/>
                  <a:pt x="103446" y="11261"/>
                  <a:pt x="111022" y="29202"/>
                </a:cubicBezTo>
                <a:cubicBezTo>
                  <a:pt x="129169" y="27101"/>
                  <a:pt x="143736" y="31543"/>
                  <a:pt x="150692" y="44078"/>
                </a:cubicBezTo>
                <a:cubicBezTo>
                  <a:pt x="157820" y="56854"/>
                  <a:pt x="153929" y="72591"/>
                  <a:pt x="142565" y="88156"/>
                </a:cubicBezTo>
                <a:close/>
                <a:moveTo>
                  <a:pt x="119906" y="111366"/>
                </a:moveTo>
                <a:cubicBezTo>
                  <a:pt x="119321" y="116256"/>
                  <a:pt x="118563" y="121008"/>
                  <a:pt x="117599" y="125554"/>
                </a:cubicBezTo>
                <a:cubicBezTo>
                  <a:pt x="128550" y="126036"/>
                  <a:pt x="130891" y="122558"/>
                  <a:pt x="131442" y="121525"/>
                </a:cubicBezTo>
                <a:cubicBezTo>
                  <a:pt x="132234" y="120078"/>
                  <a:pt x="133853" y="115361"/>
                  <a:pt x="127344" y="104961"/>
                </a:cubicBezTo>
                <a:cubicBezTo>
                  <a:pt x="125003" y="107130"/>
                  <a:pt x="122523" y="109265"/>
                  <a:pt x="119906" y="111366"/>
                </a:cubicBezTo>
                <a:close/>
                <a:moveTo>
                  <a:pt x="117599" y="50793"/>
                </a:moveTo>
                <a:cubicBezTo>
                  <a:pt x="118563" y="55304"/>
                  <a:pt x="119321" y="60056"/>
                  <a:pt x="119906" y="64981"/>
                </a:cubicBezTo>
                <a:cubicBezTo>
                  <a:pt x="122523" y="67081"/>
                  <a:pt x="125003" y="69216"/>
                  <a:pt x="127344" y="71386"/>
                </a:cubicBezTo>
                <a:cubicBezTo>
                  <a:pt x="133853" y="60986"/>
                  <a:pt x="132234" y="56234"/>
                  <a:pt x="131442" y="54822"/>
                </a:cubicBezTo>
                <a:cubicBezTo>
                  <a:pt x="130891" y="53823"/>
                  <a:pt x="128550" y="50345"/>
                  <a:pt x="117599" y="50793"/>
                </a:cubicBezTo>
                <a:close/>
                <a:moveTo>
                  <a:pt x="89155" y="34333"/>
                </a:moveTo>
                <a:cubicBezTo>
                  <a:pt x="83370" y="22693"/>
                  <a:pt x="78480" y="22039"/>
                  <a:pt x="77137" y="22039"/>
                </a:cubicBezTo>
                <a:cubicBezTo>
                  <a:pt x="75794" y="22039"/>
                  <a:pt x="70904" y="22693"/>
                  <a:pt x="65118" y="34333"/>
                </a:cubicBezTo>
                <a:cubicBezTo>
                  <a:pt x="69044" y="35676"/>
                  <a:pt x="73073" y="37225"/>
                  <a:pt x="77137" y="38982"/>
                </a:cubicBezTo>
                <a:cubicBezTo>
                  <a:pt x="81200" y="37225"/>
                  <a:pt x="85195" y="35641"/>
                  <a:pt x="89155" y="34333"/>
                </a:cubicBezTo>
                <a:close/>
                <a:moveTo>
                  <a:pt x="34402" y="64946"/>
                </a:moveTo>
                <a:cubicBezTo>
                  <a:pt x="34987" y="60022"/>
                  <a:pt x="35745" y="55304"/>
                  <a:pt x="36709" y="50759"/>
                </a:cubicBezTo>
                <a:cubicBezTo>
                  <a:pt x="25758" y="50277"/>
                  <a:pt x="23416" y="53755"/>
                  <a:pt x="22866" y="54788"/>
                </a:cubicBezTo>
                <a:cubicBezTo>
                  <a:pt x="22073" y="56234"/>
                  <a:pt x="20455" y="60952"/>
                  <a:pt x="26963" y="71351"/>
                </a:cubicBezTo>
                <a:cubicBezTo>
                  <a:pt x="29305" y="69182"/>
                  <a:pt x="31784" y="67047"/>
                  <a:pt x="34402" y="64946"/>
                </a:cubicBezTo>
                <a:close/>
                <a:moveTo>
                  <a:pt x="26929" y="104961"/>
                </a:moveTo>
                <a:cubicBezTo>
                  <a:pt x="20421" y="115361"/>
                  <a:pt x="22039" y="120113"/>
                  <a:pt x="22831" y="121525"/>
                </a:cubicBezTo>
                <a:cubicBezTo>
                  <a:pt x="23382" y="122523"/>
                  <a:pt x="25724" y="126001"/>
                  <a:pt x="36674" y="125554"/>
                </a:cubicBezTo>
                <a:cubicBezTo>
                  <a:pt x="35710" y="121043"/>
                  <a:pt x="34953" y="116290"/>
                  <a:pt x="34367" y="111366"/>
                </a:cubicBezTo>
                <a:cubicBezTo>
                  <a:pt x="31750" y="109265"/>
                  <a:pt x="29271" y="107130"/>
                  <a:pt x="26929" y="104961"/>
                </a:cubicBezTo>
                <a:close/>
                <a:moveTo>
                  <a:pt x="104685" y="88156"/>
                </a:moveTo>
                <a:cubicBezTo>
                  <a:pt x="104685" y="72952"/>
                  <a:pt x="92341" y="60607"/>
                  <a:pt x="77137" y="60607"/>
                </a:cubicBezTo>
                <a:cubicBezTo>
                  <a:pt x="61932" y="60607"/>
                  <a:pt x="49588" y="72952"/>
                  <a:pt x="49588" y="88156"/>
                </a:cubicBezTo>
                <a:cubicBezTo>
                  <a:pt x="49588" y="103361"/>
                  <a:pt x="61932" y="115705"/>
                  <a:pt x="77137" y="115705"/>
                </a:cubicBezTo>
                <a:cubicBezTo>
                  <a:pt x="92341" y="115705"/>
                  <a:pt x="104685" y="103361"/>
                  <a:pt x="104685" y="88156"/>
                </a:cubicBezTo>
                <a:close/>
                <a:moveTo>
                  <a:pt x="77137" y="77137"/>
                </a:moveTo>
                <a:cubicBezTo>
                  <a:pt x="83218" y="77137"/>
                  <a:pt x="88156" y="82074"/>
                  <a:pt x="88156" y="88156"/>
                </a:cubicBezTo>
                <a:cubicBezTo>
                  <a:pt x="88156" y="94238"/>
                  <a:pt x="83218" y="99176"/>
                  <a:pt x="77137" y="99176"/>
                </a:cubicBezTo>
                <a:cubicBezTo>
                  <a:pt x="71055" y="99176"/>
                  <a:pt x="66117" y="94238"/>
                  <a:pt x="66117" y="88156"/>
                </a:cubicBezTo>
                <a:cubicBezTo>
                  <a:pt x="66117" y="82074"/>
                  <a:pt x="71055" y="77137"/>
                  <a:pt x="77137" y="77137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18" name="Text 15"/>
          <p:cNvSpPr/>
          <p:nvPr/>
        </p:nvSpPr>
        <p:spPr>
          <a:xfrm>
            <a:off x="2922818" y="3420460"/>
            <a:ext cx="382597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Quantum-Inspired Optimization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922818" y="3702560"/>
            <a:ext cx="381716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Nature, arXiv publications on QIGA and quantum algorithms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164675" y="4231497"/>
            <a:ext cx="7881163" cy="846299"/>
          </a:xfrm>
          <a:custGeom>
            <a:avLst/>
            <a:gdLst/>
            <a:ahLst/>
            <a:cxnLst/>
            <a:rect l="l" t="t" r="r" b="b"/>
            <a:pathLst>
              <a:path w="7881163" h="846299">
                <a:moveTo>
                  <a:pt x="35262" y="0"/>
                </a:moveTo>
                <a:lnTo>
                  <a:pt x="7775375" y="0"/>
                </a:lnTo>
                <a:cubicBezTo>
                  <a:pt x="7833800" y="0"/>
                  <a:pt x="7881163" y="47363"/>
                  <a:pt x="7881163" y="105787"/>
                </a:cubicBezTo>
                <a:lnTo>
                  <a:pt x="7881163" y="740512"/>
                </a:lnTo>
                <a:cubicBezTo>
                  <a:pt x="7881163" y="798937"/>
                  <a:pt x="7833800" y="846299"/>
                  <a:pt x="7775375" y="846299"/>
                </a:cubicBezTo>
                <a:lnTo>
                  <a:pt x="35262" y="846299"/>
                </a:lnTo>
                <a:cubicBezTo>
                  <a:pt x="15788" y="846299"/>
                  <a:pt x="0" y="830512"/>
                  <a:pt x="0" y="81103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F2937">
              <a:alpha val="8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2164675" y="4231497"/>
            <a:ext cx="35262" cy="846299"/>
          </a:xfrm>
          <a:custGeom>
            <a:avLst/>
            <a:gdLst/>
            <a:ahLst/>
            <a:cxnLst/>
            <a:rect l="l" t="t" r="r" b="b"/>
            <a:pathLst>
              <a:path w="35262" h="846299">
                <a:moveTo>
                  <a:pt x="35262" y="0"/>
                </a:moveTo>
                <a:lnTo>
                  <a:pt x="35262" y="0"/>
                </a:lnTo>
                <a:lnTo>
                  <a:pt x="35262" y="846299"/>
                </a:lnTo>
                <a:lnTo>
                  <a:pt x="35262" y="846299"/>
                </a:lnTo>
                <a:cubicBezTo>
                  <a:pt x="15788" y="846299"/>
                  <a:pt x="0" y="830512"/>
                  <a:pt x="0" y="81103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2" name="Shape 19"/>
          <p:cNvSpPr/>
          <p:nvPr/>
        </p:nvSpPr>
        <p:spPr>
          <a:xfrm>
            <a:off x="2358619" y="4443072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105787" y="0"/>
                </a:moveTo>
                <a:lnTo>
                  <a:pt x="317362" y="0"/>
                </a:lnTo>
                <a:cubicBezTo>
                  <a:pt x="375787" y="0"/>
                  <a:pt x="423150" y="47363"/>
                  <a:pt x="423150" y="105787"/>
                </a:cubicBezTo>
                <a:lnTo>
                  <a:pt x="423150" y="317362"/>
                </a:lnTo>
                <a:cubicBezTo>
                  <a:pt x="423150" y="375787"/>
                  <a:pt x="375787" y="423150"/>
                  <a:pt x="317362" y="423150"/>
                </a:cubicBezTo>
                <a:lnTo>
                  <a:pt x="105787" y="423150"/>
                </a:lnTo>
                <a:cubicBezTo>
                  <a:pt x="47363" y="423150"/>
                  <a:pt x="0" y="375787"/>
                  <a:pt x="0" y="317362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38BDF8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2493057" y="4566490"/>
            <a:ext cx="154273" cy="176312"/>
          </a:xfrm>
          <a:custGeom>
            <a:avLst/>
            <a:gdLst/>
            <a:ahLst/>
            <a:cxnLst/>
            <a:rect l="l" t="t" r="r" b="b"/>
            <a:pathLst>
              <a:path w="154273" h="176312">
                <a:moveTo>
                  <a:pt x="154273" y="70869"/>
                </a:moveTo>
                <a:cubicBezTo>
                  <a:pt x="149177" y="74244"/>
                  <a:pt x="143323" y="76964"/>
                  <a:pt x="137227" y="79134"/>
                </a:cubicBezTo>
                <a:cubicBezTo>
                  <a:pt x="121043" y="84919"/>
                  <a:pt x="99796" y="88156"/>
                  <a:pt x="77137" y="88156"/>
                </a:cubicBezTo>
                <a:cubicBezTo>
                  <a:pt x="54478" y="88156"/>
                  <a:pt x="33196" y="84885"/>
                  <a:pt x="17046" y="79134"/>
                </a:cubicBezTo>
                <a:cubicBezTo>
                  <a:pt x="10985" y="76964"/>
                  <a:pt x="5097" y="74244"/>
                  <a:pt x="0" y="70869"/>
                </a:cubicBezTo>
                <a:lnTo>
                  <a:pt x="0" y="99176"/>
                </a:lnTo>
                <a:cubicBezTo>
                  <a:pt x="0" y="114396"/>
                  <a:pt x="34539" y="126725"/>
                  <a:pt x="77137" y="126725"/>
                </a:cubicBezTo>
                <a:cubicBezTo>
                  <a:pt x="119734" y="126725"/>
                  <a:pt x="154273" y="114396"/>
                  <a:pt x="154273" y="99176"/>
                </a:cubicBezTo>
                <a:lnTo>
                  <a:pt x="154273" y="70869"/>
                </a:lnTo>
                <a:close/>
                <a:moveTo>
                  <a:pt x="154273" y="44078"/>
                </a:moveTo>
                <a:lnTo>
                  <a:pt x="154273" y="27549"/>
                </a:lnTo>
                <a:cubicBezTo>
                  <a:pt x="154273" y="12328"/>
                  <a:pt x="119734" y="0"/>
                  <a:pt x="77137" y="0"/>
                </a:cubicBezTo>
                <a:cubicBezTo>
                  <a:pt x="34539" y="0"/>
                  <a:pt x="0" y="12328"/>
                  <a:pt x="0" y="27549"/>
                </a:cubicBezTo>
                <a:lnTo>
                  <a:pt x="0" y="44078"/>
                </a:lnTo>
                <a:cubicBezTo>
                  <a:pt x="0" y="59299"/>
                  <a:pt x="34539" y="71627"/>
                  <a:pt x="77137" y="71627"/>
                </a:cubicBezTo>
                <a:cubicBezTo>
                  <a:pt x="119734" y="71627"/>
                  <a:pt x="154273" y="59299"/>
                  <a:pt x="154273" y="44078"/>
                </a:cubicBezTo>
                <a:close/>
                <a:moveTo>
                  <a:pt x="137227" y="134232"/>
                </a:moveTo>
                <a:cubicBezTo>
                  <a:pt x="121077" y="139982"/>
                  <a:pt x="99830" y="143254"/>
                  <a:pt x="77137" y="143254"/>
                </a:cubicBezTo>
                <a:cubicBezTo>
                  <a:pt x="54443" y="143254"/>
                  <a:pt x="33196" y="139982"/>
                  <a:pt x="17046" y="134232"/>
                </a:cubicBezTo>
                <a:cubicBezTo>
                  <a:pt x="10985" y="132062"/>
                  <a:pt x="5097" y="129342"/>
                  <a:pt x="0" y="125967"/>
                </a:cubicBezTo>
                <a:lnTo>
                  <a:pt x="0" y="148764"/>
                </a:lnTo>
                <a:cubicBezTo>
                  <a:pt x="0" y="163984"/>
                  <a:pt x="34539" y="176312"/>
                  <a:pt x="77137" y="176312"/>
                </a:cubicBezTo>
                <a:cubicBezTo>
                  <a:pt x="119734" y="176312"/>
                  <a:pt x="154273" y="163984"/>
                  <a:pt x="154273" y="148764"/>
                </a:cubicBezTo>
                <a:lnTo>
                  <a:pt x="154273" y="125967"/>
                </a:lnTo>
                <a:cubicBezTo>
                  <a:pt x="149177" y="129342"/>
                  <a:pt x="143323" y="132062"/>
                  <a:pt x="137227" y="134232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24" name="Text 21"/>
          <p:cNvSpPr/>
          <p:nvPr/>
        </p:nvSpPr>
        <p:spPr>
          <a:xfrm>
            <a:off x="2922818" y="4407809"/>
            <a:ext cx="267994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 Documentation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922818" y="4689909"/>
            <a:ext cx="2671132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redis.io — In-memory data structure store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2164675" y="5218846"/>
            <a:ext cx="7881163" cy="846299"/>
          </a:xfrm>
          <a:custGeom>
            <a:avLst/>
            <a:gdLst/>
            <a:ahLst/>
            <a:cxnLst/>
            <a:rect l="l" t="t" r="r" b="b"/>
            <a:pathLst>
              <a:path w="7881163" h="846299">
                <a:moveTo>
                  <a:pt x="35262" y="0"/>
                </a:moveTo>
                <a:lnTo>
                  <a:pt x="7775375" y="0"/>
                </a:lnTo>
                <a:cubicBezTo>
                  <a:pt x="7833800" y="0"/>
                  <a:pt x="7881163" y="47363"/>
                  <a:pt x="7881163" y="105787"/>
                </a:cubicBezTo>
                <a:lnTo>
                  <a:pt x="7881163" y="740512"/>
                </a:lnTo>
                <a:cubicBezTo>
                  <a:pt x="7881163" y="798937"/>
                  <a:pt x="7833800" y="846299"/>
                  <a:pt x="7775375" y="846299"/>
                </a:cubicBezTo>
                <a:lnTo>
                  <a:pt x="35262" y="846299"/>
                </a:lnTo>
                <a:cubicBezTo>
                  <a:pt x="15788" y="846299"/>
                  <a:pt x="0" y="830512"/>
                  <a:pt x="0" y="81103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F2937">
              <a:alpha val="8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164675" y="5218846"/>
            <a:ext cx="35262" cy="846299"/>
          </a:xfrm>
          <a:custGeom>
            <a:avLst/>
            <a:gdLst/>
            <a:ahLst/>
            <a:cxnLst/>
            <a:rect l="l" t="t" r="r" b="b"/>
            <a:pathLst>
              <a:path w="35262" h="846299">
                <a:moveTo>
                  <a:pt x="35262" y="0"/>
                </a:moveTo>
                <a:lnTo>
                  <a:pt x="35262" y="0"/>
                </a:lnTo>
                <a:lnTo>
                  <a:pt x="35262" y="846299"/>
                </a:lnTo>
                <a:lnTo>
                  <a:pt x="35262" y="846299"/>
                </a:lnTo>
                <a:cubicBezTo>
                  <a:pt x="15788" y="846299"/>
                  <a:pt x="0" y="830512"/>
                  <a:pt x="0" y="811037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28" name="Shape 25"/>
          <p:cNvSpPr/>
          <p:nvPr/>
        </p:nvSpPr>
        <p:spPr>
          <a:xfrm>
            <a:off x="2358619" y="5430421"/>
            <a:ext cx="423150" cy="423150"/>
          </a:xfrm>
          <a:custGeom>
            <a:avLst/>
            <a:gdLst/>
            <a:ahLst/>
            <a:cxnLst/>
            <a:rect l="l" t="t" r="r" b="b"/>
            <a:pathLst>
              <a:path w="423150" h="423150">
                <a:moveTo>
                  <a:pt x="105787" y="0"/>
                </a:moveTo>
                <a:lnTo>
                  <a:pt x="317362" y="0"/>
                </a:lnTo>
                <a:cubicBezTo>
                  <a:pt x="375787" y="0"/>
                  <a:pt x="423150" y="47363"/>
                  <a:pt x="423150" y="105787"/>
                </a:cubicBezTo>
                <a:lnTo>
                  <a:pt x="423150" y="317362"/>
                </a:lnTo>
                <a:cubicBezTo>
                  <a:pt x="423150" y="375787"/>
                  <a:pt x="375787" y="423150"/>
                  <a:pt x="317362" y="423150"/>
                </a:cubicBezTo>
                <a:lnTo>
                  <a:pt x="105787" y="423150"/>
                </a:lnTo>
                <a:cubicBezTo>
                  <a:pt x="47363" y="423150"/>
                  <a:pt x="0" y="375787"/>
                  <a:pt x="0" y="317362"/>
                </a:cubicBezTo>
                <a:lnTo>
                  <a:pt x="0" y="105787"/>
                </a:lnTo>
                <a:cubicBezTo>
                  <a:pt x="0" y="47402"/>
                  <a:pt x="47402" y="0"/>
                  <a:pt x="105787" y="0"/>
                </a:cubicBezTo>
                <a:close/>
              </a:path>
            </a:pathLst>
          </a:custGeom>
          <a:solidFill>
            <a:srgbClr val="2DD4BF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471018" y="5553839"/>
            <a:ext cx="198351" cy="176312"/>
          </a:xfrm>
          <a:custGeom>
            <a:avLst/>
            <a:gdLst/>
            <a:ahLst/>
            <a:cxnLst/>
            <a:rect l="l" t="t" r="r" b="b"/>
            <a:pathLst>
              <a:path w="198351" h="176312">
                <a:moveTo>
                  <a:pt x="124245" y="413"/>
                </a:moveTo>
                <a:cubicBezTo>
                  <a:pt x="118391" y="-1274"/>
                  <a:pt x="112296" y="2135"/>
                  <a:pt x="110608" y="7989"/>
                </a:cubicBezTo>
                <a:lnTo>
                  <a:pt x="66530" y="162262"/>
                </a:lnTo>
                <a:cubicBezTo>
                  <a:pt x="64843" y="168117"/>
                  <a:pt x="68252" y="174212"/>
                  <a:pt x="74106" y="175899"/>
                </a:cubicBezTo>
                <a:cubicBezTo>
                  <a:pt x="79960" y="177586"/>
                  <a:pt x="86056" y="174177"/>
                  <a:pt x="87743" y="168323"/>
                </a:cubicBezTo>
                <a:lnTo>
                  <a:pt x="131821" y="14050"/>
                </a:lnTo>
                <a:cubicBezTo>
                  <a:pt x="133508" y="8196"/>
                  <a:pt x="130099" y="2101"/>
                  <a:pt x="124245" y="413"/>
                </a:cubicBezTo>
                <a:close/>
                <a:moveTo>
                  <a:pt x="146491" y="47281"/>
                </a:moveTo>
                <a:cubicBezTo>
                  <a:pt x="142186" y="51585"/>
                  <a:pt x="142186" y="58576"/>
                  <a:pt x="146491" y="62880"/>
                </a:cubicBezTo>
                <a:lnTo>
                  <a:pt x="171767" y="88156"/>
                </a:lnTo>
                <a:lnTo>
                  <a:pt x="146491" y="113432"/>
                </a:lnTo>
                <a:cubicBezTo>
                  <a:pt x="142186" y="117737"/>
                  <a:pt x="142186" y="124727"/>
                  <a:pt x="146491" y="129032"/>
                </a:cubicBezTo>
                <a:cubicBezTo>
                  <a:pt x="150795" y="133336"/>
                  <a:pt x="157786" y="133336"/>
                  <a:pt x="162090" y="129032"/>
                </a:cubicBezTo>
                <a:lnTo>
                  <a:pt x="195149" y="95973"/>
                </a:lnTo>
                <a:cubicBezTo>
                  <a:pt x="199453" y="91669"/>
                  <a:pt x="199453" y="84678"/>
                  <a:pt x="195149" y="80374"/>
                </a:cubicBezTo>
                <a:lnTo>
                  <a:pt x="162090" y="47315"/>
                </a:lnTo>
                <a:cubicBezTo>
                  <a:pt x="157786" y="43011"/>
                  <a:pt x="150795" y="43011"/>
                  <a:pt x="146491" y="47315"/>
                </a:cubicBezTo>
                <a:close/>
                <a:moveTo>
                  <a:pt x="51895" y="47281"/>
                </a:moveTo>
                <a:cubicBezTo>
                  <a:pt x="47591" y="42976"/>
                  <a:pt x="40600" y="42976"/>
                  <a:pt x="36296" y="47281"/>
                </a:cubicBezTo>
                <a:lnTo>
                  <a:pt x="3237" y="80339"/>
                </a:lnTo>
                <a:cubicBezTo>
                  <a:pt x="-1068" y="84644"/>
                  <a:pt x="-1068" y="91634"/>
                  <a:pt x="3237" y="95939"/>
                </a:cubicBezTo>
                <a:lnTo>
                  <a:pt x="36296" y="128997"/>
                </a:lnTo>
                <a:cubicBezTo>
                  <a:pt x="40600" y="133302"/>
                  <a:pt x="47591" y="133302"/>
                  <a:pt x="51895" y="128997"/>
                </a:cubicBezTo>
                <a:cubicBezTo>
                  <a:pt x="56200" y="124693"/>
                  <a:pt x="56200" y="117702"/>
                  <a:pt x="51895" y="113398"/>
                </a:cubicBezTo>
                <a:lnTo>
                  <a:pt x="26619" y="88156"/>
                </a:lnTo>
                <a:lnTo>
                  <a:pt x="51861" y="62880"/>
                </a:lnTo>
                <a:cubicBezTo>
                  <a:pt x="56165" y="58576"/>
                  <a:pt x="56165" y="51585"/>
                  <a:pt x="51861" y="47281"/>
                </a:cubicBezTo>
                <a:close/>
              </a:path>
            </a:pathLst>
          </a:custGeom>
          <a:solidFill>
            <a:srgbClr val="2DD4BF"/>
          </a:solidFill>
          <a:ln/>
        </p:spPr>
      </p:sp>
      <p:sp>
        <p:nvSpPr>
          <p:cNvPr id="30" name="Text 27"/>
          <p:cNvSpPr/>
          <p:nvPr/>
        </p:nvSpPr>
        <p:spPr>
          <a:xfrm>
            <a:off x="2922818" y="5395158"/>
            <a:ext cx="3332304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F9FAF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 Documentation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922818" y="5677258"/>
            <a:ext cx="332348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fastapi.tiangolo.com — Modern, fast web framework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930223" y="6280246"/>
            <a:ext cx="4335521" cy="571252"/>
          </a:xfrm>
          <a:custGeom>
            <a:avLst/>
            <a:gdLst/>
            <a:ahLst/>
            <a:cxnLst/>
            <a:rect l="l" t="t" r="r" b="b"/>
            <a:pathLst>
              <a:path w="4335521" h="571252">
                <a:moveTo>
                  <a:pt x="141048" y="0"/>
                </a:moveTo>
                <a:lnTo>
                  <a:pt x="4194473" y="0"/>
                </a:lnTo>
                <a:cubicBezTo>
                  <a:pt x="4272372" y="0"/>
                  <a:pt x="4335521" y="63149"/>
                  <a:pt x="4335521" y="141048"/>
                </a:cubicBezTo>
                <a:lnTo>
                  <a:pt x="4335521" y="430204"/>
                </a:lnTo>
                <a:cubicBezTo>
                  <a:pt x="4335521" y="508103"/>
                  <a:pt x="4272372" y="571252"/>
                  <a:pt x="4194473" y="571252"/>
                </a:cubicBezTo>
                <a:lnTo>
                  <a:pt x="141048" y="571252"/>
                </a:lnTo>
                <a:cubicBezTo>
                  <a:pt x="63201" y="571252"/>
                  <a:pt x="0" y="508051"/>
                  <a:pt x="0" y="430204"/>
                </a:cubicBezTo>
                <a:lnTo>
                  <a:pt x="0" y="141048"/>
                </a:lnTo>
                <a:cubicBezTo>
                  <a:pt x="0" y="63149"/>
                  <a:pt x="63149" y="0"/>
                  <a:pt x="141048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DF8">
                  <a:alpha val="20000"/>
                </a:srgbClr>
              </a:gs>
              <a:gs pos="100000">
                <a:srgbClr val="2DD4BF">
                  <a:alpha val="20000"/>
                </a:srgbClr>
              </a:gs>
            </a:gsLst>
            <a:lin ang="0" scaled="1"/>
          </a:gradFill>
          <a:ln w="1016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229073" y="6459980"/>
            <a:ext cx="238022" cy="211575"/>
          </a:xfrm>
          <a:custGeom>
            <a:avLst/>
            <a:gdLst/>
            <a:ahLst/>
            <a:cxnLst/>
            <a:rect l="l" t="t" r="r" b="b"/>
            <a:pathLst>
              <a:path w="238022" h="211575">
                <a:moveTo>
                  <a:pt x="158681" y="59505"/>
                </a:moveTo>
                <a:cubicBezTo>
                  <a:pt x="158681" y="99672"/>
                  <a:pt x="123143" y="132234"/>
                  <a:pt x="79341" y="132234"/>
                </a:cubicBezTo>
                <a:cubicBezTo>
                  <a:pt x="68307" y="132234"/>
                  <a:pt x="57811" y="130168"/>
                  <a:pt x="48266" y="126449"/>
                </a:cubicBezTo>
                <a:lnTo>
                  <a:pt x="14546" y="144301"/>
                </a:lnTo>
                <a:cubicBezTo>
                  <a:pt x="10703" y="146325"/>
                  <a:pt x="5992" y="145623"/>
                  <a:pt x="2893" y="142565"/>
                </a:cubicBezTo>
                <a:cubicBezTo>
                  <a:pt x="-207" y="139507"/>
                  <a:pt x="-909" y="134755"/>
                  <a:pt x="1157" y="130912"/>
                </a:cubicBezTo>
                <a:lnTo>
                  <a:pt x="15868" y="103143"/>
                </a:lnTo>
                <a:cubicBezTo>
                  <a:pt x="5909" y="90994"/>
                  <a:pt x="0" y="75869"/>
                  <a:pt x="0" y="59505"/>
                </a:cubicBezTo>
                <a:cubicBezTo>
                  <a:pt x="0" y="19339"/>
                  <a:pt x="35538" y="-13223"/>
                  <a:pt x="79341" y="-13223"/>
                </a:cubicBezTo>
                <a:cubicBezTo>
                  <a:pt x="123143" y="-13223"/>
                  <a:pt x="158681" y="19339"/>
                  <a:pt x="158681" y="59505"/>
                </a:cubicBezTo>
                <a:close/>
                <a:moveTo>
                  <a:pt x="158681" y="211575"/>
                </a:moveTo>
                <a:cubicBezTo>
                  <a:pt x="119796" y="211575"/>
                  <a:pt x="87440" y="185913"/>
                  <a:pt x="80663" y="152069"/>
                </a:cubicBezTo>
                <a:cubicBezTo>
                  <a:pt x="130251" y="151450"/>
                  <a:pt x="173351" y="116160"/>
                  <a:pt x="178103" y="68307"/>
                </a:cubicBezTo>
                <a:cubicBezTo>
                  <a:pt x="212525" y="76241"/>
                  <a:pt x="238022" y="104796"/>
                  <a:pt x="238022" y="138846"/>
                </a:cubicBezTo>
                <a:cubicBezTo>
                  <a:pt x="238022" y="155210"/>
                  <a:pt x="232112" y="170334"/>
                  <a:pt x="222154" y="182483"/>
                </a:cubicBezTo>
                <a:lnTo>
                  <a:pt x="236865" y="210252"/>
                </a:lnTo>
                <a:cubicBezTo>
                  <a:pt x="238889" y="214096"/>
                  <a:pt x="238187" y="218806"/>
                  <a:pt x="235129" y="221906"/>
                </a:cubicBezTo>
                <a:cubicBezTo>
                  <a:pt x="232071" y="225005"/>
                  <a:pt x="227319" y="225707"/>
                  <a:pt x="223476" y="223641"/>
                </a:cubicBezTo>
                <a:lnTo>
                  <a:pt x="189756" y="205790"/>
                </a:lnTo>
                <a:cubicBezTo>
                  <a:pt x="180211" y="209509"/>
                  <a:pt x="169714" y="211575"/>
                  <a:pt x="158681" y="211575"/>
                </a:cubicBezTo>
                <a:close/>
              </a:path>
            </a:pathLst>
          </a:custGeom>
          <a:solidFill>
            <a:srgbClr val="38BDF8"/>
          </a:solidFill>
          <a:ln/>
        </p:spPr>
      </p:sp>
      <p:sp>
        <p:nvSpPr>
          <p:cNvPr id="34" name="Text 31"/>
          <p:cNvSpPr/>
          <p:nvPr/>
        </p:nvSpPr>
        <p:spPr>
          <a:xfrm>
            <a:off x="4568474" y="6424821"/>
            <a:ext cx="3059020" cy="28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66" b="1" dirty="0">
                <a:solidFill>
                  <a:srgbClr val="F9FAF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739011" y="6459980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99589" y="35993"/>
                </a:moveTo>
                <a:lnTo>
                  <a:pt x="105787" y="44546"/>
                </a:lnTo>
                <a:lnTo>
                  <a:pt x="111986" y="35993"/>
                </a:lnTo>
                <a:cubicBezTo>
                  <a:pt x="122317" y="21695"/>
                  <a:pt x="138929" y="13223"/>
                  <a:pt x="156574" y="13223"/>
                </a:cubicBezTo>
                <a:cubicBezTo>
                  <a:pt x="186946" y="13223"/>
                  <a:pt x="211575" y="37852"/>
                  <a:pt x="211575" y="68225"/>
                </a:cubicBezTo>
                <a:lnTo>
                  <a:pt x="211575" y="69299"/>
                </a:lnTo>
                <a:cubicBezTo>
                  <a:pt x="211575" y="115664"/>
                  <a:pt x="153764" y="169508"/>
                  <a:pt x="123598" y="192525"/>
                </a:cubicBezTo>
                <a:cubicBezTo>
                  <a:pt x="118474" y="196409"/>
                  <a:pt x="112193" y="198351"/>
                  <a:pt x="105787" y="198351"/>
                </a:cubicBezTo>
                <a:cubicBezTo>
                  <a:pt x="99382" y="198351"/>
                  <a:pt x="93060" y="196451"/>
                  <a:pt x="87977" y="192525"/>
                </a:cubicBezTo>
                <a:cubicBezTo>
                  <a:pt x="57811" y="169508"/>
                  <a:pt x="0" y="115664"/>
                  <a:pt x="0" y="69299"/>
                </a:cubicBezTo>
                <a:lnTo>
                  <a:pt x="0" y="68225"/>
                </a:lnTo>
                <a:cubicBezTo>
                  <a:pt x="0" y="37852"/>
                  <a:pt x="24629" y="13223"/>
                  <a:pt x="55001" y="13223"/>
                </a:cubicBezTo>
                <a:cubicBezTo>
                  <a:pt x="72646" y="13223"/>
                  <a:pt x="89258" y="21695"/>
                  <a:pt x="99589" y="35993"/>
                </a:cubicBezTo>
                <a:close/>
              </a:path>
            </a:pathLst>
          </a:custGeom>
          <a:solidFill>
            <a:srgbClr val="2DD4BF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an Adaptive API Rate Limiting Mechanism Using Quantum-Inspired Optimization</dc:title>
  <dc:subject>Developing an Adaptive API Rate Limiting Mechanism Using Quantum-Inspired Optimization</dc:subject>
  <dc:creator>Kimi</dc:creator>
  <cp:lastModifiedBy>Kimi</cp:lastModifiedBy>
  <cp:revision>1</cp:revision>
  <dcterms:created xsi:type="dcterms:W3CDTF">2026-02-17T18:53:52Z</dcterms:created>
  <dcterms:modified xsi:type="dcterms:W3CDTF">2026-02-17T18:53:52Z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{"Label":"Developing an Adaptive API Rate Limiting Mechanism Using Quantum-Inspired Optimization","ContentProducer":"001191110108MACG2KBH8F10000","ProduceID":"19c6cf1d-7432-8d00-8000-00009367819f","ReservedCode1":"","ContentPropagator":"001191110108MACG2KBH8F20000","PropagateID":"19c6cf1d-7432-8d00-8000-00009367819f","ReservedCode2":""}</vt:lpwstr>
  </property>
</Properties>
</file>